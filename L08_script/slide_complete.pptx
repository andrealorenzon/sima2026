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921509bd-ce5e-da65-c6d0-6abcd24ce26f}">
          <p14:sldIdLst>
            <p14:sldId id="256"/>
            <p14:sldId id="257"/>
          </p14:sldIdLst>
        </p14:section>
        <p14:section name="Spiegazione" id="{189d0b99-3a31-44ee-538d-88f6777e3326}">
          <p14:sldIdLst>
            <p14:sldId id="258"/>
            <p14:sldId id="259"/>
            <p14:sldId id="260"/>
            <p14:sldId id="261"/>
          </p14:sldIdLst>
        </p14:section>
        <p14:section name="Task" id="{feb53528-46c6-6a96-b8f0-11b81406ceea}">
          <p14:sldIdLst>
            <p14:sldId id="262"/>
          </p14:sldIdLst>
        </p14:section>
        <p14:section name="Debrief" id="{9d0dedaa-70e7-b9b4-9cef-20df8770266e}">
          <p14:sldIdLst>
            <p14:sldId id="263"/>
            <p14:sldId id="264"/>
            <p14:sldId id="265"/>
          </p14:sldIdLst>
        </p14:section>
        <p14:section name="Chiusura" id="{0d2584b9-3952-45e3-1d73-5e5b02ed743c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Ultima lezione. Il tema: la riproducibilità. Un'analisi che nessuno può rifare non vale molto, nemmeno per chi l'ha fatta.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Esempio concreto: il revisore di un articolo chiede di rifare un'analisi. Con uno script: un comando. Con un notebook eseguito in disordine: auguri.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numeri tra parentesi quadre accanto alle celle di Colab ([1], [2]...) dicono in che ordine sono state eseguite: farli notare. Runtime → Riavvia ed esegui tutto è il test minimo prima di condividere un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Sul proprio computer lo script si scrive con un editor (VS Code) e si lancia dal terminale con lo stesso comando, senza il punto esclamativo.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È la sintesi del corso: generare codice è facile, verificarlo è il mestiere.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Nella Parte 3 molti si fermeranno alla prima differenza (media/mediana). Chiedere: ce n'è un'altra.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Valori in migliaia di euro, anno 2022. Collegare alla L1 (= e ==, confronti) e alla L4 (media e mediana): sono le stesse cose, viste in un contesto reale.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Dal notebook allo script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L8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Notebook e script, l'ordine di esecuzione, leggere codice altrui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Il tuo primo script e lo script di Gemini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Cosa serve per rifare un'analisi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Notebook e script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394960" cy="2743200"/>
          </a:xfrm>
          <a:prstGeom prst="roundRect">
            <a:avLst>
              <a:gd name="adj" fmla="val 4000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308"/>
                </a:solidFill>
              </a:rPr>
              <a:t>NOTEBOOK (.IPYNB)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2316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Per esplorare: provi, guardi, correggi. Le celle si eseguono in qualsiasi ordine, e il notebook ricorda tutto quello che hai fatto prima.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217920" y="1737360"/>
            <a:ext cx="5394960" cy="2743200"/>
          </a:xfrm>
          <a:prstGeom prst="roundRect">
            <a:avLst>
              <a:gd name="adj" fmla="val 4000"/>
            </a:avLst>
          </a:prstGeom>
          <a:solidFill>
            <a:srgbClr val="0F4C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9224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SCRIPT (.PY)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42316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Per rifare: si esegue sempre dall'inizio alla fine, nello stesso ordine, partendo da zero. È solo testo.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846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Si esplora nel notebook, si consegna lo script.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 notebook ricorda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01368"/>
            <a:ext cx="594360" cy="59436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80136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90" b="1" dirty="0">
                <a:solidFill>
                  <a:srgbClr val="1F2A30"/>
                </a:solidFill>
              </a:rPr>
              <a:t>A</a:t>
            </a:r>
            <a:endParaRPr lang="en-US" sz="1690" dirty="0"/>
          </a:p>
        </p:txBody>
      </p:sp>
      <p:sp>
        <p:nvSpPr>
          <p:cNvPr id="5" name="Shape 3"/>
          <p:cNvSpPr/>
          <p:nvPr/>
        </p:nvSpPr>
        <p:spPr>
          <a:xfrm>
            <a:off x="1325880" y="1737360"/>
            <a:ext cx="5120640" cy="731520"/>
          </a:xfrm>
          <a:prstGeom prst="roundRect">
            <a:avLst>
              <a:gd name="adj" fmla="val 12500"/>
            </a:avLst>
          </a:prstGeom>
          <a:solidFill>
            <a:srgbClr val="1F2A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554480" y="17373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1000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715768"/>
            <a:ext cx="594360" cy="59436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1576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90" b="1" dirty="0">
                <a:solidFill>
                  <a:srgbClr val="1F2A30"/>
                </a:solidFill>
              </a:rPr>
              <a:t>B</a:t>
            </a:r>
            <a:endParaRPr lang="en-US" sz="1690" dirty="0"/>
          </a:p>
        </p:txBody>
      </p:sp>
      <p:sp>
        <p:nvSpPr>
          <p:cNvPr id="9" name="Shape 7"/>
          <p:cNvSpPr/>
          <p:nvPr/>
        </p:nvSpPr>
        <p:spPr>
          <a:xfrm>
            <a:off x="1325880" y="2651760"/>
            <a:ext cx="5120640" cy="731520"/>
          </a:xfrm>
          <a:prstGeom prst="roundRect">
            <a:avLst>
              <a:gd name="adj" fmla="val 12500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554480" y="26517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capitale * 1.1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630168"/>
            <a:ext cx="594360" cy="59436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63016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90" b="1" dirty="0">
                <a:solidFill>
                  <a:srgbClr val="1F2A30"/>
                </a:solidFill>
              </a:rPr>
              <a:t>C</a:t>
            </a:r>
            <a:endParaRPr lang="en-US" sz="1690" dirty="0"/>
          </a:p>
        </p:txBody>
      </p:sp>
      <p:sp>
        <p:nvSpPr>
          <p:cNvPr id="13" name="Shape 11"/>
          <p:cNvSpPr/>
          <p:nvPr/>
        </p:nvSpPr>
        <p:spPr>
          <a:xfrm>
            <a:off x="1325880" y="3566160"/>
            <a:ext cx="5120640" cy="731520"/>
          </a:xfrm>
          <a:prstGeom prst="roundRect">
            <a:avLst>
              <a:gd name="adj" fmla="val 12500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554480" y="35661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print(capitale)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949440" y="1737360"/>
            <a:ext cx="4663440" cy="731520"/>
          </a:xfrm>
          <a:prstGeom prst="roundRect">
            <a:avLst>
              <a:gd name="adj" fmla="val 12500"/>
            </a:avLst>
          </a:prstGeom>
          <a:solidFill>
            <a:srgbClr val="EEF3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78040" y="173736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A, B, C</a:t>
            </a:r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  1100.0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949440" y="2651760"/>
            <a:ext cx="4663440" cy="731520"/>
          </a:xfrm>
          <a:prstGeom prst="roundRect">
            <a:avLst>
              <a:gd name="adj" fmla="val 12500"/>
            </a:avLst>
          </a:prstGeom>
          <a:solidFill>
            <a:srgbClr val="EEF3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78040" y="265176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A, B, B, B, C</a:t>
            </a:r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  1331.0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949440" y="3566160"/>
            <a:ext cx="4663440" cy="731520"/>
          </a:xfrm>
          <a:prstGeom prst="roundRect">
            <a:avLst>
              <a:gd name="adj" fmla="val 12500"/>
            </a:avLst>
          </a:prstGeom>
          <a:solidFill>
            <a:srgbClr val="EEF3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78040" y="356616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riavvio, poi C</a:t>
            </a:r>
            <a:pPr indent="0" marL="0">
              <a:buNone/>
            </a:pPr>
            <a:r>
              <a:rPr lang="en-US" sz="17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  NameError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709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Stesso codice, tre risultati diversi. La storia delle esecuzioni non è scritta da nessuna parte.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Uno script in Colab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1920240"/>
          </a:xfrm>
          <a:prstGeom prst="roundRect">
            <a:avLst>
              <a:gd name="adj" fmla="val 5714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%%writefile analisi.py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pd.read_excel(URL)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print(df.shape)</a:t>
            </a:r>
            <a:endParaRPr lang="en-US" sz="1600" dirty="0"/>
          </a:p>
        </p:txBody>
      </p:sp>
      <p:sp>
        <p:nvSpPr>
          <p:cNvPr id="6" name="card-code"/>
          <p:cNvSpPr/>
          <p:nvPr/>
        </p:nvSpPr>
        <p:spPr>
          <a:xfrm>
            <a:off x="548640" y="3886200"/>
            <a:ext cx="6583680" cy="1005840"/>
          </a:xfrm>
          <a:prstGeom prst="roundRect">
            <a:avLst>
              <a:gd name="adj" fmla="val 10909"/>
            </a:avLst>
          </a:prstGeom>
          <a:solidFill>
            <a:srgbClr val="1F2A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4023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343400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!python analisi.py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1828800"/>
            <a:ext cx="4114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%%writefile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 salva la cella in un file, senza eseguirla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!python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 lo esegue da zero, dall'inizio alla fine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0F4C5C"/>
                </a:solidFill>
              </a:rPr>
              <a:t>In cima: chi, quando, quali dati, cosa fa.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Leggere il codice degli altri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50520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0116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25856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154680"/>
            <a:ext cx="295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Cosa dice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03320"/>
            <a:ext cx="295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il commento, il nome della funzione, la richiesta fatta a Gemini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28160" y="1737360"/>
            <a:ext cx="350520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4602480" y="20116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9368" y="225856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02480" y="3154680"/>
            <a:ext cx="295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Cosa fa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602480" y="3703320"/>
            <a:ext cx="295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riga per riga: filtri, confronti, funzioni di riepilogo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107680" y="1737360"/>
            <a:ext cx="350520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382000" y="20116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8888" y="225856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82000" y="3154680"/>
            <a:ext cx="295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Coincidono?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382000" y="3703320"/>
            <a:ext cx="295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se no, ha ragione il codice: è lui che produce i numeri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Uno script che gira senza errori non è uno script giusto. Vale anche, e soprattutto, per quello scritto dall'AI.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il tuo primo script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Scrivilo, eseguilo da zero, poi controlla quello di Gemini.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Debrief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Rifare un'analisi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Lo script di Gemini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10</a:t>
            </a:r>
            <a:pPr indent="0" marL="0">
              <a:buNone/>
            </a:pPr>
            <a:r>
              <a:rPr lang="en-US" sz="2000" b="1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</a:t>
            </a:r>
            <a:pPr indent="0" marL="0">
              <a:buNone/>
            </a:pPr>
            <a:r>
              <a:rPr lang="en-US" sz="2000" b="1" dirty="0">
                <a:solidFill>
                  <a:srgbClr val="2E6B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 10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73736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«almeno 10 addetti»: le 21 imprese con esattamente 10 addetti erano escluse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3337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33756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mean()</a:t>
            </a:r>
            <a:pPr indent="0" marL="0">
              <a:buNone/>
            </a:pPr>
            <a:r>
              <a:rPr lang="en-US" sz="2000" b="1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</a:t>
            </a:r>
            <a:pPr indent="0" marL="0">
              <a:buNone/>
            </a:pPr>
            <a:r>
              <a:rPr lang="en-US" sz="2000" b="1" dirty="0">
                <a:solidFill>
                  <a:srgbClr val="2E6B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median()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3337560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il commento chiedeva la mediana: per l'agroalimentare 6.451 invece di 2.580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Nessun errore, numeri plausibili: due sbagli trovati solo leggendo.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Cosa serve per rifare un'analisi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560320" cy="2743200"/>
          </a:xfrm>
          <a:prstGeom prst="roundRect">
            <a:avLst>
              <a:gd name="adj" fmla="val 4286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0116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25856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154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I dati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033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o dove scaricarli, e quando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383280" y="1737360"/>
            <a:ext cx="2560320" cy="2743200"/>
          </a:xfrm>
          <a:prstGeom prst="roundRect">
            <a:avLst>
              <a:gd name="adj" fmla="val 4286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3657600" y="20116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4488" y="225856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57600" y="3154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Lo script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3657600" y="37033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che parte da zero e arriva al risultato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217920" y="1737360"/>
            <a:ext cx="2560320" cy="2743200"/>
          </a:xfrm>
          <a:prstGeom prst="roundRect">
            <a:avLst>
              <a:gd name="adj" fmla="val 4286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6492240" y="20116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128" y="225856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92240" y="3154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Le librerie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6492240" y="37033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requirements.txt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9052560" y="1737360"/>
            <a:ext cx="2560320" cy="2743200"/>
          </a:xfrm>
          <a:prstGeom prst="roundRect">
            <a:avLst>
              <a:gd name="adj" fmla="val 4286"/>
            </a:avLst>
          </a:prstGeom>
          <a:solidFill>
            <a:srgbClr val="EEF3F4"/>
          </a:solidFill>
          <a:ln/>
        </p:spPr>
      </p:sp>
      <p:sp>
        <p:nvSpPr>
          <p:cNvPr id="19" name="Shape 14"/>
          <p:cNvSpPr/>
          <p:nvPr/>
        </p:nvSpPr>
        <p:spPr>
          <a:xfrm>
            <a:off x="9326880" y="20116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3768" y="225856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26880" y="3154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Le decisioni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9326880" y="37033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di pulizia, scritte (L3)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4846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Il repository del corso è un esempio: dati, codice e istruzioni nello stesso posto.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Ora tocca a voi: il mini-progetto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Una domanda, dei dati, uno script, un grafico onesto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L8 — Dal notebook allo script</dc:title>
  <dc:subject>PptxGenJS Presentation</dc:subject>
  <dc:creator>SIMA 2026</dc:creator>
  <cp:lastModifiedBy>SIMA 2026</cp:lastModifiedBy>
  <cp:revision>1</cp:revision>
  <dcterms:created xsi:type="dcterms:W3CDTF">2026-10-06T09:10:13Z</dcterms:created>
  <dcterms:modified xsi:type="dcterms:W3CDTF">2026-10-06T09:10:13Z</dcterms:modified>
</cp:coreProperties>
</file>