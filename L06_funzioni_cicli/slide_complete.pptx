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057ca760-0fa6-8a7c-aa5c-b4cff3baa352}">
          <p14:sldIdLst>
            <p14:sldId id="256"/>
            <p14:sldId id="257"/>
          </p14:sldIdLst>
        </p14:section>
        <p14:section name="Spiegazione" id="{be9d3113-77dd-c024-28e7-0bf691c767f4}">
          <p14:sldIdLst>
            <p14:sldId id="258"/>
            <p14:sldId id="259"/>
            <p14:sldId id="260"/>
            <p14:sldId id="261"/>
            <p14:sldId id="262"/>
          </p14:sldIdLst>
        </p14:section>
        <p14:section name="Task" id="{e3190e64-d43b-8feb-8f00-6751c6179d8e}">
          <p14:sldIdLst>
            <p14:sldId id="263"/>
          </p14:sldIdLst>
        </p14:section>
        <p14:section name="Debrief" id="{8bd0ba3d-b83e-cf7f-775a-93fa1cd7cd5d}">
          <p14:sldIdLst>
            <p14:sldId id="264"/>
            <p14:sldId id="265"/>
            <p14:sldId id="266"/>
          </p14:sldIdLst>
        </p14:section>
        <p14:section name="Chiusura" id="{1662e2ca-42b8-5aa6-f06d-919b6afe2282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il coding batte Excel in modo evidente. Partire dalla domanda: chi ha mai dovuto rifare lo stesso lavoro su tanti file?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Scrivi la ricetta una volta, la usi quante volte vuoi. Se trovi un errore, lo correggi in un posto solo. Far notare che una funzione senza return restituisce None: errore frequente.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aggiungere una riga senza rientro dopo il ciclo e far vedere che viene eseguita una volta sola, alla 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cambiare imprese in 40 e rieseguire. Poi mostrare l'errore di if df["addetti"] &lt; 10: «The truth value of a Series is ambiguous»: if decide su un valore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Mostrare il pannello dei file di Colab dopo il git clone. Path è il modo moderno di gestire i percorsi in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 anticipare quale file darà problemi.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passo 6 il ciclo si ferma: è voluto. Aiutare a leggere l'errore, non a risolverlo.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Collegare alla L1: gli errori sono amici. Qui l'errore ha evitato un riepilogo con 19 regioni su 20. Nel bonus B2, senza la correzione, concat avrebbe creato due colonne diverse.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F4C06E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B8C4C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4C5C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B"/>
                </a:solidFill>
              </a:rPr>
              <a:t>SIMA 2026 · L6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Funzioni e cicli: automatizzare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L6 · Informatica per economisti · SIMA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Oggi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Spiegazione e demo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Funzioni, cicli, if, cartelle di file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Task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06E"/>
                </a:solidFill>
              </a:rPr>
              <a:t>60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Lo stesso riepilogo su 20 file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Debrief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Il file diverso dagli altri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Una funzione è una ricetta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2377440"/>
          </a:xfrm>
          <a:prstGeom prst="roundRect">
            <a:avLst>
              <a:gd name="adj" fmla="val 4615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ricavo(prezzo, quantita):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totale = prezzo * quantita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ricavo(12.5, 40)</a:t>
            </a:r>
            <a:endParaRPr lang="en-US" sz="1800" dirty="0"/>
          </a:p>
        </p:txBody>
      </p:sp>
      <p:sp>
        <p:nvSpPr>
          <p:cNvPr id="6" name="card-out"/>
          <p:cNvSpPr/>
          <p:nvPr/>
        </p:nvSpPr>
        <p:spPr>
          <a:xfrm>
            <a:off x="548640" y="4297680"/>
            <a:ext cx="6583680" cy="914400"/>
          </a:xfrm>
          <a:prstGeom prst="roundRect">
            <a:avLst>
              <a:gd name="adj" fmla="val 12000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7548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500.0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82880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 dà un nome alla ricetta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tra parentesi gli ingredienti (parametri)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 è il piatto che esce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0F4C5C"/>
                </a:solidFill>
              </a:rPr>
              <a:t>Il rientro (4 spazi) dice cosa fa parte della ricetta.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Un ciclo ripete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1828800"/>
          </a:xfrm>
          <a:prstGeom prst="roundRect">
            <a:avLst>
              <a:gd name="adj" fmla="val 6000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citta in ["Milano", "Roma", "Napoli"]: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print(citta.upper())</a:t>
            </a:r>
            <a:endParaRPr lang="en-US" sz="1800" dirty="0"/>
          </a:p>
        </p:txBody>
      </p:sp>
      <p:sp>
        <p:nvSpPr>
          <p:cNvPr id="6" name="card-out"/>
          <p:cNvSpPr/>
          <p:nvPr/>
        </p:nvSpPr>
        <p:spPr>
          <a:xfrm>
            <a:off x="548640" y="3749040"/>
            <a:ext cx="658368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20624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MILANO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NAPOLI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82880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i="1" dirty="0">
                <a:solidFill>
                  <a:srgbClr val="1F2A30"/>
                </a:solidFill>
              </a:rPr>
              <a:t>«per ogni città nella lista, fai questo»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La variabile </a:t>
            </a:r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citta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 cambia valore a ogni giro.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0F4C5C"/>
                </a:solidFill>
              </a:rPr>
              <a:t>Il rientro dice cosa si ripete.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Decidere: if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2377440"/>
          </a:xfrm>
          <a:prstGeom prst="roundRect">
            <a:avLst>
              <a:gd name="adj" fmla="val 4615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imprese = 4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imprese &lt; 10: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nota = "poco affidabile"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nota = "ok"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print(nota)</a:t>
            </a:r>
            <a:endParaRPr lang="en-US" sz="1800" dirty="0"/>
          </a:p>
        </p:txBody>
      </p:sp>
      <p:sp>
        <p:nvSpPr>
          <p:cNvPr id="6" name="card-out"/>
          <p:cNvSpPr/>
          <p:nvPr/>
        </p:nvSpPr>
        <p:spPr>
          <a:xfrm>
            <a:off x="548640" y="4297680"/>
            <a:ext cx="6583680" cy="914400"/>
          </a:xfrm>
          <a:prstGeom prst="roundRect">
            <a:avLst>
              <a:gd name="adj" fmla="val 12000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7548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poco affidabile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82880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i="1" dirty="0">
                <a:solidFill>
                  <a:srgbClr val="1F2A30"/>
                </a:solidFill>
              </a:rPr>
              <a:t>«se è vero, fai questo; altrimenti, quest'altro»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La condizione è un confronto (L1): True o False.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Due punti e rientro, come nei cicli.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0F4C5C"/>
                </a:solidFill>
              </a:rPr>
              <a:t>Per le righe di una tabella si filtra (L3), non si usa if.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Funzione + ciclo + cartella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7315200" cy="2926080"/>
          </a:xfrm>
          <a:prstGeom prst="roundRect">
            <a:avLst>
              <a:gd name="adj" fmla="val 3750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858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pathlib import Path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= sorted(Path("dati").glob("*.xlsx"))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risultati = []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 in file: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risultati.append(riepilogo(f))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= pd.DataFrame(risultati)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</a:rPr>
              <a:t>glob trova tutti i file che corrispondono a uno schema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</a:rPr>
              <a:t>Ogni giro: un file, un riepilogo, aggiunto alla lista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</a:rPr>
              <a:t>Alla fine la lista diventa una tabella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0F4C5C"/>
                </a:solidFill>
              </a:rPr>
              <a:t>20 file o 2.000: stesso codice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In Colab i file del corso si scaricano con git clone: compaiono nel pannello a sinistra.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Quando un ciclo si ferma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IL TRUCCO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Stampa il nome del file prima di elaborarlo. Se si ferma con un errore, l'ultimo nome stampato è il colpevole.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0F4C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C06E"/>
                </a:solidFill>
              </a:rPr>
              <a:t>POI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42316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Apri quel file e guardalo: cosa ha di diverso dagli altri? Correggi la funzione in modo che regga anche quel caso.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I file «tutti uguali» non sono mai tutti uguali.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Task: 20 file, un riepilogo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Scrivi la ricetta una volta, ripetila su tutti.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60 minuti · apri il notebook dal README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Debrief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Il file diverso dagli altri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Il Molise</a:t>
            </a:r>
            <a:endParaRPr lang="en-US" sz="3600" dirty="0"/>
          </a:p>
        </p:txBody>
      </p:sp>
      <p:sp>
        <p:nvSpPr>
          <p:cNvPr id="3" name="card-err"/>
          <p:cNvSpPr/>
          <p:nvPr/>
        </p:nvSpPr>
        <p:spPr>
          <a:xfrm>
            <a:off x="548640" y="1737360"/>
            <a:ext cx="6035040" cy="1188720"/>
          </a:xfrm>
          <a:prstGeom prst="roundRect">
            <a:avLst>
              <a:gd name="adj" fmla="val 9231"/>
            </a:avLst>
          </a:prstGeom>
          <a:solidFill>
            <a:srgbClr val="FBEA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2A2B"/>
                </a:solidFill>
              </a:rPr>
              <a:t>ERRORE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9E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KeyError: 'fatturato'</a:t>
            </a:r>
            <a:endParaRPr lang="en-US" sz="2000" dirty="0"/>
          </a:p>
        </p:txBody>
      </p:sp>
      <p:sp>
        <p:nvSpPr>
          <p:cNvPr id="6" name="card-code"/>
          <p:cNvSpPr/>
          <p:nvPr/>
        </p:nvSpPr>
        <p:spPr>
          <a:xfrm>
            <a:off x="548640" y="3154680"/>
            <a:ext cx="603504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1188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 = df.columns.str.lower()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1828800"/>
            <a:ext cx="4663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In Molise.xlsx la colonna si chiamava «Fatturato», con la maiuscola.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In Excel non ce ne saremmo accorti: avremmo cliccato sulla colonna giusta.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F4C5C"/>
                </a:solidFill>
              </a:rPr>
              <a:t>Il codice si è fermato, e ce l'ha detto. Meglio un errore che un risultato sbagliato.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Cosa abbiamo guadagnato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05200" cy="292608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2585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Ripetibile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03320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domani arrivano i dati del 2024: rilanci tutto e hai il nuovo report.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28160" y="1737360"/>
            <a:ext cx="3505200" cy="292608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/>
        </p:spPr>
      </p:sp>
      <p:sp>
        <p:nvSpPr>
          <p:cNvPr id="9" name="Shape 6"/>
          <p:cNvSpPr/>
          <p:nvPr/>
        </p:nvSpPr>
        <p:spPr>
          <a:xfrm>
            <a:off x="460248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368" y="225856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248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Scalabile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02480" y="3703320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20 file o 2.000, il codice non cambia.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07680" y="1737360"/>
            <a:ext cx="3505200" cy="292608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/>
        </p:spPr>
      </p:sp>
      <p:sp>
        <p:nvSpPr>
          <p:cNvPr id="14" name="Shape 10"/>
          <p:cNvSpPr/>
          <p:nvPr/>
        </p:nvSpPr>
        <p:spPr>
          <a:xfrm>
            <a:off x="838200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888" y="225856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8200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Correggibile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82000" y="3703320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un errore nella ricetta si corregge in un punto solo.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Prossima volta: dati da internet e una regressione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Compito: Kaggle Learn – Python, funzioni e cicli (~40 min)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 2026">
  <a:themeElements>
    <a:clrScheme name="SIMA 2026">
      <a:dk1>
        <a:srgbClr val="1F2A30"/>
      </a:dk1>
      <a:lt1>
        <a:srgbClr val="FFFFFF"/>
      </a:lt1>
      <a:dk2>
        <a:srgbClr val="0F4C5C"/>
      </a:dk2>
      <a:lt2>
        <a:srgbClr val="EEF3F4"/>
      </a:lt2>
      <a:accent1>
        <a:srgbClr val="E09F3E"/>
      </a:accent1>
      <a:accent2>
        <a:srgbClr val="0F4C5C"/>
      </a:accent2>
      <a:accent3>
        <a:srgbClr val="9E2A2B"/>
      </a:accent3>
      <a:accent4>
        <a:srgbClr val="3A7D44"/>
      </a:accent4>
      <a:accent5>
        <a:srgbClr val="5C6F7B"/>
      </a:accent5>
      <a:accent6>
        <a:srgbClr val="B8C4CB"/>
      </a:accent6>
      <a:hlink>
        <a:srgbClr val="0F4C5C"/>
      </a:hlink>
      <a:folHlink>
        <a:srgbClr val="5C6F7B"/>
      </a:folHlink>
    </a:clrScheme>
    <a:fontScheme name="SIM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L6 — Funzioni e cicli: automatizzare</dc:title>
  <dc:subject>PptxGenJS Presentation</dc:subject>
  <dc:creator>SIMA 2026</dc:creator>
  <cp:lastModifiedBy>SIMA 2026</cp:lastModifiedBy>
  <cp:revision>1</cp:revision>
  <dcterms:created xsi:type="dcterms:W3CDTF">2026-10-12T09:43:02Z</dcterms:created>
  <dcterms:modified xsi:type="dcterms:W3CDTF">2026-10-12T09:43:02Z</dcterms:modified>
</cp:coreProperties>
</file>