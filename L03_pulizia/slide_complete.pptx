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d6ccf1b1-a8a2-19b0-402f-16237024e1e6}">
          <p14:sldIdLst>
            <p14:sldId id="256"/>
            <p14:sldId id="257"/>
          </p14:sldIdLst>
        </p14:section>
        <p14:section name="Spiegazione" id="{f6b7fb07-cf81-7b76-406f-5029b9150012}">
          <p14:sldIdLst>
            <p14:sldId id="258"/>
            <p14:sldId id="259"/>
            <p14:sldId id="260"/>
            <p14:sldId id="261"/>
            <p14:sldId id="262"/>
          </p14:sldIdLst>
        </p14:section>
        <p14:section name="Task" id="{43464b71-0c93-f789-08a5-62d9ff05e94f}">
          <p14:sldIdLst>
            <p14:sldId id="263"/>
          </p14:sldIdLst>
        </p14:section>
        <p14:section name="Debrief" id="{c76a9860-3a79-a112-9e17-7074aa45c6c7}">
          <p14:sldIdLst>
            <p14:sldId id="264"/>
            <p14:sldId id="265"/>
            <p14:sldId id="266"/>
            <p14:sldId id="267"/>
            <p14:sldId id="268"/>
          </p14:sldIdLst>
        </p14:section>
        <p14:section name="Chiusura" id="{b141caa9-e23f-7976-2e50-e0e15a82edf5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Ripresa della L2: quali problemi avevamo trovato? Farli elencare alla classe. Oggi li correggiamo.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Esempio da fare a voce: un fatturato di 24 milioni è un errore o un'impresa enorme? Non lo dice il codice, lo decidi tu guardando i dati.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Far notare anche il df = ...: senza riassegnare, df non cambia. Errore classico: si lancia drop_duplicates() e ci si stupisce che i duplicati siano ancora lì.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veloce su una piccola Series creata al volo: pd.Series([' Milano', 'milano', 'MILANO ']). Quante città diverse? E dopo strip + title?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caso "12,5": la virgola italiana non è un decimale per Python. Non anticipare la soluzione del task: lasciare che ci arrivino.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isna().sum() per contare i mancanti di ogni colonna: lo cercano nel task.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Girando tra i banchi: tenere d'occhio il passo 5. Chi trova più di 50 mancanti ha sbagliato l'ordine delle sostituzioni: non dirglielo, chiedergli se il numero torna.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Chi ha ottenuto 1.621? Come se n'è accorto? Se qualcuno ha usato Gemini: l'ordine giusto l'ha azzeccato?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Valori in migliaia di euro. Chiedere che soglie hanno scelto: qualunque valore tra circa 65.000 e 300.000 dà lo stesso risultato. La scelta va giustificata, non indovinata.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Valle D'Aosta con la D maiuscola sembra innocuo, ma nella L5 farà fallire l'unione con la tabella delle regioni.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olo">
    <p:bg>
      <p:bgPr>
        <a:solidFill>
          <a:srgbClr val="0F4C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4904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200" dirty="0">
                <a:solidFill>
                  <a:srgbClr val="F4C06E"/>
                </a:solidFill>
              </a:defRPr>
            </a:lvl1pPr>
          </a:lstStyle>
          <a:p>
            <a:pPr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zione">
    <p:bg>
      <p:bgPr>
        <a:solidFill>
          <a:srgbClr val="1F2A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94560"/>
            <a:ext cx="106984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200" dirty="0">
                <a:solidFill>
                  <a:srgbClr val="B8C4CB"/>
                </a:solidFill>
              </a:defRPr>
            </a:lvl1pPr>
          </a:lstStyle>
          <a:p>
            <a:pPr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ut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0F4C5C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F7B"/>
                </a:solidFill>
              </a:rPr>
              <a:t>SIMA 2026 · L3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</a:rPr>
              <a:t>Pulire i dati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490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4C06E"/>
                </a:solidFill>
              </a:rPr>
              <a:t>L3 · Informatica per economisti · SIMA 2026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Oggi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828800"/>
            <a:ext cx="3474720" cy="3566160"/>
          </a:xfrm>
          <a:prstGeom prst="roundRect">
            <a:avLst>
              <a:gd name="adj" fmla="val 3158"/>
            </a:avLst>
          </a:prstGeom>
          <a:solidFill>
            <a:srgbClr val="EEF3F4"/>
          </a:solidFill>
          <a:ln/>
        </p:spPr>
      </p:sp>
      <p:sp>
        <p:nvSpPr>
          <p:cNvPr id="4" name="Shape 2"/>
          <p:cNvSpPr/>
          <p:nvPr/>
        </p:nvSpPr>
        <p:spPr>
          <a:xfrm>
            <a:off x="868680" y="2148840"/>
            <a:ext cx="731520" cy="73152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1F2A30"/>
                </a:solidFill>
              </a:rPr>
              <a:t>1</a:t>
            </a:r>
            <a:endParaRPr lang="en-US" sz="208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31546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30"/>
                </a:solidFill>
              </a:rPr>
              <a:t>Spiegazione e demo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7033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F5308"/>
                </a:solidFill>
              </a:rPr>
              <a:t>25 min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425196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A30"/>
                </a:solidFill>
              </a:rPr>
              <a:t>Testo, conversioni, valori mancanti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343400" y="1828800"/>
            <a:ext cx="3474720" cy="3566160"/>
          </a:xfrm>
          <a:prstGeom prst="roundRect">
            <a:avLst>
              <a:gd name="adj" fmla="val 3158"/>
            </a:avLst>
          </a:prstGeom>
          <a:solidFill>
            <a:srgbClr val="0F4C5C"/>
          </a:solidFill>
          <a:ln/>
        </p:spPr>
      </p:sp>
      <p:sp>
        <p:nvSpPr>
          <p:cNvPr id="10" name="Shape 8"/>
          <p:cNvSpPr/>
          <p:nvPr/>
        </p:nvSpPr>
        <p:spPr>
          <a:xfrm>
            <a:off x="4663440" y="2148840"/>
            <a:ext cx="731520" cy="73152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6344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1F2A30"/>
                </a:solidFill>
              </a:rPr>
              <a:t>2</a:t>
            </a:r>
            <a:endParaRPr lang="en-US" sz="2080" dirty="0"/>
          </a:p>
        </p:txBody>
      </p:sp>
      <p:sp>
        <p:nvSpPr>
          <p:cNvPr id="12" name="Text 10"/>
          <p:cNvSpPr txBox="1"/>
          <p:nvPr/>
        </p:nvSpPr>
        <p:spPr>
          <a:xfrm>
            <a:off x="4663440" y="31546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Task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37033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4C06E"/>
                </a:solidFill>
              </a:rPr>
              <a:t>60 min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4663440" y="425196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Pulire imprese.xlsx, un problema alla volta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8138160" y="1828800"/>
            <a:ext cx="3474720" cy="3566160"/>
          </a:xfrm>
          <a:prstGeom prst="roundRect">
            <a:avLst>
              <a:gd name="adj" fmla="val 3158"/>
            </a:avLst>
          </a:prstGeom>
          <a:solidFill>
            <a:srgbClr val="EEF3F4"/>
          </a:solidFill>
          <a:ln/>
        </p:spPr>
      </p:sp>
      <p:sp>
        <p:nvSpPr>
          <p:cNvPr id="16" name="Shape 14"/>
          <p:cNvSpPr/>
          <p:nvPr/>
        </p:nvSpPr>
        <p:spPr>
          <a:xfrm>
            <a:off x="8458200" y="2148840"/>
            <a:ext cx="731520" cy="73152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45820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1F2A30"/>
                </a:solidFill>
              </a:rPr>
              <a:t>3</a:t>
            </a:r>
            <a:endParaRPr lang="en-US" sz="2080" dirty="0"/>
          </a:p>
        </p:txBody>
      </p:sp>
      <p:sp>
        <p:nvSpPr>
          <p:cNvPr id="18" name="Text 16"/>
          <p:cNvSpPr txBox="1"/>
          <p:nvPr/>
        </p:nvSpPr>
        <p:spPr>
          <a:xfrm>
            <a:off x="8458200" y="31546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30"/>
                </a:solidFill>
              </a:rPr>
              <a:t>Debrief</a:t>
            </a:r>
            <a:endParaRPr lang="en-US" sz="2600" dirty="0"/>
          </a:p>
        </p:txBody>
      </p:sp>
      <p:sp>
        <p:nvSpPr>
          <p:cNvPr id="19" name="Text 17"/>
          <p:cNvSpPr txBox="1"/>
          <p:nvPr/>
        </p:nvSpPr>
        <p:spPr>
          <a:xfrm>
            <a:off x="8458200" y="37033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F5308"/>
                </a:solidFill>
              </a:rPr>
              <a:t>25 min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8458200" y="425196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A30"/>
                </a:solidFill>
              </a:rPr>
              <a:t>Le trappole silenziose e le nostre decisioni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Pulire è decidere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828800"/>
            <a:ext cx="2560320" cy="2377440"/>
          </a:xfrm>
          <a:prstGeom prst="roundRect">
            <a:avLst>
              <a:gd name="adj" fmla="val 4615"/>
            </a:avLst>
          </a:prstGeom>
          <a:solidFill>
            <a:srgbClr val="EEF3F4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2103120"/>
            <a:ext cx="685800" cy="68580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21031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1F2A30"/>
                </a:solidFill>
              </a:rPr>
              <a:t>1</a:t>
            </a:r>
            <a:endParaRPr lang="en-US" sz="195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0175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30"/>
                </a:solidFill>
              </a:rPr>
              <a:t>Trova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52044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il problema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3383280" y="1828800"/>
            <a:ext cx="2560320" cy="2377440"/>
          </a:xfrm>
          <a:prstGeom prst="roundRect">
            <a:avLst>
              <a:gd name="adj" fmla="val 4615"/>
            </a:avLst>
          </a:prstGeom>
          <a:solidFill>
            <a:srgbClr val="EEF3F4"/>
          </a:solidFill>
          <a:ln/>
        </p:spPr>
      </p:sp>
      <p:sp>
        <p:nvSpPr>
          <p:cNvPr id="9" name="Shape 7"/>
          <p:cNvSpPr/>
          <p:nvPr/>
        </p:nvSpPr>
        <p:spPr>
          <a:xfrm>
            <a:off x="3657600" y="2103120"/>
            <a:ext cx="685800" cy="68580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657600" y="21031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1F2A30"/>
                </a:solidFill>
              </a:rPr>
              <a:t>2</a:t>
            </a:r>
            <a:endParaRPr lang="en-US" sz="1950" dirty="0"/>
          </a:p>
        </p:txBody>
      </p:sp>
      <p:sp>
        <p:nvSpPr>
          <p:cNvPr id="11" name="Text 9"/>
          <p:cNvSpPr txBox="1"/>
          <p:nvPr/>
        </p:nvSpPr>
        <p:spPr>
          <a:xfrm>
            <a:off x="3657600" y="30175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30"/>
                </a:solidFill>
              </a:rPr>
              <a:t>Decidi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3657600" y="352044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cosa fare, e perché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217920" y="1828800"/>
            <a:ext cx="2560320" cy="2377440"/>
          </a:xfrm>
          <a:prstGeom prst="roundRect">
            <a:avLst>
              <a:gd name="adj" fmla="val 4615"/>
            </a:avLst>
          </a:prstGeom>
          <a:solidFill>
            <a:srgbClr val="EEF3F4"/>
          </a:solidFill>
          <a:ln/>
        </p:spPr>
      </p:sp>
      <p:sp>
        <p:nvSpPr>
          <p:cNvPr id="14" name="Shape 12"/>
          <p:cNvSpPr/>
          <p:nvPr/>
        </p:nvSpPr>
        <p:spPr>
          <a:xfrm>
            <a:off x="6492240" y="2103120"/>
            <a:ext cx="685800" cy="68580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92240" y="21031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1F2A30"/>
                </a:solidFill>
              </a:rPr>
              <a:t>3</a:t>
            </a:r>
            <a:endParaRPr lang="en-US" sz="1950" dirty="0"/>
          </a:p>
        </p:txBody>
      </p:sp>
      <p:sp>
        <p:nvSpPr>
          <p:cNvPr id="16" name="Text 14"/>
          <p:cNvSpPr txBox="1"/>
          <p:nvPr/>
        </p:nvSpPr>
        <p:spPr>
          <a:xfrm>
            <a:off x="6492240" y="30175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30"/>
                </a:solidFill>
              </a:rPr>
              <a:t>Correggi</a:t>
            </a:r>
            <a:endParaRPr lang="en-US" sz="2600" dirty="0"/>
          </a:p>
        </p:txBody>
      </p:sp>
      <p:sp>
        <p:nvSpPr>
          <p:cNvPr id="17" name="Text 15"/>
          <p:cNvSpPr txBox="1"/>
          <p:nvPr/>
        </p:nvSpPr>
        <p:spPr>
          <a:xfrm>
            <a:off x="6492240" y="352044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con il codice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9052560" y="1828800"/>
            <a:ext cx="2560320" cy="2377440"/>
          </a:xfrm>
          <a:prstGeom prst="roundRect">
            <a:avLst>
              <a:gd name="adj" fmla="val 4615"/>
            </a:avLst>
          </a:prstGeom>
          <a:solidFill>
            <a:srgbClr val="0F4C5C"/>
          </a:solidFill>
          <a:ln/>
        </p:spPr>
      </p:sp>
      <p:sp>
        <p:nvSpPr>
          <p:cNvPr id="19" name="Shape 17"/>
          <p:cNvSpPr/>
          <p:nvPr/>
        </p:nvSpPr>
        <p:spPr>
          <a:xfrm>
            <a:off x="9326880" y="2103120"/>
            <a:ext cx="685800" cy="68580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326880" y="21031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1F2A30"/>
                </a:solidFill>
              </a:rPr>
              <a:t>4</a:t>
            </a:r>
            <a:endParaRPr lang="en-US" sz="1950" dirty="0"/>
          </a:p>
        </p:txBody>
      </p:sp>
      <p:sp>
        <p:nvSpPr>
          <p:cNvPr id="21" name="Text 19"/>
          <p:cNvSpPr txBox="1"/>
          <p:nvPr/>
        </p:nvSpPr>
        <p:spPr>
          <a:xfrm>
            <a:off x="9326880" y="30175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Verifica</a:t>
            </a:r>
            <a:endParaRPr lang="en-US" sz="2600" dirty="0"/>
          </a:p>
        </p:txBody>
      </p:sp>
      <p:sp>
        <p:nvSpPr>
          <p:cNvPr id="22" name="Text 20"/>
          <p:cNvSpPr txBox="1"/>
          <p:nvPr/>
        </p:nvSpPr>
        <p:spPr>
          <a:xfrm>
            <a:off x="9326880" y="352044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B8C4CB"/>
                </a:solidFill>
              </a:rPr>
              <a:t>conta prima, conta dopo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466344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2000" dirty="0">
                <a:solidFill>
                  <a:srgbClr val="1F2A30"/>
                </a:solidFill>
              </a:rPr>
              <a:t>Nessuna correzione è automatica: ogni volta scegli tu. </a:t>
            </a:r>
            <a:pPr indent="0" marL="0">
              <a:spcAft>
                <a:spcPts val="1000"/>
              </a:spcAft>
              <a:buNone/>
            </a:pPr>
            <a:r>
              <a:rPr lang="en-US" sz="2000" b="1" dirty="0">
                <a:solidFill>
                  <a:srgbClr val="0F4C5C"/>
                </a:solidFill>
              </a:rPr>
              <a:t>Le decisioni vanno scritte.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La regola: conta prima, conta dopo</a:t>
            </a:r>
            <a:endParaRPr lang="en-US" sz="3600" dirty="0"/>
          </a:p>
        </p:txBody>
      </p:sp>
      <p:sp>
        <p:nvSpPr>
          <p:cNvPr id="3" name="card-code"/>
          <p:cNvSpPr/>
          <p:nvPr/>
        </p:nvSpPr>
        <p:spPr>
          <a:xfrm>
            <a:off x="548640" y="1737360"/>
            <a:ext cx="6035040" cy="1920240"/>
          </a:xfrm>
          <a:prstGeom prst="roundRect">
            <a:avLst>
              <a:gd name="adj" fmla="val 5714"/>
            </a:avLst>
          </a:prstGeom>
          <a:solidFill>
            <a:srgbClr val="1F2A3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874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94560"/>
            <a:ext cx="55778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print(df.shape)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 = df.drop_duplicates()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print(df.shape)</a:t>
            </a:r>
            <a:endParaRPr lang="en-US" sz="2000" dirty="0"/>
          </a:p>
        </p:txBody>
      </p:sp>
      <p:sp>
        <p:nvSpPr>
          <p:cNvPr id="6" name="card-out"/>
          <p:cNvSpPr/>
          <p:nvPr/>
        </p:nvSpPr>
        <p:spPr>
          <a:xfrm>
            <a:off x="548640" y="3886200"/>
            <a:ext cx="6035040" cy="1371600"/>
          </a:xfrm>
          <a:prstGeom prst="roundRect">
            <a:avLst>
              <a:gd name="adj" fmla="val 8000"/>
            </a:avLst>
          </a:prstGeom>
          <a:solidFill>
            <a:srgbClr val="EEF3F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40233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C6F7B"/>
                </a:solidFill>
              </a:rPr>
              <a:t>OUTPUT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4343400"/>
            <a:ext cx="5577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(1000, 5)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(980, 5)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7040880" y="1828800"/>
            <a:ext cx="45720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2000" dirty="0">
                <a:solidFill>
                  <a:srgbClr val="1F2A30"/>
                </a:solidFill>
              </a:rPr>
              <a:t>Quante righe dovevano sparire? 20? Allora va bene.</a:t>
            </a:r>
            <a:endParaRPr lang="en-US" sz="2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000" dirty="0">
                <a:solidFill>
                  <a:srgbClr val="1F2A30"/>
                </a:solidFill>
              </a:rPr>
              <a:t>Molti errori di pulizia non danno messaggi: perdi dati in silenzio.</a:t>
            </a:r>
            <a:endParaRPr lang="en-US" sz="2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000" b="1" dirty="0">
                <a:solidFill>
                  <a:srgbClr val="0F4C5C"/>
                </a:solidFill>
              </a:rPr>
              <a:t>Contare è l'unica difesa.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Lavorare sul testo: .str</a:t>
            </a:r>
            <a:endParaRPr lang="en-US" sz="3600" dirty="0"/>
          </a:p>
        </p:txBody>
      </p:sp>
      <p:sp>
        <p:nvSpPr>
          <p:cNvPr id="3" name="card-code"/>
          <p:cNvSpPr/>
          <p:nvPr/>
        </p:nvSpPr>
        <p:spPr>
          <a:xfrm>
            <a:off x="548640" y="1737360"/>
            <a:ext cx="6035040" cy="1188720"/>
          </a:xfrm>
          <a:prstGeom prst="roundRect">
            <a:avLst>
              <a:gd name="adj" fmla="val 9231"/>
            </a:avLst>
          </a:prstGeom>
          <a:solidFill>
            <a:srgbClr val="1F2A3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874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94560"/>
            <a:ext cx="5577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citta.str.strip()</a:t>
            </a:r>
            <a:endParaRPr lang="en-US" sz="2000" dirty="0"/>
          </a:p>
        </p:txBody>
      </p:sp>
      <p:sp>
        <p:nvSpPr>
          <p:cNvPr id="6" name="card-out"/>
          <p:cNvSpPr/>
          <p:nvPr/>
        </p:nvSpPr>
        <p:spPr>
          <a:xfrm>
            <a:off x="548640" y="3108960"/>
            <a:ext cx="6035040" cy="1097280"/>
          </a:xfrm>
          <a:prstGeom prst="roundRect">
            <a:avLst>
              <a:gd name="adj" fmla="val 10000"/>
            </a:avLst>
          </a:prstGeom>
          <a:solidFill>
            <a:srgbClr val="EEF3F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32461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C6F7B"/>
                </a:solidFill>
              </a:rPr>
              <a:t>OUTPUT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566160"/>
            <a:ext cx="5577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Milano "  →  "Milano"</a:t>
            </a:r>
            <a:endParaRPr lang="en-US" sz="2000" dirty="0"/>
          </a:p>
        </p:txBody>
      </p:sp>
      <p:sp>
        <p:nvSpPr>
          <p:cNvPr id="9" name="card-code"/>
          <p:cNvSpPr/>
          <p:nvPr/>
        </p:nvSpPr>
        <p:spPr>
          <a:xfrm>
            <a:off x="548640" y="4389120"/>
            <a:ext cx="6035040" cy="1188720"/>
          </a:xfrm>
          <a:prstGeom prst="roundRect">
            <a:avLst>
              <a:gd name="adj" fmla="val 9231"/>
            </a:avLst>
          </a:prstGeom>
          <a:solidFill>
            <a:srgbClr val="1F2A3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77240" y="45262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4846320"/>
            <a:ext cx="5577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citta.str.strip().str.lower()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040880" y="1828800"/>
            <a:ext cx="45720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F2A30"/>
                </a:solidFill>
              </a:rPr>
              <a:t>Le colonne di testo hanno comandi dedicati, dopo .str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F2A30"/>
                </a:solidFill>
              </a:rPr>
              <a:t>strip, lower, upper, title, replace…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F2A30"/>
                </a:solidFill>
              </a:rPr>
              <a:t>Si possono mettere in fila, uno dopo l'altro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0F4C5C"/>
                </a:solidFill>
              </a:rPr>
              <a:t>Quelli automatici non conoscono le eccezioni: controlla sempre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Da testo a numero</a:t>
            </a:r>
            <a:endParaRPr lang="en-US" sz="3600" dirty="0"/>
          </a:p>
        </p:txBody>
      </p:sp>
      <p:sp>
        <p:nvSpPr>
          <p:cNvPr id="3" name="card-code"/>
          <p:cNvSpPr/>
          <p:nvPr/>
        </p:nvSpPr>
        <p:spPr>
          <a:xfrm>
            <a:off x="548640" y="1737360"/>
            <a:ext cx="6583680" cy="1371600"/>
          </a:xfrm>
          <a:prstGeom prst="roundRect">
            <a:avLst>
              <a:gd name="adj" fmla="val 8000"/>
            </a:avLst>
          </a:prstGeom>
          <a:solidFill>
            <a:srgbClr val="1F2A3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874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94560"/>
            <a:ext cx="6126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pd.to_numeric(col, errors="coerce")</a:t>
            </a:r>
            <a:endParaRPr lang="en-US" sz="2000" dirty="0"/>
          </a:p>
        </p:txBody>
      </p:sp>
      <p:sp>
        <p:nvSpPr>
          <p:cNvPr id="6" name="card-out"/>
          <p:cNvSpPr/>
          <p:nvPr/>
        </p:nvSpPr>
        <p:spPr>
          <a:xfrm>
            <a:off x="548640" y="3337560"/>
            <a:ext cx="6583680" cy="1737360"/>
          </a:xfrm>
          <a:prstGeom prst="roundRect">
            <a:avLst>
              <a:gd name="adj" fmla="val 6316"/>
            </a:avLst>
          </a:prstGeom>
          <a:solidFill>
            <a:srgbClr val="EEF3F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34747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C6F7B"/>
                </a:solidFill>
              </a:rPr>
              <a:t>OUTPUT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794760"/>
            <a:ext cx="6126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"12.5"   →  12.5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"abc"    →  NaN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"12,5"   →  NaN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7589520" y="1737360"/>
            <a:ext cx="4023360" cy="3337560"/>
          </a:xfrm>
          <a:prstGeom prst="roundRect">
            <a:avLst>
              <a:gd name="adj" fmla="val 3288"/>
            </a:avLst>
          </a:prstGeom>
          <a:solidFill>
            <a:srgbClr val="EEF3F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863840" y="196596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F5308"/>
                </a:solidFill>
              </a:rPr>
              <a:t>ATTENZIONE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863840" y="2423160"/>
            <a:ext cx="34747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F2A30"/>
                </a:solidFill>
              </a:rPr>
              <a:t>Quello che non si converte diventa un valore mancante. Senza errori.</a:t>
            </a:r>
            <a:endParaRPr lang="en-US" sz="1900" dirty="0"/>
          </a:p>
          <a:p>
            <a:pPr indent="0" marL="0">
              <a:buNone/>
            </a:pP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F2A30"/>
                </a:solidFill>
              </a:rPr>
              <a:t>Dopo ogni conversione: conta i mancanti.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Correggere solo alcune righe</a:t>
            </a:r>
            <a:endParaRPr lang="en-US" sz="3600" dirty="0"/>
          </a:p>
        </p:txBody>
      </p:sp>
      <p:sp>
        <p:nvSpPr>
          <p:cNvPr id="3" name="card-code"/>
          <p:cNvSpPr/>
          <p:nvPr/>
        </p:nvSpPr>
        <p:spPr>
          <a:xfrm>
            <a:off x="548640" y="1737360"/>
            <a:ext cx="6583680" cy="1737360"/>
          </a:xfrm>
          <a:prstGeom prst="roundRect">
            <a:avLst>
              <a:gd name="adj" fmla="val 6316"/>
            </a:avLst>
          </a:prstGeom>
          <a:solidFill>
            <a:srgbClr val="1F2A3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874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94560"/>
            <a:ext cx="6126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negativi = df["prezzo"] &lt; 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print(negativi.sum())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df.loc[negativi, "prezzo"] = None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749040"/>
            <a:ext cx="6583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F2A30"/>
                </a:solidFill>
              </a:rPr>
              <a:t>Una condizione è una colonna di True e False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F2A30"/>
                </a:solidFill>
              </a:rPr>
              <a:t>.sum() conta quante righe la rispettano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F2A30"/>
                </a:solidFill>
              </a:rPr>
              <a:t>.loc[righe, colonna] = valore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7589520" y="1737360"/>
            <a:ext cx="4023360" cy="3840480"/>
          </a:xfrm>
          <a:prstGeom prst="roundRect">
            <a:avLst>
              <a:gd name="adj" fmla="val 2857"/>
            </a:avLst>
          </a:prstGeom>
          <a:solidFill>
            <a:srgbClr val="0F4C5C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863840" y="196596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4C06E"/>
                </a:solidFill>
              </a:rPr>
              <a:t>MANCANTE NON È ZERO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863840" y="2468880"/>
            <a:ext cx="3474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2000" dirty="0">
                <a:solidFill>
                  <a:srgbClr val="FFFFFF"/>
                </a:solidFill>
              </a:rPr>
              <a:t>Media di 10, ?, 20</a:t>
            </a:r>
            <a:endParaRPr lang="en-US" sz="20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 il mancante: 15</a:t>
            </a:r>
            <a:endParaRPr lang="en-US" sz="20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 lo 0:       10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9456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FFFFFF"/>
                </a:solidFill>
              </a:rPr>
              <a:t>Task: pulisci il dataset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B8C4CB"/>
                </a:solidFill>
              </a:rPr>
              <a:t>Obiettivo: 2.500 righe, 20 regioni, un fatturato numerico e plausibile.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B8C4CB"/>
                </a:solidFill>
              </a:rPr>
              <a:t>60 minuti · apri il notebook dal README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9456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FFFFFF"/>
                </a:solidFill>
              </a:rPr>
              <a:t>Debrief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B8C4CB"/>
                </a:solidFill>
              </a:rPr>
              <a:t>Le trappole silenziose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L'ordine delle sostituzioni conta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5440680" cy="3291840"/>
          </a:xfrm>
          <a:prstGeom prst="roundRect">
            <a:avLst>
              <a:gd name="adj" fmla="val 3333"/>
            </a:avLst>
          </a:prstGeom>
          <a:solidFill>
            <a:srgbClr val="EEF3F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196596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A30"/>
                </a:solidFill>
              </a:rPr>
              <a:t>Prima la virgola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24688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"1.032,9" → "1.032.9"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310896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9E2A2B"/>
                </a:solidFill>
              </a:rPr>
              <a:t>1.621</a:t>
            </a:r>
            <a:endParaRPr lang="en-US" sz="64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25196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F2A30"/>
                </a:solidFill>
              </a:rPr>
              <a:t>valori mancanti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6172200" y="1737360"/>
            <a:ext cx="5440680" cy="3291840"/>
          </a:xfrm>
          <a:prstGeom prst="roundRect">
            <a:avLst>
              <a:gd name="adj" fmla="val 3333"/>
            </a:avLst>
          </a:prstGeom>
          <a:solidFill>
            <a:srgbClr val="0F4C5C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537960" y="196596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Prima il punto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6537960" y="24688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"1.032,9" → "1032,9" → "1032.9"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537960" y="310896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FFFFF"/>
                </a:solidFill>
              </a:rPr>
              <a:t>50</a:t>
            </a:r>
            <a:endParaRPr lang="en-US" sz="6400" dirty="0"/>
          </a:p>
        </p:txBody>
      </p:sp>
      <p:sp>
        <p:nvSpPr>
          <p:cNvPr id="12" name="Text 10"/>
          <p:cNvSpPr txBox="1"/>
          <p:nvPr/>
        </p:nvSpPr>
        <p:spPr>
          <a:xfrm>
            <a:off x="6537960" y="425196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valori mancanti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3492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0F4C5C"/>
                </a:solidFill>
              </a:rPr>
              <a:t>Stesso codice, stesse funzioni, nessun errore. Solo il conteggio dei mancanti ti salva.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Un fatturato di 24 milioni?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3657600" cy="2377440"/>
          </a:xfrm>
          <a:prstGeom prst="roundRect">
            <a:avLst>
              <a:gd name="adj" fmla="val 4615"/>
            </a:avLst>
          </a:prstGeom>
          <a:solidFill>
            <a:srgbClr val="EEF3F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68680" y="201168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0F4C5C"/>
                </a:solidFill>
              </a:rPr>
              <a:t>1.407</a:t>
            </a:r>
            <a:endParaRPr lang="en-US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31546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F4C5C"/>
                </a:solidFill>
              </a:rPr>
              <a:t>fatturato mediano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480560" y="1737360"/>
            <a:ext cx="3657600" cy="2377440"/>
          </a:xfrm>
          <a:prstGeom prst="roundRect">
            <a:avLst>
              <a:gd name="adj" fmla="val 4615"/>
            </a:avLst>
          </a:prstGeom>
          <a:solidFill>
            <a:srgbClr val="0F4C5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800600" y="201168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24.586.100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4800600" y="31546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fatturato massimo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8503920" y="1828800"/>
            <a:ext cx="310896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1F2A30"/>
                </a:solidFill>
              </a:rPr>
              <a:t>Cinque valori enormi, poi un salto netto.</a:t>
            </a:r>
            <a:endParaRPr lang="en-US" sz="17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1F2A30"/>
                </a:solidFill>
              </a:rPr>
              <a:t>Negli altri anni la stessa impresa fattura circa mille volte meno: inseriti in euro, non in migliaia.</a:t>
            </a:r>
            <a:endParaRPr lang="en-US" sz="17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700" b="1" dirty="0">
                <a:solidFill>
                  <a:srgbClr val="0F4C5C"/>
                </a:solidFill>
              </a:rPr>
              <a:t>Decisione: soglia 200.000, divisi per 1.000.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5720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0F4C5C"/>
                </a:solidFill>
              </a:rPr>
              <a:t>Il codice non sa che è un errore. Lo sai tu, perché conosci i dati.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Le scorciatoie automatiche</a:t>
            </a:r>
            <a:endParaRPr lang="en-US" sz="3600" dirty="0"/>
          </a:p>
        </p:txBody>
      </p:sp>
      <p:sp>
        <p:nvSpPr>
          <p:cNvPr id="3" name="card-code"/>
          <p:cNvSpPr/>
          <p:nvPr/>
        </p:nvSpPr>
        <p:spPr>
          <a:xfrm>
            <a:off x="548640" y="1737360"/>
            <a:ext cx="6035040" cy="1188720"/>
          </a:xfrm>
          <a:prstGeom prst="roundRect">
            <a:avLst>
              <a:gd name="adj" fmla="val 9231"/>
            </a:avLst>
          </a:prstGeom>
          <a:solidFill>
            <a:srgbClr val="1F2A3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874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94560"/>
            <a:ext cx="5577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df["regione"].str.strip().str.title()</a:t>
            </a:r>
            <a:endParaRPr lang="en-US" sz="1700" dirty="0"/>
          </a:p>
        </p:txBody>
      </p:sp>
      <p:sp>
        <p:nvSpPr>
          <p:cNvPr id="6" name="card-out"/>
          <p:cNvSpPr/>
          <p:nvPr/>
        </p:nvSpPr>
        <p:spPr>
          <a:xfrm>
            <a:off x="548640" y="3108960"/>
            <a:ext cx="6035040" cy="1737360"/>
          </a:xfrm>
          <a:prstGeom prst="roundRect">
            <a:avLst>
              <a:gd name="adj" fmla="val 6316"/>
            </a:avLst>
          </a:prstGeom>
          <a:solidFill>
            <a:srgbClr val="EEF3F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32461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C6F7B"/>
                </a:solidFill>
              </a:rPr>
              <a:t>OUTPUT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566160"/>
            <a:ext cx="5577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Valle d'Aosta  →  Valle D'Aosta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Emilia Romagna →  Emilia Romagna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regioni: 21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7040880" y="1828800"/>
            <a:ext cx="45720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F2A30"/>
                </a:solidFill>
              </a:rPr>
              <a:t>.title() sistema le maiuscole, ma rompe Valle d'Aosta e non aggiunge il trattino.</a:t>
            </a:r>
            <a:endParaRPr lang="en-US" sz="19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F2A30"/>
                </a:solidFill>
              </a:rPr>
              <a:t>Più sicuro: strip() e poi correzioni esplicite con replace().</a:t>
            </a:r>
            <a:endParaRPr lang="en-US" sz="19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0F4C5C"/>
                </a:solidFill>
              </a:rPr>
              <a:t>Ce ne accorgeremo nella L5, quando uniremo i dati delle regioni.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Le nostre decisioni</a:t>
            </a:r>
            <a:endParaRPr lang="en-US" sz="36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11064240" cy="914400"/>
        </p:xfrm>
        <a:graphic>
          <a:graphicData uri="http://schemas.openxmlformats.org/drawingml/2006/table">
            <a:tbl>
              <a:tblPr/>
              <a:tblGrid>
                <a:gridCol w="3474720"/>
                <a:gridCol w="4389120"/>
                <a:gridCol w="320040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Problema</a:t>
                      </a:r>
                      <a:endParaRPr lang="en-US" sz="1600" dirty="0"/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Decisione</a:t>
                      </a:r>
                      <a:endParaRPr lang="en-US" sz="1600" dirty="0"/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Verifica</a:t>
                      </a:r>
                      <a:endParaRPr lang="en-US" sz="1600" dirty="0"/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4C5C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A30"/>
                          </a:solidFill>
                        </a:rPr>
                        <a:t>15 righe duplicate</a:t>
                      </a:r>
                      <a:endParaRPr lang="en-US" sz="1600" dirty="0"/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A30"/>
                          </a:solidFill>
                        </a:rPr>
                        <a:t>eliminate</a:t>
                      </a:r>
                      <a:endParaRPr lang="en-US" sz="1600" dirty="0"/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A30"/>
                          </a:solidFill>
                        </a:rPr>
                        <a:t>2.500 righe</a:t>
                      </a:r>
                      <a:endParaRPr lang="en-US" sz="1600" dirty="0"/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A30"/>
                          </a:solidFill>
                        </a:rPr>
                        <a:t>fatturato come testo</a:t>
                      </a:r>
                      <a:endParaRPr lang="en-US" sz="1600" dirty="0"/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A30"/>
                          </a:solidFill>
                        </a:rPr>
                        <a:t>convertito, "n.d." → mancante</a:t>
                      </a:r>
                      <a:endParaRPr lang="en-US" sz="1600" dirty="0"/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A30"/>
                          </a:solidFill>
                        </a:rPr>
                        <a:t>50 mancanti</a:t>
                      </a:r>
                      <a:endParaRPr lang="en-US" sz="1600" dirty="0"/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A30"/>
                          </a:solidFill>
                        </a:rPr>
                        <a:t>5 fatturati in euro</a:t>
                      </a:r>
                      <a:endParaRPr lang="en-US" sz="1600" dirty="0"/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A30"/>
                          </a:solidFill>
                        </a:rPr>
                        <a:t>divisi per 1.000</a:t>
                      </a:r>
                      <a:endParaRPr lang="en-US" sz="1600" dirty="0"/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A30"/>
                          </a:solidFill>
                        </a:rPr>
                        <a:t>massimo plausibile</a:t>
                      </a:r>
                      <a:endParaRPr lang="en-US" sz="1600" dirty="0"/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A30"/>
                          </a:solidFill>
                        </a:rPr>
                        <a:t>regioni scritte male</a:t>
                      </a:r>
                      <a:endParaRPr lang="en-US" sz="1600" dirty="0"/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A30"/>
                          </a:solidFill>
                        </a:rPr>
                        <a:t>strip + correzioni esplicite</a:t>
                      </a:r>
                      <a:endParaRPr lang="en-US" sz="1600" dirty="0"/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A30"/>
                          </a:solidFill>
                        </a:rPr>
                        <a:t>20 regioni</a:t>
                      </a:r>
                      <a:endParaRPr lang="en-US" sz="1600" dirty="0"/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A30"/>
                          </a:solidFill>
                        </a:rPr>
                        <a:t>addetti negativi</a:t>
                      </a:r>
                      <a:endParaRPr lang="en-US" sz="1600" dirty="0"/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A30"/>
                          </a:solidFill>
                        </a:rPr>
                        <a:t>→ mancante</a:t>
                      </a:r>
                      <a:endParaRPr lang="en-US" sz="1600" dirty="0"/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A30"/>
                          </a:solidFill>
                        </a:rPr>
                        <a:t>nessun negativo</a:t>
                      </a:r>
                      <a:endParaRPr lang="en-US" sz="1600" dirty="0"/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A30"/>
                          </a:solidFill>
                        </a:rPr>
                        <a:t>valori mancanti</a:t>
                      </a:r>
                      <a:endParaRPr lang="en-US" sz="1600" dirty="0"/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A30"/>
                          </a:solidFill>
                        </a:rPr>
                        <a:t>lasciati mancanti</a:t>
                      </a:r>
                      <a:endParaRPr lang="en-US" sz="1600" dirty="0"/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A30"/>
                          </a:solidFill>
                        </a:rPr>
                        <a:t>isna().sum()</a:t>
                      </a:r>
                      <a:endParaRPr lang="en-US" sz="1600" dirty="0"/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5321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0F4C5C"/>
                </a:solidFill>
              </a:rPr>
              <a:t>Questa tabella, in un lavoro vero, va scritta. Tra sei mesi non te la ricorderai.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</a:rPr>
              <a:t>Prossima volta: raggruppare e disegnare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490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4C06E"/>
                </a:solidFill>
              </a:rPr>
              <a:t>Compito: Kaggle Learn – Pandas, «Data Types and Missing Values» (~20 min)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A 2026">
  <a:themeElements>
    <a:clrScheme name="SIMA 2026">
      <a:dk1>
        <a:srgbClr val="1F2A30"/>
      </a:dk1>
      <a:lt1>
        <a:srgbClr val="FFFFFF"/>
      </a:lt1>
      <a:dk2>
        <a:srgbClr val="0F4C5C"/>
      </a:dk2>
      <a:lt2>
        <a:srgbClr val="EEF3F4"/>
      </a:lt2>
      <a:accent1>
        <a:srgbClr val="E09F3E"/>
      </a:accent1>
      <a:accent2>
        <a:srgbClr val="0F4C5C"/>
      </a:accent2>
      <a:accent3>
        <a:srgbClr val="9E2A2B"/>
      </a:accent3>
      <a:accent4>
        <a:srgbClr val="3A7D44"/>
      </a:accent4>
      <a:accent5>
        <a:srgbClr val="5C6F7B"/>
      </a:accent5>
      <a:accent6>
        <a:srgbClr val="B8C4CB"/>
      </a:accent6>
      <a:hlink>
        <a:srgbClr val="0F4C5C"/>
      </a:hlink>
      <a:folHlink>
        <a:srgbClr val="5C6F7B"/>
      </a:folHlink>
    </a:clrScheme>
    <a:fontScheme name="SIMA 2026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L3 — Pulire i dati</dc:title>
  <dc:subject>PptxGenJS Presentation</dc:subject>
  <dc:creator>SIMA 2026</dc:creator>
  <cp:lastModifiedBy>SIMA 2026</cp:lastModifiedBy>
  <cp:revision>1</cp:revision>
  <dcterms:created xsi:type="dcterms:W3CDTF">2026-10-06T08:22:23Z</dcterms:created>
  <dcterms:modified xsi:type="dcterms:W3CDTF">2026-10-06T08:22:23Z</dcterms:modified>
</cp:coreProperties>
</file>