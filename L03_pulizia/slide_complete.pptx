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3309c071-69b7-9f2c-8b60-23e2967eda3c}">
          <p14:sldIdLst>
            <p14:sldId id="256"/>
            <p14:sldId id="257"/>
          </p14:sldIdLst>
        </p14:section>
        <p14:section name="Spiegazione" id="{62918486-0ec6-117f-d782-fca99f4aa835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Task" id="{93ce0e02-94e1-505d-4fca-48c5a099f7b0}">
          <p14:sldIdLst>
            <p14:sldId id="265"/>
          </p14:sldIdLst>
        </p14:section>
        <p14:section name="Debrief" id="{130c6b55-9d60-26e9-1e34-7f4681ffb5fe}">
          <p14:sldIdLst>
            <p14:sldId id="266"/>
            <p14:sldId id="267"/>
            <p14:sldId id="268"/>
            <p14:sldId id="269"/>
            <p14:sldId id="270"/>
          </p14:sldIdLst>
        </p14:section>
        <p14:section name="Chiusura" id="{bc5ecbb3-e3a6-0d98-a94b-764b52ea689a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Ripresa della L2: quali problemi avevamo trovato? Farli elencare alla classe. Oggi li correggiamo.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Esempio da fare a voce: un fatturato di 24 milioni è un errore o un'impresa enorme? Non lo dice il codice, lo decidi tu guardando i dati.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 notare anche il df = ...: senza riassegnare, df non cambia. Errore classico: si lancia drop_duplicates() e ci si stupisce che i duplicati siano ancora lì.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veloce su una piccola Series creata al volo: pd.Series([' Milano', 'milano', 'MILANO ']). Quante città diverse? E dopo strip + title?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Concetto nuovo ma piccolo. Il passo 9 del task è un riscaldamento sui dizionari prima di usarli con replace. Torneranno nella L6 e nella L8 (per far restituire più risultati a una funzione).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caso "12,5": la virgola italiana non è un decimale per Python. Non anticipare la soluzione del task: lasciare che ci arrivino.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isna().sum() per contare i mancanti di ogni colonna: lo cercano nel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L'esempio usa un dataset inventato (clienti e ordini) per non anticipare il task. Insistere sul controllo riga.sum() == 1 prima di modificare: se dà 0 la condizione è sbagliata, se dà più di 1 stai per cambiare più celle.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Passando nelle stanze separate: tenere d'occhio il passo 5. Chi trova più di 50 mancanti ha sbagliato l'ordine delle sostituzioni: non dirglielo, chiedergli se il numero torna.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 ha ottenuto 1.621? Come se n'è accorto? Se qualcuno ha usato Gemini: l'ordine giusto l'ha azzeccato?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Valori in migliaia di euro. Chiedere che soglie hanno scelto: qualunque valore tra circa 65.000 e 300.000 dà lo stesso risultato. La scelta va giustificata, non indovinata.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Valle D'Aosta con la D maiuscola sembra innocuo, ma nella L6 farà fallire l'unione con la tabella delle regioni.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Pulire i dati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L3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Testo, conversioni, valori mancanti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Pulire imprese.xlsx, un problema alla volta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Le trappole silenziose e le nostre decisioni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Pulire è decidere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F2A30"/>
                </a:solidFill>
              </a:rPr>
              <a:t>1</a:t>
            </a:r>
            <a:endParaRPr lang="en-US" sz="19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Trova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il problema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EF3F4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2103120"/>
            <a:ext cx="685800" cy="68580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F2A30"/>
                </a:solidFill>
              </a:rPr>
              <a:t>2</a:t>
            </a:r>
            <a:endParaRPr lang="en-US" sz="195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Decidi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520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cosa fare, e perché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EF3F4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2103120"/>
            <a:ext cx="685800" cy="68580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F2A30"/>
                </a:solidFill>
              </a:rPr>
              <a:t>3</a:t>
            </a:r>
            <a:endParaRPr lang="en-US" sz="19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Correggi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520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con il codice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052560" y="18288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0F4C5C"/>
          </a:solidFill>
          <a:ln/>
        </p:spPr>
      </p:sp>
      <p:sp>
        <p:nvSpPr>
          <p:cNvPr id="19" name="Shape 17"/>
          <p:cNvSpPr/>
          <p:nvPr/>
        </p:nvSpPr>
        <p:spPr>
          <a:xfrm>
            <a:off x="9326880" y="2103120"/>
            <a:ext cx="685800" cy="68580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2688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F2A30"/>
                </a:solidFill>
              </a:rPr>
              <a:t>4</a:t>
            </a:r>
            <a:endParaRPr lang="en-US" sz="195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Verifica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520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4CB"/>
                </a:solidFill>
              </a:rPr>
              <a:t>conta prima, conta dopo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F2A30"/>
                </a:solidFill>
              </a:rPr>
              <a:t>Nessuna correzione è automatica: ogni volta scegli tu. </a:t>
            </a:r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F4C5C"/>
                </a:solidFill>
              </a:rPr>
              <a:t>Le decisioni vanno scritte.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La regola: conta prima, conta dopo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035040" cy="1920240"/>
          </a:xfrm>
          <a:prstGeom prst="roundRect">
            <a:avLst>
              <a:gd name="adj" fmla="val 5714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5577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2000" dirty="0"/>
          </a:p>
        </p:txBody>
      </p:sp>
      <p:sp>
        <p:nvSpPr>
          <p:cNvPr id="6" name="card-out"/>
          <p:cNvSpPr/>
          <p:nvPr/>
        </p:nvSpPr>
        <p:spPr>
          <a:xfrm>
            <a:off x="548640" y="3886200"/>
            <a:ext cx="603504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34340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(1000, 5)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(980, 5)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182880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F2A30"/>
                </a:solidFill>
              </a:rPr>
              <a:t>Quante righe dovevano sparire? 20? Allora va bene.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F2A30"/>
                </a:solidFill>
              </a:rPr>
              <a:t>Molti errori di pulizia non danno messaggi: perdi dati in silenzio.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F4C5C"/>
                </a:solidFill>
              </a:rPr>
              <a:t>Contare è l'unica difesa.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Lavorare sul testo: .str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03504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citta.str.strip()</a:t>
            </a:r>
            <a:endParaRPr lang="en-US" sz="2000" dirty="0"/>
          </a:p>
        </p:txBody>
      </p:sp>
      <p:sp>
        <p:nvSpPr>
          <p:cNvPr id="6" name="card-out"/>
          <p:cNvSpPr/>
          <p:nvPr/>
        </p:nvSpPr>
        <p:spPr>
          <a:xfrm>
            <a:off x="548640" y="3108960"/>
            <a:ext cx="6035040" cy="109728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661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Milano "  →  "Milano"</a:t>
            </a:r>
            <a:endParaRPr lang="en-US" sz="2000" dirty="0"/>
          </a:p>
        </p:txBody>
      </p:sp>
      <p:sp>
        <p:nvSpPr>
          <p:cNvPr id="9" name="card-code"/>
          <p:cNvSpPr/>
          <p:nvPr/>
        </p:nvSpPr>
        <p:spPr>
          <a:xfrm>
            <a:off x="548640" y="4389120"/>
            <a:ext cx="603504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84632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citta.str.strip().str.lower()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82880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30"/>
                </a:solidFill>
              </a:rPr>
              <a:t>Le colonne di testo hanno comandi dedicati, dopo .str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30"/>
                </a:solidFill>
              </a:rPr>
              <a:t>strip, lower, upper, title, replace…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30"/>
                </a:solidFill>
              </a:rPr>
              <a:t>Si possono mettere in fila, uno dopo l'altro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0F4C5C"/>
                </a:solidFill>
              </a:rPr>
              <a:t>Quelli automatici non conoscono le eccezioni: controlla sempre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 dizionari: coppie chiave → valore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capoluoghi = {"Lazio": "Roma",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"Veneto": "Venezia"}</a:t>
            </a:r>
            <a:endParaRPr lang="en-US" sz="1600" dirty="0"/>
          </a:p>
        </p:txBody>
      </p:sp>
      <p:sp>
        <p:nvSpPr>
          <p:cNvPr id="6" name="card-code"/>
          <p:cNvSpPr/>
          <p:nvPr/>
        </p:nvSpPr>
        <p:spPr>
          <a:xfrm>
            <a:off x="548640" y="3108960"/>
            <a:ext cx="3200400" cy="1005840"/>
          </a:xfrm>
          <a:prstGeom prst="roundRect">
            <a:avLst>
              <a:gd name="adj" fmla="val 10909"/>
            </a:avLst>
          </a:prstGeom>
          <a:solidFill>
            <a:srgbClr val="1F2A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66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capoluoghi["Lazio"]</a:t>
            </a:r>
            <a:endParaRPr lang="en-US" sz="1600" dirty="0"/>
          </a:p>
        </p:txBody>
      </p:sp>
      <p:sp>
        <p:nvSpPr>
          <p:cNvPr id="9" name="card-out"/>
          <p:cNvSpPr/>
          <p:nvPr/>
        </p:nvSpPr>
        <p:spPr>
          <a:xfrm>
            <a:off x="3931920" y="3108960"/>
            <a:ext cx="3200400" cy="1005840"/>
          </a:xfrm>
          <a:prstGeom prst="roundRect">
            <a:avLst>
              <a:gd name="adj" fmla="val 10909"/>
            </a:avLst>
          </a:prstGeom>
          <a:solidFill>
            <a:srgbClr val="EEF3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6052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3566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"Roma"</a:t>
            </a:r>
            <a:endParaRPr lang="en-US" sz="1600" dirty="0"/>
          </a:p>
        </p:txBody>
      </p:sp>
      <p:sp>
        <p:nvSpPr>
          <p:cNvPr id="12" name="card-code"/>
          <p:cNvSpPr/>
          <p:nvPr/>
        </p:nvSpPr>
        <p:spPr>
          <a:xfrm>
            <a:off x="548640" y="4343400"/>
            <a:ext cx="6583680" cy="1371600"/>
          </a:xfrm>
          <a:prstGeom prst="roundRect">
            <a:avLst>
              <a:gd name="adj" fmla="val 8000"/>
            </a:avLst>
          </a:prstGeom>
          <a:solidFill>
            <a:srgbClr val="1F2A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0060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df["citta"].replace({"Milan": "Milano",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"Rome": "Roma"})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1828800"/>
            <a:ext cx="4114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Tra parentesi graffe, coppie chiave: valore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Con la chiave tra parentesi quadre leggi il valore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Come un vocabolario: cerchi la parola, trovi la definizione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0F4C5C"/>
                </a:solidFill>
              </a:rPr>
              <a:t>replace usa un dizionario come tabella di correzioni: sbagliato → giusto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Da testo a numero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371600"/>
          </a:xfrm>
          <a:prstGeom prst="roundRect">
            <a:avLst>
              <a:gd name="adj" fmla="val 8000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pd.to_numeric(col, errors="coerce")</a:t>
            </a:r>
            <a:endParaRPr lang="en-US" sz="2000" dirty="0"/>
          </a:p>
        </p:txBody>
      </p:sp>
      <p:sp>
        <p:nvSpPr>
          <p:cNvPr id="6" name="card-out"/>
          <p:cNvSpPr/>
          <p:nvPr/>
        </p:nvSpPr>
        <p:spPr>
          <a:xfrm>
            <a:off x="548640" y="3337560"/>
            <a:ext cx="6583680" cy="1737360"/>
          </a:xfrm>
          <a:prstGeom prst="roundRect">
            <a:avLst>
              <a:gd name="adj" fmla="val 6316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9476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"12.5"   →  12.5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"abc"    →  NaN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"12,5"   →  NaN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589520" y="173736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EEF3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ATTENZIONE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4231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Quello che non si converte diventa un valore mancante. Senza errori.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Dopo ogni conversione: conta i mancanti.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Correggere solo alcune righe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737360"/>
          </a:xfrm>
          <a:prstGeom prst="roundRect">
            <a:avLst>
              <a:gd name="adj" fmla="val 6316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negativi = df["prezzo"] &lt; 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print(negativi.sum())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df.loc[negativi, "prezzo"] = None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Una condizione è una colonna di True e False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.sum() conta quante righe la rispettano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.loc[righe, colonna] = valore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589520" y="173736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638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C06E"/>
                </a:solidFill>
              </a:rPr>
              <a:t>MANCANTE NON È ZERO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246888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Media di 10, ?, 20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il mancante: 15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lo 0:       10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Correggere una cella a mano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5C"/>
                </a:solidFill>
              </a:rPr>
              <a:t>In Excel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clicchi sulla cella, scrivi 12, invio. Nessuno saprà mai che l'hai fatto.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6002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5C"/>
                </a:solidFill>
              </a:rPr>
              <a:t>In Python</a:t>
            </a:r>
            <a:endParaRPr lang="en-US" sz="2400" dirty="0"/>
          </a:p>
        </p:txBody>
      </p:sp>
      <p:sp>
        <p:nvSpPr>
          <p:cNvPr id="6" name="card-code"/>
          <p:cNvSpPr/>
          <p:nvPr/>
        </p:nvSpPr>
        <p:spPr>
          <a:xfrm>
            <a:off x="4572000" y="2103120"/>
            <a:ext cx="7040880" cy="1828800"/>
          </a:xfrm>
          <a:prstGeom prst="roundRect">
            <a:avLst>
              <a:gd name="adj" fmla="val 6000"/>
            </a:avLst>
          </a:prstGeom>
          <a:solidFill>
            <a:srgbClr val="1F2A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0060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256032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riga = ((df["cliente"] == "C042")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 (df["anno"] == 2021))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print(riga.sum())     # deve dare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df.loc[riga, "ordini"] = 12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EEF3F4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4553712"/>
            <a:ext cx="685800" cy="68580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5537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F2A30"/>
                </a:solidFill>
              </a:rPr>
              <a:t>1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4434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0"/>
                </a:solidFill>
              </a:rPr>
              <a:t>Sempre nel codice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48920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la correzione resta scritta e si può rifare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2200" y="42519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EEF3F4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6520" y="4553712"/>
            <a:ext cx="685800" cy="68580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45537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F2A30"/>
                </a:solidFill>
              </a:rPr>
              <a:t>2</a:t>
            </a:r>
            <a:endParaRPr lang="en-US" sz="195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4434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0"/>
                </a:solidFill>
              </a:rPr>
              <a:t>Per contenuto, non per numero di riga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48920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dopo un ordinamento la riga 500 è un'altra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F4C5C"/>
                </a:solidFill>
              </a:rPr>
              <a:t>Due condizioni insieme: &amp;, e ognuna tra parentesi.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pulisci il dataset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Obiettivo: 2.500 righe, 20 regioni, un fatturato numerico e plausibile.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Debrief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Le trappole silenziose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L'ordine delle sostituzioni conta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40680" cy="3291840"/>
          </a:xfrm>
          <a:prstGeom prst="roundRect">
            <a:avLst>
              <a:gd name="adj" fmla="val 3333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</a:rPr>
              <a:t>Prima la virgola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"1.032,9" → "1.032.9"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089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E2A2B"/>
                </a:solidFill>
              </a:rPr>
              <a:t>1.621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51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</a:rPr>
              <a:t>valori mancanti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440680" cy="3291840"/>
          </a:xfrm>
          <a:prstGeom prst="roundRect">
            <a:avLst>
              <a:gd name="adj" fmla="val 3333"/>
            </a:avLst>
          </a:prstGeom>
          <a:solidFill>
            <a:srgbClr val="0F4C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Prima il punto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"1.032,9" → "1032,9" → "1032.9"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1089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50</a:t>
            </a:r>
            <a:endParaRPr lang="en-US" sz="6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4251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valori mancanti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Stesso codice, stesse funzioni, nessun errore. Solo il conteggio dei mancanti ti salva.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 fatturato di 24 milioni?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4C5C"/>
                </a:solidFill>
              </a:rPr>
              <a:t>1.407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4C5C"/>
                </a:solidFill>
              </a:rPr>
              <a:t>fatturato mediano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480560" y="173736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00600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24.586.100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fatturato massimo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1828800"/>
            <a:ext cx="3108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Cinque valori enormi, poi un salto netto.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Negli altri anni la stessa impresa fattura circa mille volte meno: inseriti in euro, non in migliaia.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F4C5C"/>
                </a:solidFill>
              </a:rPr>
              <a:t>Decisione: soglia 200.000, divisi per 1.000.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Il codice non sa che è un errore. Lo sai tu, perché conosci i dati.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Le scorciatoie automatiche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03504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df["regione"].str.strip().str.title()</a:t>
            </a:r>
            <a:endParaRPr lang="en-US" sz="1700" dirty="0"/>
          </a:p>
        </p:txBody>
      </p:sp>
      <p:sp>
        <p:nvSpPr>
          <p:cNvPr id="6" name="card-out"/>
          <p:cNvSpPr/>
          <p:nvPr/>
        </p:nvSpPr>
        <p:spPr>
          <a:xfrm>
            <a:off x="548640" y="3108960"/>
            <a:ext cx="6035040" cy="1737360"/>
          </a:xfrm>
          <a:prstGeom prst="roundRect">
            <a:avLst>
              <a:gd name="adj" fmla="val 6316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66160"/>
            <a:ext cx="5577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Valle d'Aosta  →  Valle D'Aosta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Emilia Romagna →  Emilia Romagna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regioni: 21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182880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.title() sistema le maiuscole, ma rompe Valle d'Aosta e non aggiunge il trattino.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Più sicuro: strip() e poi correzioni esplicite con replace().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0F4C5C"/>
                </a:solidFill>
              </a:rPr>
              <a:t>Ce ne accorgeremo nella L6, quando uniremo i dati delle regioni.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Le nostre decisioni</a:t>
            </a:r>
            <a:endParaRPr lang="en-US" sz="3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389120"/>
                <a:gridCol w="32004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Problema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Decisione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Verifica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15 righe duplicate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eliminate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2.500 righe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fatturato come testo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convertito, "n.d." → mancante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50 mancanti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5 fatturati in euro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divisi per 1.000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massimo plausibile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regioni scritte male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strip + correzioni esplicite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20 regioni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addetti negativi (IMP0253, 2019)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corretto a 12, su indicazione del collega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nessun negativo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valori mancanti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lasciati mancanti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</a:rPr>
                        <a:t>isna().sum()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Questa tabella, in un lavoro vero, va scritta. Tra sei mesi non te la ricorderai.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raggruppare e disegnare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Compito: Kaggle Learn – Pandas, «Data Types and Missing Values» (~20 min)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L3 — Pulire i dati</dc:title>
  <dc:subject>PptxGenJS Presentation</dc:subject>
  <dc:creator>SIMA 2026</dc:creator>
  <cp:lastModifiedBy>SIMA 2026</cp:lastModifiedBy>
  <cp:revision>1</cp:revision>
  <dcterms:created xsi:type="dcterms:W3CDTF">2026-10-25T09:30:41Z</dcterms:created>
  <dcterms:modified xsi:type="dcterms:W3CDTF">2026-10-25T09:30:41Z</dcterms:modified>
</cp:coreProperties>
</file>