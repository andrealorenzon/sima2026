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954befb0-530a-1f69-971e-7f3b7e97c9c2}">
          <p14:sldIdLst>
            <p14:sldId id="256"/>
            <p14:sldId id="257"/>
          </p14:sldIdLst>
        </p14:section>
        <p14:section name="Spiegazione" id="{8c7b922f-8abf-4641-a25b-55f9b1c6211a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Task" id="{f43bad5d-10f8-91ab-a041-72297cd8e125}">
          <p14:sldIdLst>
            <p14:sldId id="264"/>
          </p14:sldIdLst>
        </p14:section>
        <p14:section name="Debrief" id="{e8ec17cb-68ee-a864-1727-6699576f08ab}">
          <p14:sldIdLst>
            <p14:sldId id="265"/>
            <p14:sldId id="266"/>
            <p14:sldId id="267"/>
            <p14:sldId id="268"/>
            <p14:sldId id="269"/>
          </p14:sldIdLst>
        </p14:section>
        <p14:section name="Chiusura" id="{5abb5154-0f27-f1a1-4ec9-beaa627c6529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Ripresa della L2: quali problemi avevamo trovato? Farli elencare alla classe. Oggi li correggiamo.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Esempio da fare a voce: un fatturato di 24 milioni è un errore o un'impresa enorme? Non lo dice il codice, lo decidi tu guardando i dati.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Far notare anche il df = ...: senza riassegnare, df non cambia. Errore classico: si lancia drop_duplicates() e ci si stupisce che i duplicati siano ancora lì.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veloce su una piccola Series creata al volo: pd.Series([' Milano', 'milano', 'MILANO ']). Quante città diverse? E dopo strip + title?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caso "12,5": la virgola italiana non è un decimale per Python. Non anticipare la soluzione del task: lasciare che ci arrivino.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isna().sum() per contare i mancanti di ogni colonna: lo cercano nel task.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L'esempio usa un dataset inventato (clienti e ordini) per non anticipare il task. Insistere sul controllo riga.sum() == 1 prima di modificare: se dà 0 la condizione è sbagliata, se dà più di 1 stai per cambiare più celle.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Girando tra i banchi: tenere d'occhio il passo 5. Chi trova più di 50 mancanti ha sbagliato l'ordine delle sostituzioni: non dirglielo, chiedergli se il numero torna.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 ha ottenuto 1.621? Come se n'è accorto? Se qualcuno ha usato Gemini: l'ordine giusto l'ha azzeccato?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Valori in migliaia di euro. Chiedere che soglie hanno scelto: qualunque valore tra circa 65.000 e 300.000 dà lo stesso risultato. La scelta va giustificata, non indovinata.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Valle D'Aosta con la D maiuscola sembra innocuo, ma nella L5 farà fallire l'unione con la tabella delle regioni.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Pulire i dati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L3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Testo, conversioni, valori mancanti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Pulire imprese.xlsx, un problema alla volta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Le trappole silenziose e le nostre decisioni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Pulire è decidere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03120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1</a:t>
            </a:r>
            <a:endParaRPr lang="en-US" sz="19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Trova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520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il problema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383280" y="182880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EEF3F4"/>
          </a:solidFill>
          <a:ln/>
        </p:spPr>
      </p:sp>
      <p:sp>
        <p:nvSpPr>
          <p:cNvPr id="9" name="Shape 7"/>
          <p:cNvSpPr/>
          <p:nvPr/>
        </p:nvSpPr>
        <p:spPr>
          <a:xfrm>
            <a:off x="3657600" y="2103120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2</a:t>
            </a:r>
            <a:endParaRPr lang="en-US" sz="195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Decidi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520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cosa fare, e perché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0" y="182880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EEF3F4"/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2103120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9224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3</a:t>
            </a:r>
            <a:endParaRPr lang="en-US" sz="195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Correggi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520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con il codice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052560" y="182880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0F4C5C"/>
          </a:solidFill>
          <a:ln/>
        </p:spPr>
      </p:sp>
      <p:sp>
        <p:nvSpPr>
          <p:cNvPr id="19" name="Shape 17"/>
          <p:cNvSpPr/>
          <p:nvPr/>
        </p:nvSpPr>
        <p:spPr>
          <a:xfrm>
            <a:off x="9326880" y="2103120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32688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4</a:t>
            </a:r>
            <a:endParaRPr lang="en-US" sz="195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Verifica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9326880" y="3520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8C4CB"/>
                </a:solidFill>
              </a:rPr>
              <a:t>conta prima, conta dopo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6634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F2A30"/>
                </a:solidFill>
              </a:rPr>
              <a:t>Nessuna correzione è automatica: ogni volta scegli tu. </a:t>
            </a:r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0F4C5C"/>
                </a:solidFill>
              </a:rPr>
              <a:t>Le decisioni vanno scritte.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La regola: conta prima, conta dopo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035040" cy="1920240"/>
          </a:xfrm>
          <a:prstGeom prst="roundRect">
            <a:avLst>
              <a:gd name="adj" fmla="val 5714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577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print(df.shape)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df.drop_duplicates()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print(df.shape)</a:t>
            </a:r>
            <a:endParaRPr lang="en-US" sz="2000" dirty="0"/>
          </a:p>
        </p:txBody>
      </p:sp>
      <p:sp>
        <p:nvSpPr>
          <p:cNvPr id="6" name="card-out"/>
          <p:cNvSpPr/>
          <p:nvPr/>
        </p:nvSpPr>
        <p:spPr>
          <a:xfrm>
            <a:off x="548640" y="3886200"/>
            <a:ext cx="6035040" cy="1371600"/>
          </a:xfrm>
          <a:prstGeom prst="roundRect">
            <a:avLst>
              <a:gd name="adj" fmla="val 8000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4023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343400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(1000, 5)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(980, 5)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1828800"/>
            <a:ext cx="45720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F2A30"/>
                </a:solidFill>
              </a:rPr>
              <a:t>Quante righe dovevano sparire? 20? Allora va bene.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F2A30"/>
                </a:solidFill>
              </a:rPr>
              <a:t>Molti errori di pulizia non danno messaggi: perdi dati in silenzio.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0F4C5C"/>
                </a:solidFill>
              </a:rPr>
              <a:t>Contare è l'unica difesa.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Lavorare sul testo: .str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0350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citta.str.strip()</a:t>
            </a:r>
            <a:endParaRPr lang="en-US" sz="2000" dirty="0"/>
          </a:p>
        </p:txBody>
      </p:sp>
      <p:sp>
        <p:nvSpPr>
          <p:cNvPr id="6" name="card-out"/>
          <p:cNvSpPr/>
          <p:nvPr/>
        </p:nvSpPr>
        <p:spPr>
          <a:xfrm>
            <a:off x="548640" y="3108960"/>
            <a:ext cx="6035040" cy="1097280"/>
          </a:xfrm>
          <a:prstGeom prst="roundRect">
            <a:avLst>
              <a:gd name="adj" fmla="val 10000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246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566160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Milano "  →  "Milano"</a:t>
            </a:r>
            <a:endParaRPr lang="en-US" sz="2000" dirty="0"/>
          </a:p>
        </p:txBody>
      </p:sp>
      <p:sp>
        <p:nvSpPr>
          <p:cNvPr id="9" name="card-code"/>
          <p:cNvSpPr/>
          <p:nvPr/>
        </p:nvSpPr>
        <p:spPr>
          <a:xfrm>
            <a:off x="548640" y="4389120"/>
            <a:ext cx="60350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84632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citta.str.strip().str.lower()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1828800"/>
            <a:ext cx="4572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F2A30"/>
                </a:solidFill>
              </a:rPr>
              <a:t>Le colonne di testo hanno comandi dedicati, dopo .str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F2A30"/>
                </a:solidFill>
              </a:rPr>
              <a:t>strip, lower, upper, title, replace…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F2A30"/>
                </a:solidFill>
              </a:rPr>
              <a:t>Si possono mettere in fila, uno dopo l'altro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0F4C5C"/>
                </a:solidFill>
              </a:rPr>
              <a:t>Quelli automatici non conoscono le eccezioni: controlla sempre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Da testo a numero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58368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126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pd.to_numeric(col, errors="coerce")</a:t>
            </a:r>
            <a:endParaRPr lang="en-US" sz="2000" dirty="0"/>
          </a:p>
        </p:txBody>
      </p:sp>
      <p:sp>
        <p:nvSpPr>
          <p:cNvPr id="6" name="card-out"/>
          <p:cNvSpPr/>
          <p:nvPr/>
        </p:nvSpPr>
        <p:spPr>
          <a:xfrm>
            <a:off x="548640" y="3337560"/>
            <a:ext cx="6583680" cy="1737360"/>
          </a:xfrm>
          <a:prstGeom prst="roundRect">
            <a:avLst>
              <a:gd name="adj" fmla="val 6316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474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794760"/>
            <a:ext cx="6126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"12.5"   →  12.5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"abc"    →  NaN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"12,5"   →  NaN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589520" y="1737360"/>
            <a:ext cx="4023360" cy="3337560"/>
          </a:xfrm>
          <a:prstGeom prst="roundRect">
            <a:avLst>
              <a:gd name="adj" fmla="val 3288"/>
            </a:avLst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863840" y="1965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5308"/>
                </a:solidFill>
              </a:rPr>
              <a:t>ATTENZIONE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863840" y="2423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Quello che non si converte diventa un valore mancante. Senza errori.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Dopo ogni conversione: conta i mancanti.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Correggere solo alcune righe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583680" cy="1737360"/>
          </a:xfrm>
          <a:prstGeom prst="roundRect">
            <a:avLst>
              <a:gd name="adj" fmla="val 6316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126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negativi = df["prezzo"] &lt; 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print(negativi.sum())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df.loc[negativi, "prezzo"] = None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74904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Una condizione è una colonna di True e False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.sum() conta quante righe la rispettano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.loc[righe, colonna] = valore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589520" y="1737360"/>
            <a:ext cx="4023360" cy="3840480"/>
          </a:xfrm>
          <a:prstGeom prst="roundRect">
            <a:avLst>
              <a:gd name="adj" fmla="val 2857"/>
            </a:avLst>
          </a:prstGeom>
          <a:solidFill>
            <a:srgbClr val="0F4C5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863840" y="1965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C06E"/>
                </a:solidFill>
              </a:rPr>
              <a:t>MANCANTE NON È ZERO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863840" y="2468880"/>
            <a:ext cx="3474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FFFFFF"/>
                </a:solidFill>
              </a:rPr>
              <a:t>Media di 10, ?, 20</a:t>
            </a:r>
            <a:endParaRPr lang="en-US" sz="20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 il mancante: 15</a:t>
            </a:r>
            <a:endParaRPr lang="en-US" sz="20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 lo 0:       10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Correggere una cella a mano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C5C"/>
                </a:solidFill>
              </a:rPr>
              <a:t>In Excel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clicchi sulla cella, scrivi 12, invio. Nessuno saprà mai che l'hai fatto.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160020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C5C"/>
                </a:solidFill>
              </a:rPr>
              <a:t>In Python</a:t>
            </a:r>
            <a:endParaRPr lang="en-US" sz="2400" dirty="0"/>
          </a:p>
        </p:txBody>
      </p:sp>
      <p:sp>
        <p:nvSpPr>
          <p:cNvPr id="6" name="card-code"/>
          <p:cNvSpPr/>
          <p:nvPr/>
        </p:nvSpPr>
        <p:spPr>
          <a:xfrm>
            <a:off x="4572000" y="2103120"/>
            <a:ext cx="7040880" cy="1828800"/>
          </a:xfrm>
          <a:prstGeom prst="roundRect">
            <a:avLst>
              <a:gd name="adj" fmla="val 6000"/>
            </a:avLst>
          </a:prstGeom>
          <a:solidFill>
            <a:srgbClr val="1F2A3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00600" y="2240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2560320"/>
            <a:ext cx="6583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riga = ((df["cliente"] == "C042")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&amp; (df["anno"] == 2021))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print(riga.sum())     # deve dare 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df.loc[riga, "ordini"] = 12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4251960"/>
            <a:ext cx="5440680" cy="1325880"/>
          </a:xfrm>
          <a:prstGeom prst="roundRect">
            <a:avLst>
              <a:gd name="adj" fmla="val 8276"/>
            </a:avLst>
          </a:prstGeom>
          <a:solidFill>
            <a:srgbClr val="EEF3F4"/>
          </a:solidFill>
          <a:ln/>
        </p:spPr>
      </p:sp>
      <p:sp>
        <p:nvSpPr>
          <p:cNvPr id="10" name="Shape 8"/>
          <p:cNvSpPr/>
          <p:nvPr/>
        </p:nvSpPr>
        <p:spPr>
          <a:xfrm>
            <a:off x="822960" y="4553712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455371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1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1737360" y="443484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Sempre nel codice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737360" y="489204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la correzione resta scritta e si può rifare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172200" y="4251960"/>
            <a:ext cx="5440680" cy="1325880"/>
          </a:xfrm>
          <a:prstGeom prst="roundRect">
            <a:avLst>
              <a:gd name="adj" fmla="val 8276"/>
            </a:avLst>
          </a:prstGeom>
          <a:solidFill>
            <a:srgbClr val="EEF3F4"/>
          </a:solidFill>
          <a:ln/>
        </p:spPr>
      </p:sp>
      <p:sp>
        <p:nvSpPr>
          <p:cNvPr id="15" name="Shape 13"/>
          <p:cNvSpPr/>
          <p:nvPr/>
        </p:nvSpPr>
        <p:spPr>
          <a:xfrm>
            <a:off x="6446520" y="4553712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46520" y="455371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2</a:t>
            </a:r>
            <a:endParaRPr lang="en-US" sz="1950" dirty="0"/>
          </a:p>
        </p:txBody>
      </p:sp>
      <p:sp>
        <p:nvSpPr>
          <p:cNvPr id="17" name="Text 15"/>
          <p:cNvSpPr txBox="1"/>
          <p:nvPr/>
        </p:nvSpPr>
        <p:spPr>
          <a:xfrm>
            <a:off x="7360920" y="443484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Per contenuto, non per numero di riga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7360920" y="489204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dopo un ordinamento la riga 500 è un'altra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F4C5C"/>
                </a:solidFill>
              </a:rPr>
              <a:t>Due condizioni insieme: &amp;, e ognuna tra parentesi.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pulisci il dataset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Obiettivo: 2.500 righe, 20 regioni, un fatturato numerico e plausibile.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Debrief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Le trappole silenziose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L'ordine delle sostituzioni conta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3291840"/>
          </a:xfrm>
          <a:prstGeom prst="roundRect">
            <a:avLst>
              <a:gd name="adj" fmla="val 3333"/>
            </a:avLst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965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</a:rPr>
              <a:t>Prima la virgola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"1.032,9" → "1.032.9"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1089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9E2A2B"/>
                </a:solidFill>
              </a:rPr>
              <a:t>1.621</a:t>
            </a:r>
            <a:endParaRPr lang="en-US" sz="6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251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</a:rPr>
              <a:t>valori mancanti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172200" y="1737360"/>
            <a:ext cx="5440680" cy="3291840"/>
          </a:xfrm>
          <a:prstGeom prst="roundRect">
            <a:avLst>
              <a:gd name="adj" fmla="val 3333"/>
            </a:avLst>
          </a:prstGeom>
          <a:solidFill>
            <a:srgbClr val="0F4C5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37960" y="1965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Prima il punto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"1.032,9" → "1032,9" → "1032.9"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31089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</a:rPr>
              <a:t>50</a:t>
            </a:r>
            <a:endParaRPr lang="en-US" sz="64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4251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valori mancanti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3492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Stesso codice, stesse funzioni, nessun errore. Solo il conteggio dei mancanti ti salva.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Un fatturato di 24 milioni?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657600" cy="2377440"/>
          </a:xfrm>
          <a:prstGeom prst="roundRect">
            <a:avLst>
              <a:gd name="adj" fmla="val 4615"/>
            </a:avLst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20116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F4C5C"/>
                </a:solidFill>
              </a:rPr>
              <a:t>1.407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4C5C"/>
                </a:solidFill>
              </a:rPr>
              <a:t>fatturato mediano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480560" y="1737360"/>
            <a:ext cx="3657600" cy="2377440"/>
          </a:xfrm>
          <a:prstGeom prst="roundRect">
            <a:avLst>
              <a:gd name="adj" fmla="val 4615"/>
            </a:avLst>
          </a:prstGeom>
          <a:solidFill>
            <a:srgbClr val="0F4C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00600" y="20116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24.586.100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fatturato massimo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503920" y="1828800"/>
            <a:ext cx="3108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F2A30"/>
                </a:solidFill>
              </a:rPr>
              <a:t>Cinque valori enormi, poi un salto netto.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F2A30"/>
                </a:solidFill>
              </a:rPr>
              <a:t>Negli altri anni la stessa impresa fattura circa mille volte meno: inseriti in euro, non in migliaia.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0F4C5C"/>
                </a:solidFill>
              </a:rPr>
              <a:t>Decisione: soglia 200.000, divisi per 1.000.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572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Il codice non sa che è un errore. Lo sai tu, perché conosci i dati.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 scorciatoie automatiche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0350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df["regione"].str.strip().str.title()</a:t>
            </a:r>
            <a:endParaRPr lang="en-US" sz="1700" dirty="0"/>
          </a:p>
        </p:txBody>
      </p:sp>
      <p:sp>
        <p:nvSpPr>
          <p:cNvPr id="6" name="card-out"/>
          <p:cNvSpPr/>
          <p:nvPr/>
        </p:nvSpPr>
        <p:spPr>
          <a:xfrm>
            <a:off x="548640" y="3108960"/>
            <a:ext cx="6035040" cy="1737360"/>
          </a:xfrm>
          <a:prstGeom prst="roundRect">
            <a:avLst>
              <a:gd name="adj" fmla="val 6316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246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566160"/>
            <a:ext cx="5577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Valle d'Aosta  →  Valle D'Aosta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 Romagna →  Emilia Romagna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regioni: 21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1828800"/>
            <a:ext cx="4572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.title() sistema le maiuscole, ma rompe Valle d'Aosta e non aggiunge il trattino.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Più sicuro: strip() e poi correzioni esplicite con replace().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0F4C5C"/>
                </a:solidFill>
              </a:rPr>
              <a:t>Ce ne accorgeremo nella L5, quando uniremo i dati delle regioni.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 nostre decisioni</a:t>
            </a:r>
            <a:endParaRPr lang="en-US" sz="3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4389120"/>
                <a:gridCol w="32004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Problema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Decisione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Verifica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15 righe duplicate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eliminate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2.500 righe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fatturato come testo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convertito, "n.d." → mancante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50 mancanti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5 fatturati in euro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divisi per 1.000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massimo plausibile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regioni scritte male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strip + correzioni esplicite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20 regioni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addetti negativi (IMP0253, 2019)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corretto a 12, su indicazione del collega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nessun negativo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valori mancanti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lasciati mancanti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isna().sum()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Questa tabella, in un lavoro vero, va scritta. Tra sei mesi non te la ricorderai.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raggruppare e disegnare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Pandas, «Data Types and Missing Values» (~20 min)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L3 — Pulire i dati</dc:title>
  <dc:subject>PptxGenJS Presentation</dc:subject>
  <dc:creator>SIMA 2026</dc:creator>
  <cp:lastModifiedBy>SIMA 2026</cp:lastModifiedBy>
  <cp:revision>1</cp:revision>
  <dcterms:created xsi:type="dcterms:W3CDTF">2026-10-06T08:56:08Z</dcterms:created>
  <dcterms:modified xsi:type="dcterms:W3CDTF">2026-10-06T08:56:08Z</dcterms:modified>
</cp:coreProperties>
</file>