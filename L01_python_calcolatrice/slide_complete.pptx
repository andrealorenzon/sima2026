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10794a69-79b0-5c53-fb43-4b2a729962b8}">
          <p14:sldIdLst>
            <p14:sldId id="256"/>
            <p14:sldId id="257"/>
          </p14:sldIdLst>
        </p14:section>
        <p14:section name="Spiegazione" id="{b5d8d5be-c70b-c14f-175d-f1a104ac1011}">
          <p14:sldIdLst>
            <p14:sldId id="258"/>
            <p14:sldId id="259"/>
            <p14:sldId id="260"/>
            <p14:sldId id="261"/>
            <p14:sldId id="262"/>
          </p14:sldIdLst>
        </p14:section>
        <p14:section name="Task" id="{da8db15b-82ac-46a6-e28a-fa7296f4c775}">
          <p14:sldIdLst>
            <p14:sldId id="263"/>
          </p14:sldIdLst>
        </p14:section>
        <p14:section name="Debrief" id="{886e6c92-aca4-8ede-37ab-4ddb9130f34a}">
          <p14:sldIdLst>
            <p14:sldId id="264"/>
            <p14:sldId id="265"/>
            <p14:sldId id="266"/>
            <p14:sldId id="267"/>
            <p14:sldId id="268"/>
          </p14:sldIdLst>
        </p14:section>
        <p14:section name="Chiusura" id="{39769e4a-cb05-ffa8-cb8f-8cd95c665632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Benvenuto. Presentazione rapida del corso: sei settimane, formato fisso (spiegazione, task, debrief). Obiettivo: non imparare a memoria, ma saper cercare e verificare.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formato è sempre lo stesso: imparano la forma una volta sola. Il task è il cuore della lezione.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righe, eseguite dall'alto in basso. Se scambio l'ordine (print prima delle variabili) non funziona: è il primo concetto da far passare.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README su GitHub, pulsante Open in Colab, eseguire una cella, modificarla, rieseguirla. Mostrare File &gt; Salva una copia in Drive: senza, perdono il lavoro.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pulsante Gemini in Colab, fare la richiesta, leggere insieme riga per riga il codice prodotto. Chiedere alla classe: il risultato è plausibile? Come lo verifichiamo? (1000 x 1.03^10 circa 1344)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provocare l'errore, leggere il messaggio, cercare l'ultima riga su Google e aprire il primo risultato insieme.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Insistere sul limite dei 10 minuti: meglio chiedere che perdere mezz'ora.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Durante il task: girare tra i banchi, segnarsi le soluzioni interessanti (anche sbagliate) da mostrare nel debrief. Al passo 6 molti non capiranno: è voluto.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Mostrare 2-3 soluzioni degli studenti prima di passare ai concetti.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Mostrare: capitale = 6000 e poi print(capitale). L'etichetta ora punta a un altro valore.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virgola decimale tornerà fuori con l'Excel (L2-L3): anticiparlo 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Chiedere: chi se n'è accorto? Chi ha pensato che fosse giusto? Collegare a Gemini: anche il codice generato può fare esattamente questo.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 l'ha risolto cercando l'errore su Google? Chi con Gemini? Le soluzioni erano uguali?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problema dei tipi tornerà con l'Excel. Ricordare di creare l'account Kaggle.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F4C06E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zione">
    <p:bg>
      <p:bgPr>
        <a:solidFill>
          <a:srgbClr val="1F2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B8C4CB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0F4C5C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7B"/>
                </a:solidFill>
              </a:rPr>
              <a:t>SIMA 2026 · L1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Python come calcolatrice intelligente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L1 · Informatica per economisti · SIMA 2026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Oggi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Spiegazione e demo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Programmi, Colab, Gemini, errori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0F4C5C"/>
          </a:solidFill>
          <a:ln/>
        </p:spPr>
      </p:sp>
      <p:sp>
        <p:nvSpPr>
          <p:cNvPr id="10" name="Shape 8"/>
          <p:cNvSpPr/>
          <p:nvPr/>
        </p:nvSpPr>
        <p:spPr>
          <a:xfrm>
            <a:off x="466344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2</a:t>
            </a:r>
            <a:endParaRPr lang="en-US" sz="208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Task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C06E"/>
                </a:solidFill>
              </a:rPr>
              <a:t>60 min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Il risparmio di Marco, a piccoli passi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13816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16" name="Shape 14"/>
          <p:cNvSpPr/>
          <p:nvPr/>
        </p:nvSpPr>
        <p:spPr>
          <a:xfrm>
            <a:off x="845820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5820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3</a:t>
            </a:r>
            <a:endParaRPr lang="en-US" sz="2080" dirty="0"/>
          </a:p>
        </p:txBody>
      </p:sp>
      <p:sp>
        <p:nvSpPr>
          <p:cNvPr id="18" name="Text 16"/>
          <p:cNvSpPr txBox="1"/>
          <p:nvPr/>
        </p:nvSpPr>
        <p:spPr>
          <a:xfrm>
            <a:off x="845820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Debrief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845820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Variabili, tipi, la prima trappola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Cos'è un programma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0"/>
            <a:ext cx="4937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1F2A30"/>
                </a:solidFill>
              </a:rPr>
              <a:t>Una lista di istruzioni, eseguite in ordine, una dopo l'altra.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0F4C5C"/>
                </a:solidFill>
              </a:rPr>
              <a:t>Il computer non capisce: esegue. Esattamente quello che scrivi.</a:t>
            </a:r>
            <a:endParaRPr lang="en-US" sz="2200" dirty="0"/>
          </a:p>
        </p:txBody>
      </p:sp>
      <p:sp>
        <p:nvSpPr>
          <p:cNvPr id="4" name="card-code"/>
          <p:cNvSpPr/>
          <p:nvPr/>
        </p:nvSpPr>
        <p:spPr>
          <a:xfrm>
            <a:off x="6035040" y="1737360"/>
            <a:ext cx="5577840" cy="2377440"/>
          </a:xfrm>
          <a:prstGeom prst="roundRect">
            <a:avLst>
              <a:gd name="adj" fmla="val 4615"/>
            </a:avLst>
          </a:prstGeom>
          <a:solidFill>
            <a:srgbClr val="1F2A3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636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263640" y="2194560"/>
            <a:ext cx="51206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capitale = 5000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tasso = 0.025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print(capitale * (1 + tasso))</a:t>
            </a:r>
            <a:endParaRPr lang="en-US" sz="2000" dirty="0"/>
          </a:p>
        </p:txBody>
      </p:sp>
      <p:sp>
        <p:nvSpPr>
          <p:cNvPr id="7" name="card-out"/>
          <p:cNvSpPr/>
          <p:nvPr/>
        </p:nvSpPr>
        <p:spPr>
          <a:xfrm>
            <a:off x="6035040" y="4389120"/>
            <a:ext cx="5577840" cy="1280160"/>
          </a:xfrm>
          <a:prstGeom prst="roundRect">
            <a:avLst>
              <a:gd name="adj" fmla="val 8571"/>
            </a:avLst>
          </a:prstGeom>
          <a:solidFill>
            <a:srgbClr val="EEF3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63640" y="4526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484632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5125.0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Colab: il nostro ambiente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217" y="2008937"/>
            <a:ext cx="462686" cy="46268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Nel browser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Gratis, niente da installare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38328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4857" y="2008937"/>
            <a:ext cx="462686" cy="46268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38328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Account Google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338328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L'unica cosa che serve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21792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9497" y="2008937"/>
            <a:ext cx="462686" cy="46268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21792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Celle</a:t>
            </a:r>
            <a:endParaRPr lang="en-US" sz="2200" dirty="0"/>
          </a:p>
        </p:txBody>
      </p:sp>
      <p:sp>
        <p:nvSpPr>
          <p:cNvPr id="14" name="Text 9"/>
          <p:cNvSpPr txBox="1"/>
          <p:nvPr/>
        </p:nvSpPr>
        <p:spPr>
          <a:xfrm>
            <a:off x="621792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Testo e codice, alternati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905256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4137" y="2008937"/>
            <a:ext cx="462686" cy="46268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05256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Shift + Invio</a:t>
            </a:r>
            <a:endParaRPr lang="en-US" sz="2200" dirty="0"/>
          </a:p>
        </p:txBody>
      </p:sp>
      <p:sp>
        <p:nvSpPr>
          <p:cNvPr id="18" name="Text 12"/>
          <p:cNvSpPr txBox="1"/>
          <p:nvPr/>
        </p:nvSpPr>
        <p:spPr>
          <a:xfrm>
            <a:off x="9052560" y="33832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Esegue la cella selezionata</a:t>
            </a:r>
            <a:endParaRPr lang="en-US" sz="1600" dirty="0"/>
          </a:p>
        </p:txBody>
      </p:sp>
      <p:sp>
        <p:nvSpPr>
          <p:cNvPr id="19" name="Shape 13"/>
          <p:cNvSpPr/>
          <p:nvPr/>
        </p:nvSpPr>
        <p:spPr>
          <a:xfrm>
            <a:off x="548640" y="46634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EF3F4"/>
          </a:solidFill>
          <a:ln/>
        </p:spPr>
      </p:sp>
      <p:sp>
        <p:nvSpPr>
          <p:cNvPr id="20" name="Text 14"/>
          <p:cNvSpPr txBox="1"/>
          <p:nvPr/>
        </p:nvSpPr>
        <p:spPr>
          <a:xfrm>
            <a:off x="822960" y="4663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Demo  </a:t>
            </a:r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</a:rPr>
              <a:t>apriamo il notebook dal pulsante «Open in Colab» nel README del corso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Gemini: l'assistente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1</a:t>
            </a:r>
            <a:endParaRPr lang="en-US" sz="182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8288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F2A30"/>
                </a:solidFill>
              </a:rPr>
              <a:t>Chiedi cosa vuoi, con precisione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278892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2</a:t>
            </a:r>
            <a:endParaRPr lang="en-US" sz="182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7889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F2A30"/>
                </a:solidFill>
              </a:rPr>
              <a:t>Leggi il codice che propone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374904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749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3</a:t>
            </a:r>
            <a:endParaRPr lang="en-US" sz="182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374904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F2A30"/>
                </a:solidFill>
              </a:rPr>
              <a:t>Verifica il risultato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400800" y="1737360"/>
            <a:ext cx="5212080" cy="3017520"/>
          </a:xfrm>
          <a:prstGeom prst="roundRect">
            <a:avLst>
              <a:gd name="adj" fmla="val 3636"/>
            </a:avLst>
          </a:prstGeom>
          <a:solidFill>
            <a:srgbClr val="0F4C5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76656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4C06E"/>
                </a:solidFill>
              </a:rPr>
              <a:t>REGOLA DEL CORSO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2468880"/>
            <a:ext cx="4480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Che il codice giri non vuol dire che sia giusto.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120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F5308"/>
                </a:solidFill>
              </a:rPr>
              <a:t>Demo  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«calcola l'interesse composto su 1000 euro al 3% per 10 anni»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Gli errori sono amici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5577840" cy="1371600"/>
          </a:xfrm>
          <a:prstGeom prst="roundRect">
            <a:avLst>
              <a:gd name="adj" fmla="val 8000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print(capitale</a:t>
            </a:r>
            <a:endParaRPr lang="en-US" sz="2000" dirty="0"/>
          </a:p>
        </p:txBody>
      </p:sp>
      <p:sp>
        <p:nvSpPr>
          <p:cNvPr id="6" name="card-err"/>
          <p:cNvSpPr/>
          <p:nvPr/>
        </p:nvSpPr>
        <p:spPr>
          <a:xfrm>
            <a:off x="548640" y="3383280"/>
            <a:ext cx="5577840" cy="1371600"/>
          </a:xfrm>
          <a:prstGeom prst="roundRect">
            <a:avLst>
              <a:gd name="adj" fmla="val 8000"/>
            </a:avLst>
          </a:prstGeom>
          <a:solidFill>
            <a:srgbClr val="FBEAE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520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</a:rPr>
              <a:t>ERRORE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84048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SyntaxError: '(' was never closed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675120" y="173736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7512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1</a:t>
            </a:r>
            <a:endParaRPr lang="en-US" sz="1820" dirty="0"/>
          </a:p>
        </p:txBody>
      </p:sp>
      <p:sp>
        <p:nvSpPr>
          <p:cNvPr id="11" name="Text 9"/>
          <p:cNvSpPr txBox="1"/>
          <p:nvPr/>
        </p:nvSpPr>
        <p:spPr>
          <a:xfrm>
            <a:off x="7498080" y="169164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0"/>
                </a:solidFill>
              </a:rPr>
              <a:t>Leggi l'ultima riga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21031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dice il tipo di errore e la causa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675120" y="278892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7512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2</a:t>
            </a:r>
            <a:endParaRPr lang="en-US" sz="1820" dirty="0"/>
          </a:p>
        </p:txBody>
      </p:sp>
      <p:sp>
        <p:nvSpPr>
          <p:cNvPr id="15" name="Text 13"/>
          <p:cNvSpPr txBox="1"/>
          <p:nvPr/>
        </p:nvSpPr>
        <p:spPr>
          <a:xfrm>
            <a:off x="7498080" y="27432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0"/>
                </a:solidFill>
              </a:rPr>
              <a:t>Copiala su Google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0" y="31546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così com'è, senza modificarla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675120" y="3840480"/>
            <a:ext cx="640080" cy="640080"/>
          </a:xfrm>
          <a:prstGeom prst="ellipse">
            <a:avLst/>
          </a:prstGeom>
          <a:solidFill>
            <a:srgbClr val="EEF3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675120" y="3840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rgbClr val="0F4C5C"/>
                </a:solidFill>
              </a:rPr>
              <a:t>3</a:t>
            </a:r>
            <a:endParaRPr lang="en-US" sz="182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37947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0"/>
                </a:solidFill>
              </a:rPr>
              <a:t>Qualcuno l'ha già risolto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498080" y="42062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di solito su Stack Overflow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Come si lavora nel task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0312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35000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011680" y="21031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Passi piccoli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201168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Uno alla volta, nell'ordine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17220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9" name="Shape 6"/>
          <p:cNvSpPr/>
          <p:nvPr/>
        </p:nvSpPr>
        <p:spPr>
          <a:xfrm>
            <a:off x="6446520" y="210312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35000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635240" y="21031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Cosa cercare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763524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Per ogni passo trovi le parole chiave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4864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4" name="Shape 10"/>
          <p:cNvSpPr/>
          <p:nvPr/>
        </p:nvSpPr>
        <p:spPr>
          <a:xfrm>
            <a:off x="822960" y="402336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" y="4270248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011680" y="40233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Gemini c'è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2011680" y="44805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Ma prima prova a capire cosa ti serve</a:t>
            </a:r>
            <a:endParaRPr lang="en-US" sz="1600" dirty="0"/>
          </a:p>
        </p:txBody>
      </p:sp>
      <p:sp>
        <p:nvSpPr>
          <p:cNvPr id="18" name="Shape 13"/>
          <p:cNvSpPr/>
          <p:nvPr/>
        </p:nvSpPr>
        <p:spPr>
          <a:xfrm>
            <a:off x="617220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9" name="Shape 14"/>
          <p:cNvSpPr/>
          <p:nvPr/>
        </p:nvSpPr>
        <p:spPr>
          <a:xfrm>
            <a:off x="6446520" y="402336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408" y="4270248"/>
            <a:ext cx="420624" cy="4206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635240" y="40233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10 minuti</a:t>
            </a:r>
            <a:endParaRPr lang="en-US" sz="2200" dirty="0"/>
          </a:p>
        </p:txBody>
      </p:sp>
      <p:sp>
        <p:nvSpPr>
          <p:cNvPr id="22" name="Text 16"/>
          <p:cNvSpPr txBox="1"/>
          <p:nvPr/>
        </p:nvSpPr>
        <p:spPr>
          <a:xfrm>
            <a:off x="7635240" y="44805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Bloccato più a lungo? Chiedi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Saper cercare è metà del mestiere di programmare.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Task: il risparmio di Marco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Marco ha 5.000 € e li investe al 2,5% annuo.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60 minuti · apri il notebook dal README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Debrief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Come ha funzionato, e perché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Variabili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5120640" cy="1371600"/>
          </a:xfrm>
          <a:prstGeom prst="roundRect">
            <a:avLst>
              <a:gd name="adj" fmla="val 8000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capitale = 5000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3749040"/>
            <a:ext cx="2194560" cy="914400"/>
          </a:xfrm>
          <a:prstGeom prst="roundRect">
            <a:avLst>
              <a:gd name="adj" fmla="val 12000"/>
            </a:avLst>
          </a:prstGeom>
          <a:solidFill>
            <a:srgbClr val="E09F3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37490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capitale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834640" y="4206240"/>
            <a:ext cx="822960" cy="0"/>
          </a:xfrm>
          <a:prstGeom prst="line">
            <a:avLst/>
          </a:prstGeom>
          <a:noFill/>
          <a:ln w="25400">
            <a:solidFill>
              <a:srgbClr val="5C6F7B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749040" y="3749040"/>
            <a:ext cx="1920240" cy="914400"/>
          </a:xfrm>
          <a:prstGeom prst="roundRect">
            <a:avLst>
              <a:gd name="adj" fmla="val 12000"/>
            </a:avLst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749040" y="374904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5000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54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</a:rPr>
              <a:t>etichetta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749040" y="47548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</a:rPr>
              <a:t>valore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1828800"/>
            <a:ext cx="52120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F2A30"/>
                </a:solidFill>
              </a:rPr>
              <a:t>Un'etichetta attaccata a un valore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F2A30"/>
                </a:solidFill>
              </a:rPr>
              <a:t>Il valore si può cambiare quando vuoi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F2A30"/>
                </a:solidFill>
              </a:rPr>
              <a:t>Il nome lo scegli tu: meglio se dice cosa contiene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F2A30"/>
                </a:solidFill>
              </a:rPr>
              <a:t>= non è «uguale»: è «metti questo valore qui»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Tipi di dato</a:t>
            </a:r>
            <a:endParaRPr lang="en-US" sz="3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65836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011680"/>
                <a:gridCol w="29260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Tipo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Esempio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Cos'è</a:t>
                      </a:r>
                      <a:endParaRPr lang="en-US" sz="16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int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5000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</a:rPr>
                        <a:t>numero intero</a:t>
                      </a:r>
                      <a:endParaRPr lang="en-US" sz="18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float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0.025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</a:rPr>
                        <a:t>numero decimale</a:t>
                      </a:r>
                      <a:endParaRPr lang="en-US" sz="18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"5000"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</a:rPr>
                        <a:t>testo, tra virgolette</a:t>
                      </a:r>
                      <a:endParaRPr lang="en-US" sz="18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bool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True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30"/>
                          </a:solidFill>
                        </a:rPr>
                        <a:t>vero o falso</a:t>
                      </a:r>
                      <a:endParaRPr lang="en-US" sz="1800" dirty="0"/>
                    </a:p>
                  </a:txBody>
                  <a:tcPr marL="109728" marR="109728" marT="109728" marB="109728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8463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type(x)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 ti dice il tipo di x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7589520" y="1737360"/>
            <a:ext cx="4023360" cy="2834640"/>
          </a:xfrm>
          <a:prstGeom prst="roundRect">
            <a:avLst>
              <a:gd name="adj" fmla="val 3871"/>
            </a:avLst>
          </a:prstGeom>
          <a:solidFill>
            <a:srgbClr val="EEF3F4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863840" y="19659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F5308"/>
                </a:solidFill>
              </a:rPr>
              <a:t>ATTENZIONE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863840" y="242316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1F2A30"/>
                </a:solidFill>
              </a:rPr>
              <a:t>I decimali si scrivono con il punto</a:t>
            </a:r>
            <a:endParaRPr lang="en-US" sz="20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000" b="1" dirty="0">
                <a:solidFill>
                  <a:srgbClr val="2E6B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0.025</a:t>
            </a:r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1F2A30"/>
                </a:solidFill>
              </a:rPr>
              <a:t>  e non  </a:t>
            </a:r>
            <a:pPr indent="0" marL="0">
              <a:spcAft>
                <a:spcPts val="1200"/>
              </a:spcAft>
              <a:buNone/>
            </a:pPr>
            <a:r>
              <a:rPr lang="en-US" sz="2000" b="1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0,025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La trappola del passo 6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5577840" cy="1645920"/>
          </a:xfrm>
          <a:prstGeom prst="roundRect">
            <a:avLst>
              <a:gd name="adj" fmla="val 6667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capitale_testo = "5000"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print(capitale_testo * 2)</a:t>
            </a:r>
            <a:endParaRPr lang="en-US" sz="2000" dirty="0"/>
          </a:p>
        </p:txBody>
      </p:sp>
      <p:sp>
        <p:nvSpPr>
          <p:cNvPr id="6" name="card-out"/>
          <p:cNvSpPr/>
          <p:nvPr/>
        </p:nvSpPr>
        <p:spPr>
          <a:xfrm>
            <a:off x="548640" y="3657600"/>
            <a:ext cx="5577840" cy="1280160"/>
          </a:xfrm>
          <a:prstGeom prst="roundRect">
            <a:avLst>
              <a:gd name="adj" fmla="val 8571"/>
            </a:avLst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794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11480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50005000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6675120" y="173736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9E2A2B"/>
                </a:solidFill>
              </a:rPr>
              <a:t>Nessun errore.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9E2A2B"/>
                </a:solidFill>
              </a:rPr>
              <a:t>Risultato sbagliato.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6675120" y="356616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</a:rPr>
              <a:t>Python ha ripetuto il testo due volte. Il codice che gira non è per forza giusto: è la lezione più importante del corso.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Testo più numero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55778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print("Il capitale è " + capitale)</a:t>
            </a:r>
            <a:endParaRPr lang="en-US" sz="1700" dirty="0"/>
          </a:p>
        </p:txBody>
      </p:sp>
      <p:sp>
        <p:nvSpPr>
          <p:cNvPr id="6" name="card-err"/>
          <p:cNvSpPr/>
          <p:nvPr/>
        </p:nvSpPr>
        <p:spPr>
          <a:xfrm>
            <a:off x="548640" y="3154680"/>
            <a:ext cx="5577840" cy="1463040"/>
          </a:xfrm>
          <a:prstGeom prst="roundRect">
            <a:avLst>
              <a:gd name="adj" fmla="val 7500"/>
            </a:avLst>
          </a:prstGeom>
          <a:solidFill>
            <a:srgbClr val="FBEAE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291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</a:rPr>
              <a:t>ERRORE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1188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TypeError: can only concatenate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 (not "int") to str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675120" y="17373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Due modi per correggere</a:t>
            </a:r>
            <a:endParaRPr lang="en-US" sz="2200" dirty="0"/>
          </a:p>
        </p:txBody>
      </p:sp>
      <p:sp>
        <p:nvSpPr>
          <p:cNvPr id="10" name="card-code"/>
          <p:cNvSpPr/>
          <p:nvPr/>
        </p:nvSpPr>
        <p:spPr>
          <a:xfrm>
            <a:off x="6675120" y="2377440"/>
            <a:ext cx="4937760" cy="1097280"/>
          </a:xfrm>
          <a:prstGeom prst="roundRect">
            <a:avLst>
              <a:gd name="adj" fmla="val 10000"/>
            </a:avLst>
          </a:prstGeom>
          <a:solidFill>
            <a:srgbClr val="1F2A3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90372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903720" y="283464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"Il capitale è " + str(capitale)</a:t>
            </a:r>
            <a:endParaRPr lang="en-US" sz="1500" dirty="0"/>
          </a:p>
        </p:txBody>
      </p:sp>
      <p:sp>
        <p:nvSpPr>
          <p:cNvPr id="13" name="card-code"/>
          <p:cNvSpPr/>
          <p:nvPr/>
        </p:nvSpPr>
        <p:spPr>
          <a:xfrm>
            <a:off x="6675120" y="3657600"/>
            <a:ext cx="4937760" cy="1097280"/>
          </a:xfrm>
          <a:prstGeom prst="roundRect">
            <a:avLst>
              <a:gd name="adj" fmla="val 10000"/>
            </a:avLst>
          </a:prstGeom>
          <a:solidFill>
            <a:srgbClr val="1F2A3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903720" y="3794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903720" y="411480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f"Il capitale è {capitale}"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1206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Python non indovina: testo e numeri vanno trattati in modo esplicito.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Prossima volta: un file Excel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Compito: Kaggle Learn – Python, lezione «Hello, Python» (~30 min)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A 2026">
  <a:themeElements>
    <a:clrScheme name="SIMA 2026">
      <a:dk1>
        <a:srgbClr val="1F2A30"/>
      </a:dk1>
      <a:lt1>
        <a:srgbClr val="FFFFFF"/>
      </a:lt1>
      <a:dk2>
        <a:srgbClr val="0F4C5C"/>
      </a:dk2>
      <a:lt2>
        <a:srgbClr val="EEF3F4"/>
      </a:lt2>
      <a:accent1>
        <a:srgbClr val="E09F3E"/>
      </a:accent1>
      <a:accent2>
        <a:srgbClr val="0F4C5C"/>
      </a:accent2>
      <a:accent3>
        <a:srgbClr val="9E2A2B"/>
      </a:accent3>
      <a:accent4>
        <a:srgbClr val="3A7D44"/>
      </a:accent4>
      <a:accent5>
        <a:srgbClr val="5C6F7B"/>
      </a:accent5>
      <a:accent6>
        <a:srgbClr val="B8C4CB"/>
      </a:accent6>
      <a:hlink>
        <a:srgbClr val="0F4C5C"/>
      </a:hlink>
      <a:folHlink>
        <a:srgbClr val="5C6F7B"/>
      </a:folHlink>
    </a:clrScheme>
    <a:fontScheme name="SIMA 2026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L1 — Python come calcolatrice intelligente</dc:title>
  <dc:subject>PptxGenJS Presentation</dc:subject>
  <dc:creator>SIMA 2026</dc:creator>
  <cp:lastModifiedBy>SIMA 2026</cp:lastModifiedBy>
  <cp:revision>1</cp:revision>
  <dcterms:created xsi:type="dcterms:W3CDTF">2026-10-06T08:12:06Z</dcterms:created>
  <dcterms:modified xsi:type="dcterms:W3CDTF">2026-10-06T08:12:06Z</dcterms:modified>
</cp:coreProperties>
</file>