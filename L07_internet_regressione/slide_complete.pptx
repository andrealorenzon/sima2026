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98e2cd42-c7fb-997d-ac0d-c2e8a3db79f3}">
          <p14:sldIdLst>
            <p14:sldId id="256"/>
            <p14:sldId id="257"/>
          </p14:sldIdLst>
        </p14:section>
        <p14:section name="Spiegazione" id="{6ac17daf-6046-a039-2312-1c54558d3f14}">
          <p14:sldIdLst>
            <p14:sldId id="258"/>
            <p14:sldId id="259"/>
            <p14:sldId id="260"/>
          </p14:sldIdLst>
        </p14:section>
        <p14:section name="Task" id="{539fd281-d60b-5697-45d3-58bdd7c041cd}">
          <p14:sldIdLst>
            <p14:sldId id="261"/>
          </p14:sldIdLst>
        </p14:section>
        <p14:section name="Debrief" id="{27c7bf81-feb8-82c4-3397-496ffc78447f}">
          <p14:sldIdLst>
            <p14:sldId id="262"/>
            <p14:sldId id="263"/>
            <p14:sldId id="264"/>
          </p14:sldIdLst>
        </p14:section>
        <p14:section name="Chiusura" id="{87ca117a-c669-1234-17fa-abb5fd8b2d5d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novità: dati veri e la regressione. La regressione si usa come scatola nera: lanciarla e leggerla, non derivarla.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aprire la pagina GitHub di Our World in Data (owid/co2-data), mostrare il file CSV e il file che descrive le colonne (codebook). Leggere sempre la descrizione delle colonne prima di usarle.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 anticipare il problema degli aggregati: il passo 4 del task serve a scoprirlo.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summary è lungo e spaventa: indicare solo i tre numeri da leggere. Il resto (errori standard, p-value) verrà nei corsi di metodi.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download del CSV richiede qualche secondo. Al passo 4 la somma sarà enorme: chiedere cosa contiene davvero la colonna country.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numeri possono cambiare leggermente se Our World in Data aggiorna i dati: è il rischio dei dati online. Restano 1.000 Mt di differenza tra somma dei paesi e World: aviazione e navigazione internazionali.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Domanda finale del task: assumere una persona fa fatturare 140 mila euro in più? No: associazione, non causa. Il coefficiente scende aggiungendo la R&amp;S: classico segnale di variabile omessa, da non approfondire 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F4C06E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solidFill>
          <a:srgbClr val="1F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B8C4CB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F4C5C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B"/>
                </a:solidFill>
              </a:rPr>
              <a:t>SIMA 2026 · L7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Dati da internet e una regressione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L7 · Informatica per economisti · SIMA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Oggi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1</a:t>
            </a:r>
            <a:endParaRPr lang="en-US" sz="208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Spiegazione e demo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Leggere dati dal web, la regressione con statsmodels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0F4C5C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2</a:t>
            </a:r>
            <a:endParaRPr lang="en-US" sz="208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Task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C06E"/>
                </a:solidFill>
              </a:rPr>
              <a:t>60 min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CO₂ nel mondo, fatturato e addetti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3</a:t>
            </a:r>
            <a:endParaRPr lang="en-US" sz="208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Debrief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Gli aggregati nascosti e le osservazioni perse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Dati da internet: un indirizzo al posto del file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7498080" cy="1280160"/>
          </a:xfrm>
          <a:prstGeom prst="roundRect">
            <a:avLst>
              <a:gd name="adj" fmla="val 8571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= "https://raw.githubusercontent.com/owid/...csv"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co2 = pd.read_csv(url)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11064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A30"/>
                </a:solidFill>
              </a:rPr>
              <a:t>Molti enti pubblicano dati scaricabili: Our World in Data, Eurostat, ISTAT, Banca d'Italia, World Bank.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A30"/>
                </a:solidFill>
              </a:rPr>
              <a:t>Se il file è online, read_csv e read_excel accettano direttamente l'indirizzo.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A30"/>
                </a:solidFill>
              </a:rPr>
              <a:t>Il vantaggio: rilanci il notebook e hai i dati aggiornati.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0F4C5C"/>
                </a:solidFill>
              </a:rPr>
              <a:t>Il rischio: i dati cambiano, e con loro i tuoi risultati. Annota quando li hai scaricati.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Leggere la descrizione dei dati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2560320"/>
          </a:xfrm>
          <a:prstGeom prst="roundRect">
            <a:avLst>
              <a:gd name="adj" fmla="val 4286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5308"/>
                </a:solidFill>
              </a:rPr>
              <a:t>PRIMA DI ANALIZZARE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</a:rPr>
              <a:t>Ogni dataset serio ha una descrizione delle colonne (codebook): unità di misura, fonte, cosa contiene davvero ogni riga.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217920" y="1737360"/>
            <a:ext cx="5394960" cy="2560320"/>
          </a:xfrm>
          <a:prstGeom prst="roundRect">
            <a:avLst>
              <a:gd name="adj" fmla="val 4286"/>
            </a:avLst>
          </a:prstGeom>
          <a:solidFill>
            <a:srgbClr val="0F4C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C06E"/>
                </a:solidFill>
              </a:rPr>
              <a:t>LA DOMANDA CHIAVE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42316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Cosa rappresenta una riga? Un paese in un anno? O anche un continente, un gruppo di paesi, il mondo intero?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Le stesse domande della L2, su dati che non hai preparato tu.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Una regressione in una riga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583680" cy="1737360"/>
          </a:xfrm>
          <a:prstGeom prst="roundRect">
            <a:avLst>
              <a:gd name="adj" fmla="val 6316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12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statsmodels.formula.api as smf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smf.ols("fatturato ~ addetti", data=df).fit()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print(m.summary())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182880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 ~ x": y in funzione di x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 ~ x + z": più variabili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F4C5C"/>
                </a:solidFill>
              </a:rPr>
              <a:t>OLS: la retta che passa più vicino ai punti.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EEF3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coefficiente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526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</a:rPr>
              <a:t>di quanto cambia y, in media, se x aumenta di 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43400" y="393192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EEF3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4526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</a:rPr>
              <a:t>quanta parte della variabilità di y è descritta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38160" y="393192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EEF3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 Observations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4526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</a:rPr>
              <a:t>su quante righe è stata stimata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Associazione, non causa: la causalità è il mestiere dei vostri corsi di econometria.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Task: CO₂ e fatturato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Dati veri, una regressione, e qualche sorpresa.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60 minuti · apri il notebook dal README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Debrief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Quello che i dati non dicono da soli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Il mondo contato sei volte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965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F4C5C"/>
                </a:solidFill>
              </a:rPr>
              <a:t>240.370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</a:rPr>
              <a:t>somma di tutte le righe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milioni di t di CO₂, 2022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0F4C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7720" y="1965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37.528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riga «World»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milioni di t di CO₂, 2022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1828800"/>
            <a:ext cx="3383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La colonna country contiene anche continenti, UE, gruppi di reddito, il mondo.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Gli aggregati non hanno iso_code: filtrando restano 218 paesi.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0F4C5C"/>
                </a:solidFill>
              </a:rPr>
              <a:t>Cosa rappresenta una riga? Prima domanda, sempre.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Leggere la regressione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9659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4C5C"/>
                </a:solidFill>
              </a:rPr>
              <a:t>140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</a:rPr>
              <a:t>coefficiente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474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migliaia di € per addetto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0" y="173736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0F4C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794760" y="19659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0,73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79476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R²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EEF3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20840" y="19659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4C5C"/>
                </a:solidFill>
              </a:rPr>
              <a:t>2.375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</a:rPr>
              <a:t>osservazioni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3474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 2.500!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418320" y="1828800"/>
            <a:ext cx="2194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0"/>
                </a:solidFill>
              </a:rPr>
              <a:t>Le righe con un valore mancante vengono escluse in silenzio.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0"/>
                </a:solidFill>
              </a:rPr>
              <a:t>Aggiungendo la R&amp;S: coefficiente 116, osservazioni 2.255.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389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Ogni volta che riporti una regressione, riporta anche su quante osservazioni.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Prossima volta: dal notebook allo script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Pensa a una domanda per il mini-progetto finale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A 2026">
  <a:themeElements>
    <a:clrScheme name="SIMA 2026">
      <a:dk1>
        <a:srgbClr val="1F2A30"/>
      </a:dk1>
      <a:lt1>
        <a:srgbClr val="FFFFFF"/>
      </a:lt1>
      <a:dk2>
        <a:srgbClr val="0F4C5C"/>
      </a:dk2>
      <a:lt2>
        <a:srgbClr val="EEF3F4"/>
      </a:lt2>
      <a:accent1>
        <a:srgbClr val="E09F3E"/>
      </a:accent1>
      <a:accent2>
        <a:srgbClr val="0F4C5C"/>
      </a:accent2>
      <a:accent3>
        <a:srgbClr val="9E2A2B"/>
      </a:accent3>
      <a:accent4>
        <a:srgbClr val="3A7D44"/>
      </a:accent4>
      <a:accent5>
        <a:srgbClr val="5C6F7B"/>
      </a:accent5>
      <a:accent6>
        <a:srgbClr val="B8C4CB"/>
      </a:accent6>
      <a:hlink>
        <a:srgbClr val="0F4C5C"/>
      </a:hlink>
      <a:folHlink>
        <a:srgbClr val="5C6F7B"/>
      </a:folHlink>
    </a:clrScheme>
    <a:fontScheme name="SIMA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L7 — Dati da internet e una regressione</dc:title>
  <dc:subject>PptxGenJS Presentation</dc:subject>
  <dc:creator>SIMA 2026</dc:creator>
  <cp:lastModifiedBy>SIMA 2026</cp:lastModifiedBy>
  <cp:revision>1</cp:revision>
  <dcterms:created xsi:type="dcterms:W3CDTF">2026-10-06T09:07:16Z</dcterms:created>
  <dcterms:modified xsi:type="dcterms:W3CDTF">2026-10-06T09:07:16Z</dcterms:modified>
</cp:coreProperties>
</file>