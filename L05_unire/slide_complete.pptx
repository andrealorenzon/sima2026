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802d0cf5-38b4-f2ce-fcd0-6eba2a6f4d6c}">
          <p14:sldIdLst>
            <p14:sldId id="256"/>
            <p14:sldId id="257"/>
          </p14:sldIdLst>
        </p14:section>
        <p14:section name="Spiegazione" id="{8f0ea105-b19f-9ddd-a3a0-7e0b75bed8b1}">
          <p14:sldIdLst>
            <p14:sldId id="258"/>
            <p14:sldId id="259"/>
            <p14:sldId id="260"/>
          </p14:sldIdLst>
        </p14:section>
        <p14:section name="Task" id="{00c48b25-d761-9ac0-19d6-ee7604e2f9e3}">
          <p14:sldIdLst>
            <p14:sldId id="261"/>
          </p14:sldIdLst>
        </p14:section>
        <p14:section name="Debrief" id="{696edf43-a003-8348-c52d-f0547c718288}">
          <p14:sldIdLst>
            <p14:sldId id="262"/>
            <p14:sldId id="263"/>
            <p14:sldId id="264"/>
            <p14:sldId id="265"/>
          </p14:sldIdLst>
        </p14:section>
        <p14:section name="Chiusura" id="{ff108856-87a6-28f3-1499-9b3210017836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Collegare alla L3: avevamo detto che str.title() avrebbe creato problemi oggi. Le chiavi scritte male sono il problema numero uno delle unioni.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chiave deve essere scritta in modo IDENTICO nelle due tabelle: maiuscole, spazi, trattini. È lo stesso problema della L3.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Consiglio pratico: usare sempre how='left' quando si arricchisce una tabella con informazioni di un'altra. La tabella principale non deve perdere righe.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caso 'più righe' si controlla con validate='many_to_one' (bonus B1).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passo 2 molti non si accorgeranno delle righe perse. Non dirlo: chiedere solo 'quante righe ti aspettavi?'.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se n'è accorto al passo 2? Chi solo al passo 3? Senza il conteggio, il Nord-Est avrebbe perso due regioni intere.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ottenere numeri per regione corretti: prima si aggrega (una riga per regione), poi si unisce. È quello che fa il passo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Unire tabelle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L5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merge, inner e left, contare le righe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Imprese più regioni: macroaree e popolazione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Le righe sparite e i 12 miliardi di italiani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Unire: come CERCA.VERT, per tutte le righe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2651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impresa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Veneto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29184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6F7B"/>
                </a:solidFill>
              </a:rPr>
              <a:t>+</a:t>
            </a:r>
            <a:endParaRPr lang="en-US" sz="3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37360"/>
          <a:ext cx="27432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macroarea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Centro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Veneto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Nord-Est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67512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6F7B"/>
                </a:solidFill>
              </a:rPr>
              <a:t>=</a:t>
            </a:r>
            <a:endParaRPr lang="en-US" sz="32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737360"/>
          <a:ext cx="4297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impresa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macroarea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Centro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Veneto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Nord-Est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Centro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8"/>
                    </a:solidFill>
                  </a:tcPr>
                </a:tc>
              </a:tr>
            </a:tbl>
          </a:graphicData>
        </a:graphic>
      </p:graphicFrame>
      <p:sp>
        <p:nvSpPr>
          <p:cNvPr id="8" name="card-code"/>
          <p:cNvSpPr/>
          <p:nvPr/>
        </p:nvSpPr>
        <p:spPr>
          <a:xfrm>
            <a:off x="548640" y="365760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77724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77240" y="41148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df.merge(regioni, on="regione", how="left")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7498080" y="37033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on: la colonna che le due tabelle hanno in comune (la chiave).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F4C5C"/>
                </a:solidFill>
              </a:rPr>
              <a:t>La macroarea del Lazio viene copiata su ogni impresa del Lazio.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Chi resta e chi sparisce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468880"/>
          </a:xfrm>
          <a:prstGeom prst="roundRect">
            <a:avLst>
              <a:gd name="adj" fmla="val 4444"/>
            </a:avLst>
          </a:prstGeom>
          <a:solidFill>
            <a:srgbClr val="0F4C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HOW="INNER" (PREDEFINITO)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Tiene solo le righe che trovano corrispondenza in entrambe le tabelle. Le altre spariscono, senza avvisare.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2468880"/>
          </a:xfrm>
          <a:prstGeom prst="roundRect">
            <a:avLst>
              <a:gd name="adj" fmla="val 4444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HOW="LEFT"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Tiene tutte le righe della tabella di sinistra. Dove non trova corrispondenza mette valori mancanti, che puoi contare.</a:t>
            </a:r>
            <a:endParaRPr lang="en-US" sz="1900" dirty="0"/>
          </a:p>
        </p:txBody>
      </p:sp>
      <p:sp>
        <p:nvSpPr>
          <p:cNvPr id="9" name="card-code"/>
          <p:cNvSpPr/>
          <p:nvPr/>
        </p:nvSpPr>
        <p:spPr>
          <a:xfrm>
            <a:off x="548640" y="448056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93776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df.merge(regioni, on="regione",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how="left", indicator=True)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52628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A30"/>
                </a:solidFill>
              </a:rPr>
              <a:t>indicator=True aggiunge una colonna _merge: both, left_only, right_only.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F4C5C"/>
                </a:solidFill>
              </a:rPr>
              <a:t>Così vedi chi non ha trovato corrispondenza.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La regola: conta le righe, prima e dopo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645920"/>
          </a:xfrm>
          <a:prstGeom prst="roundRect">
            <a:avLst>
              <a:gd name="adj" fmla="val 6667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unito = df.merge(regioni, on="regione")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print(unito.shape)</a:t>
            </a:r>
            <a:endParaRPr lang="en-US" sz="1700" dirty="0"/>
          </a:p>
        </p:txBody>
      </p:sp>
      <p:sp>
        <p:nvSpPr>
          <p:cNvPr id="6" name="card-out"/>
          <p:cNvSpPr/>
          <p:nvPr/>
        </p:nvSpPr>
        <p:spPr>
          <a:xfrm>
            <a:off x="548640" y="361188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0690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(1000, 5)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(870, 7)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Arricchire una tabella non deve cambiare il numero di righe.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Meno righe: chiavi che non combaciano.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Più righe: chiavi ripetute nella seconda tabella.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9E2A2B"/>
                </a:solidFill>
              </a:rPr>
              <a:t>Nessun errore in entrambi i casi.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unisci imprese e regioni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Dopo ogni unione: conta le righe.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Debrief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Le unioni che mentono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260 righe sparite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4C5C"/>
                </a:solidFill>
              </a:rPr>
              <a:t>2.500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righe in df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2.240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righe dopo il merge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how="inner"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2880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A30"/>
                </a:solidFill>
              </a:rPr>
              <a:t>Emilia-Romagna (190 righe) e Trentino-Alto Adige (70) non hanno trovato corrispondenza: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regioni.xlsx erano «Emilia Romagna» e «Trentino-Alto Adige/Suedtirol».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9E2A2B"/>
                </a:solidFill>
              </a:rPr>
              <a:t>Ogni analisi successiva le avrebbe ignorate.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12 miliardi di italiani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4C5C"/>
                </a:solidFill>
              </a:rPr>
              <a:t>59.014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somma in regioni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migliaia di abitanti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11.638.730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somma in unito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migliaia di «abitanti»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2880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Dopo l'unione la popolazione del Lazio è ripetuta su ogni riga di ogni impresa laziale, per ogni anno.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F4C5C"/>
                </a:solidFill>
              </a:rPr>
              <a:t>I valori della tabella piccola si usano riga per riga, non si sommano.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Due regole per un'unione sicura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Conta le righe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prima e dopo. Arricchire non deve cambiarle. E conta i mancanti nelle colonne aggiunte.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7920" y="173736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92240" y="3154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how="left" + indicator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3703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per vedere chi non ha trovato corrispondenza, invece di perderlo in silenzio.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Le chiavi scritte male sono la causa numero uno: pulizia (L3) e unione vanno insieme.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funzioni e cicli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Pandas, «Renaming and Combining» (~20 min)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L5 — Unire tabelle</dc:title>
  <dc:subject>PptxGenJS Presentation</dc:subject>
  <dc:creator>SIMA 2026</dc:creator>
  <cp:lastModifiedBy>SIMA 2026</cp:lastModifiedBy>
  <cp:revision>1</cp:revision>
  <dcterms:created xsi:type="dcterms:W3CDTF">2026-10-06T09:02:34Z</dcterms:created>
  <dcterms:modified xsi:type="dcterms:W3CDTF">2026-10-06T09:02:34Z</dcterms:modified>
</cp:coreProperties>
</file>