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2386851e-ad77-e679-d746-381564da4c63}">
          <p14:sldIdLst>
            <p14:sldId id="256"/>
            <p14:sldId id="257"/>
          </p14:sldIdLst>
        </p14:section>
        <p14:section name="Spiegazione" id="{5a10d6fe-9b50-9479-1ee1-83a344af09f5}">
          <p14:sldIdLst>
            <p14:sldId id="258"/>
            <p14:sldId id="259"/>
            <p14:sldId id="260"/>
            <p14:sldId id="261"/>
          </p14:sldIdLst>
        </p14:section>
        <p14:section name="Task" id="{5688be7c-63b7-dbc1-59db-f45c4870f019}">
          <p14:sldIdLst>
            <p14:sldId id="262"/>
          </p14:sldIdLst>
        </p14:section>
        <p14:section name="Debrief" id="{8cdf3445-66a8-466c-b5e6-d278992ef27e}">
          <p14:sldIdLst>
            <p14:sldId id="263"/>
            <p14:sldId id="264"/>
            <p14:sldId id="265"/>
            <p14:sldId id="266"/>
          </p14:sldIdLst>
        </p14:section>
        <p14:section name="Chiusura" id="{61fb1fdc-8f15-8a40-28b1-7b449a6d4ce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oggi si lavora sul dataset pulito (imprese_pulito.xlsx): è il risultato della L3. Finalmente domande da economisti.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che la nuova colonna compare in fondo a df.head(). Domanda: cosa succede se addetti vale 0? (divisione per zero: inf). Nel nostro dataset non capita, ma è da sapere.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È la tabella pivot di Excel, scritta. DEMO: groupby per anno, poi per settore. Far notare che il risultato è a sua volta una tabella su cui si può lavorare (ordinare, disegnare).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Esempio classico: entra Bill Gates in un bar, il reddito medio dei clienti diventa miliardario, quello mediano non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veloce dei tre grafici sul dataset. pandas usa matplotlib dietro le quinte: plt.title, plt.xlabel, plt.show.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passo 5 quasi tutti scriveranno 'Liguria' senza farsi domande. Il passo 6 serve a smontarlo.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Valori in migliaia di euro. L'impresa è IMP0370 (213 addetti). Far vedere df[df['regione']=='Liguria'].groupby('id_impresa')['fatturato'].mean().sort_values().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dato è sintetico, ma lo shock è stato inserito apposta per somigliare alla pandemia. Chiedere: e la media? Scende anche lei, ma è più rumorosa.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l'istogramma di uno studente. Collegare: è per questo che negli studi si usa spesso il logaritmo del fatturato.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Raggruppare, riassumere, disegnare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L4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Nuove colonne, groupby, media e mediana, grafici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Fatturato, regioni e settori,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La regione più ricca? Il 2020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Nuove colonne: come una formula trascinata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IN EXCEL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Scrivi =C2/D2 nella prima cella e trascini la formula fino in fondo.</a:t>
            </a:r>
            <a:endParaRPr lang="en-US" sz="1900" dirty="0"/>
          </a:p>
        </p:txBody>
      </p:sp>
      <p:sp>
        <p:nvSpPr>
          <p:cNvPr id="6" name="card-code"/>
          <p:cNvSpPr/>
          <p:nvPr/>
        </p:nvSpPr>
        <p:spPr>
          <a:xfrm>
            <a:off x="6035040" y="173736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df["ricavo"] = df["prezzo"] * df["qta"]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1546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30"/>
                </a:solidFill>
              </a:rPr>
              <a:t>Una riga sola, applicata a tutte le righe insieme.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F4C5C"/>
                </a:solidFill>
              </a:rPr>
              <a:t>Se manca uno dei due valori, il risultato è mancante.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Niente trascinamento, niente celle dimenticate in fondo al foglio.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Raggruppare: dividi, calcola, ricomponi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Dividi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tabella per ogni anno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8620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2</a:t>
            </a:r>
            <a:endParaRPr lang="en-US" sz="182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Calcola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CB"/>
                </a:solidFill>
              </a:rPr>
              <a:t>la media di ognuna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41148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38160" y="169164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3</a:t>
            </a:r>
            <a:endParaRPr lang="en-US" sz="182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Ricomponi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una riga per anno</a:t>
            </a:r>
            <a:endParaRPr lang="en-US" sz="1500" dirty="0"/>
          </a:p>
        </p:txBody>
      </p:sp>
      <p:sp>
        <p:nvSpPr>
          <p:cNvPr id="20" name="card-code"/>
          <p:cNvSpPr/>
          <p:nvPr/>
        </p:nvSpPr>
        <p:spPr>
          <a:xfrm>
            <a:off x="548640" y="347472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9319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df.groupby("anno")["fatturato"].mean()</a:t>
            </a:r>
            <a:endParaRPr lang="en-US" sz="1800" dirty="0"/>
          </a:p>
        </p:txBody>
      </p:sp>
      <p:sp>
        <p:nvSpPr>
          <p:cNvPr id="23" name="card-code"/>
          <p:cNvSpPr/>
          <p:nvPr/>
        </p:nvSpPr>
        <p:spPr>
          <a:xfrm>
            <a:off x="548640" y="4846320"/>
            <a:ext cx="6583680" cy="1280160"/>
          </a:xfrm>
          <a:prstGeom prst="roundRect">
            <a:avLst>
              <a:gd name="adj" fmla="val 8571"/>
            </a:avLst>
          </a:prstGeom>
          <a:solidFill>
            <a:srgbClr val="1F2A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3035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df.groupby("anno")["fatturato"]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.agg(["mean", "median", "count"])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3566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per ogni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della colonna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fatturato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, calcola la media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Con agg: più statistiche insieme, una colonna ciascuna.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Media o mediana?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0020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5176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70332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BE3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cinque imprese, fatturato in milioni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22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media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(1+2+3+4+100)/5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34290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mediana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5166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quella in mezzo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82880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Un solo valore estremo sposta la media, non la mediana.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A30"/>
                </a:solidFill>
              </a:rPr>
              <a:t>Con dati asimmetrici (redditi, fatturati, prezzi delle case) la mediana descrive meglio l'impresa «tipica».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0F4C5C"/>
                </a:solidFill>
              </a:rPr>
              <a:t>E guarda sempre quante osservazioni ci sono dietro un numero.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Quale grafico per quale domanda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2585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Linea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cambia nel tempo? plot()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2816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0248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368" y="22585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Barre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si confrontano delle categorie? plot(kind="barh")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07680" y="1737360"/>
            <a:ext cx="3505200" cy="27432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38200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888" y="2258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315468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Istogramma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703320"/>
            <a:ext cx="295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Come sono distribuiti i valori? plot(kind="hist")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EEF3F4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UN GRAFICO ONESTO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Titolo, assi con le unità di misura, barre in ordine. Se non si capisce senza spiegarlo a voce, non è finito.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raggruppa e disegna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Il numero che ottieni racconta davvero quello che sembra?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Le medie che ingannano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regione più ricca?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7.025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Liguria: media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mediana 1.591 · 16 imprese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4.420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Basilicata: mediana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2 imprese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La Liguria è prima per media grazie a una sola impresa da oltre 57 milioni l'anno.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La Basilicata è prima per mediana, ma con 2 imprese non si conclude nulla.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Risposta onesta: le differenze sono piccole e i dati pochi.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Media, mediana e numero di osservazioni: sempre insieme.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2020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4C5C"/>
                </a:solidFill>
              </a:rPr>
              <a:t>1.436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mediana 2019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migliaia di euro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1.054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mediana 2020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circa un quarto in meno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2880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Il grafico a linea lo mostra al primo sguardo; la tabella no.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A30"/>
                </a:solidFill>
              </a:rPr>
              <a:t>Nel 2021 si torna ai livelli precedenti.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F4C5C"/>
                </a:solidFill>
              </a:rPr>
              <a:t>Per questo si disegna prima di analizzare.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L'istogramma spiega tutto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Tantissime imprese piccole, poche molto grandi: una distribuzione asimmetrica.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Le poche grandi tirano su la media (≈ 2.600) ben sopra la mediana (≈ 1.400).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In scala logaritmica la forma diventa leggibile (bonus B3).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F4C5C"/>
                </a:solidFill>
              </a:rPr>
              <a:t>Molte variabili economiche sono così: redditi, fatturati, patrimoni.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unire tabelle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«Grouping and Sorting» (~20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L4 — Raggruppare, riassumere, disegnare</dc:title>
  <dc:subject>PptxGenJS Presentation</dc:subject>
  <dc:creator>SIMA 2026</dc:creator>
  <cp:lastModifiedBy>SIMA 2026</cp:lastModifiedBy>
  <cp:revision>1</cp:revision>
  <dcterms:created xsi:type="dcterms:W3CDTF">2026-10-06T09:00:04Z</dcterms:created>
  <dcterms:modified xsi:type="dcterms:W3CDTF">2026-10-06T09:00:04Z</dcterms:modified>
</cp:coreProperties>
</file>