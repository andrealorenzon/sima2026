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6392ed43-452f-cf76-6b38-94f06709862e}">
          <p14:sldIdLst>
            <p14:sldId id="256"/>
            <p14:sldId id="257"/>
          </p14:sldIdLst>
        </p14:section>
        <p14:section name="Spiegazione" id="{08c2ed68-f14f-127a-9ba1-2c4756115473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Task" id="{05012141-fccd-5a20-6aa4-418f5dd5f751}">
          <p14:sldIdLst>
            <p14:sldId id="269"/>
          </p14:sldIdLst>
        </p14:section>
        <p14:section name="Debrief" id="{fad29967-b157-41cd-3657-ce73aac1515b}">
          <p14:sldIdLst>
            <p14:sldId id="270"/>
            <p14:sldId id="271"/>
            <p14:sldId id="272"/>
            <p14:sldId id="273"/>
            <p14:sldId id="274"/>
          </p14:sldIdLst>
        </p14:section>
        <p14:section name="Chiusura" id="{e43670dd-be29-15ed-f4cc-be755ae6da50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Ripasso veloce della L1: variabili, tipi, la trappola "5000" * 2. Oggi lo stesso problema dei tipi torna fuori, ma su un file vero.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Stesso formato della L1.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caricare imprese.xlsx in Colab, poi df da solo in una cella per vedere la tabella. Sottolineare che df è una variabile come capitale nella L1, solo che contiene una tabella intera.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Nessuno scrive da zero il codice per leggere un Excel: qualcuno l'ha già fatto. Una libreria è codice di altri, pronto da usare. In Colab sono già installate.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nome df è una convenzione, non un obbligo. Far notare che l'indice parte da 0: domanda classica.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liste torneranno di continuo: più colonne (subito, nella prossima slide), i risultati di un ciclo e l'elenco dei file (L6). DEMO: regioni[0:2] e len dopo append.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slicing funziona così ovunque in Python: liste, testi, DataFrame. Domanda alla classe: come prendo le righe dalla 10 alla 19 comprese? (iloc[10:20]). Non entrare in loc vs iloc: basta iloc.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Disegnare la riga di caselle con la lavagna di Zoom (Condividi → Lavagna) con i tagli. Funziona uguale per liste, testi ("Milano"[0:3] = "Mil") e righe di un DataFrame con iloc. Il numero tra parentesi quadre senza i due punti è invece una casella: x[2] è la terza.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passo serve raramente con i DataFrame (df.iloc[::100] per vedere una riga ogni 100 è il caso tipico), ma [::-1] per invertire è un classico che troveranno ovunque.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tabella nella slide è semplificata (colonne scelte per chiarezza). Dal vivo: aprire imprese.xlsx in Excel o Google Sheets accanto a Colab, selezionare A2:C6, poi eseguire df.iloc[0:5, 0:3]: sono le stesse celle. Con i tagli della slide precedente: il taglio 0 sta sotto l'intestazione, il taglio 5 dopo la quinta riga di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Concetto astratto, tenerlo leggero. In Colab: scrivere df. e premere Tab per vedere tutto quello che si può chiedere.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aprire la pagina della documentazione dei DataFrame, mostrare l'elenco dei metodi, cliccarne uno (head) e far vedere la struttura: parametri, cosa restituisce, esempi in fondo. Gli esempi in fondo sono la parte più utile.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serve memorizzare i comandi: serve ricordarsi le domande. I comandi si cercano.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Durante il task: segnarsi chi trova i problemi e come. Molti al passo 7 vedranno 'n.d.' come massimo e non si faranno domande: è il punto del debrief.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Partire dalla domanda finale: far dire alla classe le tre cose che non convincono.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messaggio: il primo strumento di verifica è il buon senso. Sapere quanti dati ti aspetti.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messaggio di errore esatto cambia con la versione di pandas: in Colab può dire 'Could not convert ... to numeric'. Mostrare quello che hanno ottenuto loro.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Chiedere: quante imprese lombarde ci sono davvero? Non lo sappiamo finché non puliamo. Anticipa L3 e L5 (merge).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 sono anche valori mancanti e date in due formati: se qualcuno li ha notati, bene; altrimenti li scopriamo nella L3.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lezioni Kaggle: Creating, Reading and Writing; Indexing, Selecting &amp; Assigning.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F4C06E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zione">
    <p:bg>
      <p:bgPr>
        <a:solidFill>
          <a:srgbClr val="1F2A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B8C4CB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t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0F4C5C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F7B"/>
                </a:solidFill>
              </a:rPr>
              <a:t>SIMA 2026 · L2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Conosci il tuo dataset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L2 · Informatica per economisti · SIMA 2026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Oggi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Spiegazione e demo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Librerie, DataFrame, metodi e attributi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0F4C5C"/>
          </a:solidFill>
          <a:ln/>
        </p:spPr>
      </p:sp>
      <p:sp>
        <p:nvSpPr>
          <p:cNvPr id="10" name="Shape 8"/>
          <p:cNvSpPr/>
          <p:nvPr/>
        </p:nvSpPr>
        <p:spPr>
          <a:xfrm>
            <a:off x="466344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2</a:t>
            </a:r>
            <a:endParaRPr lang="en-US" sz="208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Task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C06E"/>
                </a:solidFill>
              </a:rPr>
              <a:t>60 min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Esplorare imprese.xlsx, a piccoli passi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138160" y="1828800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EEF3F4"/>
          </a:solidFill>
          <a:ln/>
        </p:spPr>
      </p:sp>
      <p:sp>
        <p:nvSpPr>
          <p:cNvPr id="16" name="Shape 14"/>
          <p:cNvSpPr/>
          <p:nvPr/>
        </p:nvSpPr>
        <p:spPr>
          <a:xfrm>
            <a:off x="8458200" y="2148840"/>
            <a:ext cx="731520" cy="731520"/>
          </a:xfrm>
          <a:prstGeom prst="ellipse">
            <a:avLst/>
          </a:prstGeom>
          <a:solidFill>
            <a:srgbClr val="E09F3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58200" y="21488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1F2A30"/>
                </a:solidFill>
              </a:rPr>
              <a:t>3</a:t>
            </a:r>
            <a:endParaRPr lang="en-US" sz="2080" dirty="0"/>
          </a:p>
        </p:txBody>
      </p:sp>
      <p:sp>
        <p:nvSpPr>
          <p:cNvPr id="18" name="Text 16"/>
          <p:cNvSpPr txBox="1"/>
          <p:nvPr/>
        </p:nvSpPr>
        <p:spPr>
          <a:xfrm>
            <a:off x="8458200" y="31546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30"/>
                </a:solidFill>
              </a:rPr>
              <a:t>Debrief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8458200" y="37033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5308"/>
                </a:solidFill>
              </a:rPr>
              <a:t>25 min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42519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A30"/>
                </a:solidFill>
              </a:rPr>
              <a:t>Cosa non torna nel dataset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Da Excel a Python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In Excel il file lo apri e lo guardi.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dirty="0">
                <a:solidFill>
                  <a:srgbClr val="1F2A30"/>
                </a:solidFill>
              </a:rPr>
              <a:t>In Python lo carichi in una variabile e gli fai domande.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0F4C5C"/>
                </a:solidFill>
              </a:rPr>
              <a:t>Il file originale non viene mai modificato.</a:t>
            </a:r>
            <a:endParaRPr lang="en-US" sz="2200" dirty="0"/>
          </a:p>
        </p:txBody>
      </p:sp>
      <p:sp>
        <p:nvSpPr>
          <p:cNvPr id="4" name="card-code"/>
          <p:cNvSpPr/>
          <p:nvPr/>
        </p:nvSpPr>
        <p:spPr>
          <a:xfrm>
            <a:off x="6035040" y="1737360"/>
            <a:ext cx="5577840" cy="2011680"/>
          </a:xfrm>
          <a:prstGeom prst="roundRect">
            <a:avLst>
              <a:gd name="adj" fmla="val 5455"/>
            </a:avLst>
          </a:prstGeom>
          <a:solidFill>
            <a:srgbClr val="1F2A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636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19456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pd.read_excel(url)</a:t>
            </a:r>
            <a:endParaRPr lang="en-US" sz="2000" dirty="0"/>
          </a:p>
        </p:txBody>
      </p:sp>
      <p:sp>
        <p:nvSpPr>
          <p:cNvPr id="7" name="card-out"/>
          <p:cNvSpPr/>
          <p:nvPr/>
        </p:nvSpPr>
        <p:spPr>
          <a:xfrm>
            <a:off x="6035040" y="4023360"/>
            <a:ext cx="5577840" cy="1463040"/>
          </a:xfrm>
          <a:prstGeom prst="roundRect">
            <a:avLst>
              <a:gd name="adj" fmla="val 7500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6364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448056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(nessun output: il file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ora è nella variabile df)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librerie: attrezzi già pronti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217" y="2008937"/>
            <a:ext cx="462686" cy="46268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Tabelle: leggere, filtrare, riassumere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34340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4977" y="2008937"/>
            <a:ext cx="462686" cy="46268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34340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matplotlib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434340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Grafici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8138160" y="1737360"/>
            <a:ext cx="1005840" cy="1005840"/>
          </a:xfrm>
          <a:prstGeom prst="ellipse">
            <a:avLst/>
          </a:prstGeom>
          <a:solidFill>
            <a:srgbClr val="EEF3F4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9737" y="2008937"/>
            <a:ext cx="462686" cy="46268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138160" y="29260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statsmodels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8138160" y="34290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Statistica ed econometria</a:t>
            </a:r>
            <a:endParaRPr lang="en-US" sz="1600" dirty="0"/>
          </a:p>
        </p:txBody>
      </p:sp>
      <p:sp>
        <p:nvSpPr>
          <p:cNvPr id="15" name="card-code"/>
          <p:cNvSpPr/>
          <p:nvPr/>
        </p:nvSpPr>
        <p:spPr>
          <a:xfrm>
            <a:off x="548640" y="4480560"/>
            <a:ext cx="6035040" cy="1371600"/>
          </a:xfrm>
          <a:prstGeom prst="roundRect">
            <a:avLst>
              <a:gd name="adj" fmla="val 8000"/>
            </a:avLst>
          </a:prstGeom>
          <a:solidFill>
            <a:srgbClr val="1F2A30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777240" y="4617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777240" y="4937760"/>
            <a:ext cx="5577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6949440" y="448056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prende la libreria; </a:t>
            </a:r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 pd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le dà un nome corto.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 DataFrame</a:t>
            </a:r>
            <a:endParaRPr lang="en-US" sz="3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645920"/>
                <a:gridCol w="2377440"/>
                <a:gridCol w="1097280"/>
                <a:gridCol w="1280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id_impresa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regione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anno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addetti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2019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IMP0001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Emilia-Romagna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A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91440" marB="9144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955280" y="1828800"/>
            <a:ext cx="3657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Una tabella, come un foglio Excel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Ogni riga è un'osservazione: un'impresa in un anno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Ogni colonna ha un nome e un tipo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A sinistra l'indice: il numero della riga, parte da 0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4754880"/>
            <a:ext cx="69494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77240" y="4892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212080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df["regione"]    # una colonna sola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liste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6766560" cy="2926080"/>
          </a:xfrm>
          <a:prstGeom prst="roundRect">
            <a:avLst>
              <a:gd name="adj" fmla="val 3750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63093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regioni = ["Lombardia", "Lazio", "Sicilia"]</a:t>
            </a: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len(regioni)        # 3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regioni[0]          # "Lombardia"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regioni[-1]         # "Sicilia"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regioni.append("Puglia")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680960" y="1828800"/>
            <a:ext cx="39319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Una sequenza di valori tra parentesi quadre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Si conta da 0, come in tutto Python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F2A30"/>
                </a:solidFill>
              </a:rPr>
              <a:t>Lo slicing funziona come sul testo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rgbClr val="0F4C5C"/>
                </a:solidFill>
              </a:rPr>
              <a:t>Più colonne di una tabella? Una lista di nomi.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Selezionare righe e colonne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df["regione"]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675120" y="164592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una colonna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60604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df[["regione", "anno"]]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26060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più colonne: una lista, doppie parentesi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56616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356616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df.iloc[0:5]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675120" y="356616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righe per posizione: 0, 1, 2, 3, 4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40" y="4526280"/>
            <a:ext cx="5852160" cy="777240"/>
          </a:xfrm>
          <a:prstGeom prst="roundRect">
            <a:avLst>
              <a:gd name="adj" fmla="val 11765"/>
            </a:avLst>
          </a:prstGeom>
          <a:solidFill>
            <a:srgbClr val="1F2A3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452628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df[df["anno"] == 2020]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0" y="45262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2A30"/>
                </a:solidFill>
              </a:rPr>
              <a:t>righe che rispettano una condizione: == chiede «è uguale?»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48640" y="553212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EEF3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</a:rPr>
              <a:t>Attenzione  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in </a:t>
            </a:r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0:5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il primo numero è incluso, il secondo escluso. E si parte da 0.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Slicing: dove cadono i tagli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-6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8288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288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8288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-5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432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-4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0" y="2331720"/>
            <a:ext cx="914400" cy="822960"/>
          </a:xfrm>
          <a:prstGeom prst="rect">
            <a:avLst/>
          </a:prstGeom>
          <a:solidFill>
            <a:srgbClr val="FBE3B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576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6576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0" y="2331720"/>
            <a:ext cx="914400" cy="822960"/>
          </a:xfrm>
          <a:prstGeom prst="rect">
            <a:avLst/>
          </a:prstGeom>
          <a:solidFill>
            <a:srgbClr val="EEF3F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0" y="23317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0" y="32278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0" y="353872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144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0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828800" y="1920240"/>
            <a:ext cx="0" cy="1234440"/>
          </a:xfrm>
          <a:prstGeom prst="line">
            <a:avLst/>
          </a:prstGeom>
          <a:noFill/>
          <a:ln w="38100">
            <a:solidFill>
              <a:srgbClr val="8F530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5544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27432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4688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36576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3832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72000" y="1920240"/>
            <a:ext cx="0" cy="1234440"/>
          </a:xfrm>
          <a:prstGeom prst="line">
            <a:avLst/>
          </a:prstGeom>
          <a:noFill/>
          <a:ln w="38100">
            <a:solidFill>
              <a:srgbClr val="8F530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2976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4864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120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0" y="1920240"/>
            <a:ext cx="0" cy="1234440"/>
          </a:xfrm>
          <a:prstGeom prst="line">
            <a:avLst/>
          </a:prstGeom>
          <a:noFill/>
          <a:ln w="15875">
            <a:solidFill>
              <a:srgbClr val="B8C4CB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126480" y="15544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6537960" y="15544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tagli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37960" y="322783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posizione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37960" y="353872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F7B"/>
                </a:solidFill>
              </a:rPr>
              <a:t>dalla fine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914400" y="44348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x[1:4]</a:t>
            </a:r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</a:rPr>
              <a:t>  →  B C D: si taglia al 1 e al 4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7863840" y="1691640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8092440" y="176479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x[:3]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 B C</a:t>
            </a:r>
            <a:endParaRPr lang="en-US" sz="1700" dirty="0"/>
          </a:p>
        </p:txBody>
      </p:sp>
      <p:sp>
        <p:nvSpPr>
          <p:cNvPr id="47" name="Text 45"/>
          <p:cNvSpPr txBox="1"/>
          <p:nvPr/>
        </p:nvSpPr>
        <p:spPr>
          <a:xfrm>
            <a:off x="8092440" y="21488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dall'inizio al taglio 3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7863840" y="2715768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092440" y="27889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x[3:]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 E F</a:t>
            </a:r>
            <a:endParaRPr lang="en-US" sz="1700" dirty="0"/>
          </a:p>
        </p:txBody>
      </p:sp>
      <p:sp>
        <p:nvSpPr>
          <p:cNvPr id="50" name="Text 48"/>
          <p:cNvSpPr txBox="1"/>
          <p:nvPr/>
        </p:nvSpPr>
        <p:spPr>
          <a:xfrm>
            <a:off x="8092440" y="317296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dal taglio 3 alla fine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7863840" y="3739896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8092440" y="381304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x[-2:]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 F</a:t>
            </a:r>
            <a:endParaRPr lang="en-US" sz="1700" dirty="0"/>
          </a:p>
        </p:txBody>
      </p:sp>
      <p:sp>
        <p:nvSpPr>
          <p:cNvPr id="53" name="Text 51"/>
          <p:cNvSpPr txBox="1"/>
          <p:nvPr/>
        </p:nvSpPr>
        <p:spPr>
          <a:xfrm>
            <a:off x="8092440" y="419709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gli ultimi 2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7863840" y="4764024"/>
            <a:ext cx="3749040" cy="868680"/>
          </a:xfrm>
          <a:prstGeom prst="roundRect">
            <a:avLst>
              <a:gd name="adj" fmla="val 10526"/>
            </a:avLst>
          </a:prstGeom>
          <a:solidFill>
            <a:srgbClr val="EEF3F4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092440" y="483717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x[2]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</a:t>
            </a:r>
            <a:endParaRPr lang="en-US" sz="1700" dirty="0"/>
          </a:p>
        </p:txBody>
      </p:sp>
      <p:sp>
        <p:nvSpPr>
          <p:cNvPr id="56" name="Text 54"/>
          <p:cNvSpPr txBox="1"/>
          <p:nvPr/>
        </p:nvSpPr>
        <p:spPr>
          <a:xfrm>
            <a:off x="8092440" y="522122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F7B"/>
                </a:solidFill>
              </a:rPr>
              <a:t>un elemento solo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4C5C"/>
                </a:solidFill>
              </a:rPr>
              <a:t>I numeri dello slicing non indicano le caselle, ma i tagli tra una casella e l'altra. Così fine − inizio = quanti elementi ottieni.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Omissioni e passo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002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</a:rPr>
              <a:t>Omettere inizio o fine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217920" y="16002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4C5C"/>
                </a:solidFill>
              </a:rPr>
              <a:t>Il terzo numero: il passo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7B"/>
                </a:solidFill>
              </a:rPr>
              <a:t>Se manca l'inizio si parte da 0; se manca la fine si arriva in fondo.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0574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F7B"/>
                </a:solidFill>
              </a:rPr>
              <a:t>[inizio:fine:passo]  —  ogni quante caselle prenderne una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74320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x[:3] </a:t>
            </a:r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x[0:3]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114800" y="274320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C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61188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77240" y="361188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x[3:] </a:t>
            </a:r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x[3:6]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361188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 E F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448056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77240" y="448056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x[:]  </a:t>
            </a:r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x[0:6]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114800" y="448056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tutto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17920" y="274320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46520" y="274320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x[::2]</a:t>
            </a:r>
            <a:pPr indent="0" marL="0">
              <a:buNone/>
            </a:pP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9784080" y="274320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C E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17920" y="361188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46520" y="361188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x[1::2]</a:t>
            </a:r>
            <a:pPr indent="0" marL="0">
              <a:buNone/>
            </a:pP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784080" y="361188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D F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217920" y="4480560"/>
            <a:ext cx="5394960" cy="713232"/>
          </a:xfrm>
          <a:prstGeom prst="roundRect">
            <a:avLst>
              <a:gd name="adj" fmla="val 12821"/>
            </a:avLst>
          </a:prstGeom>
          <a:solidFill>
            <a:srgbClr val="EEF3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46520" y="4480560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x[::-1]</a:t>
            </a:r>
            <a:pPr indent="0" marL="0">
              <a:buNone/>
            </a:pP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9784080" y="4480560"/>
            <a:ext cx="1691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E D C B A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4864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</a:t>
            </a:r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 C D E F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    Con il passo negativo si va all'indietro: </a:t>
            </a:r>
            <a:pPr indent="0" marL="0">
              <a:buNone/>
            </a:pPr>
            <a:r>
              <a:rPr lang="en-US" sz="17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[::-1]</a:t>
            </a:r>
            <a:pPr indent="0" marL="0">
              <a:buNone/>
            </a:pPr>
            <a:r>
              <a:rPr lang="en-US" sz="1700" dirty="0">
                <a:solidFill>
                  <a:srgbClr val="1F2A30"/>
                </a:solidFill>
              </a:rPr>
              <a:t> inverte.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iloc è come un intervallo di Excel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9164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6012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92024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92024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B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88036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8036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840480" y="1691640"/>
            <a:ext cx="96012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840480" y="169164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112264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112264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012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impresa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2024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92024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anno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88036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88036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addetti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840480" y="211226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840480" y="211226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regione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2532888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2532888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2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012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012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92024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92024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2019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880360" y="2532888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88036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840480" y="253288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840480" y="253288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2953512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2953512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3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6012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6012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92024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192024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2020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2880360" y="2953512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88036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840480" y="2953512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3840480" y="2953512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48640" y="3374136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3374136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4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96012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6012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92024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92024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2021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2880360" y="3374136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88036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3840480" y="3374136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840480" y="3374136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48640" y="3794760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48640" y="3794760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5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96012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6012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192024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192024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2880360" y="3794760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88036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3840480" y="3794760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840480" y="3794760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48640" y="4215384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48640" y="4215384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6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96012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6012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IMP0001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192024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192024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2023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2880360" y="4215384"/>
            <a:ext cx="960120" cy="420624"/>
          </a:xfrm>
          <a:prstGeom prst="rect">
            <a:avLst/>
          </a:prstGeom>
          <a:solidFill>
            <a:srgbClr val="FBE3B8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288036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3840480" y="4215384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3840480" y="4215384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Emilia-R.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548640" y="4636008"/>
            <a:ext cx="411480" cy="420624"/>
          </a:xfrm>
          <a:prstGeom prst="rect">
            <a:avLst/>
          </a:prstGeom>
          <a:solidFill>
            <a:srgbClr val="DDE3E6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4" name="Text 72"/>
          <p:cNvSpPr txBox="1"/>
          <p:nvPr/>
        </p:nvSpPr>
        <p:spPr>
          <a:xfrm>
            <a:off x="548640" y="4636008"/>
            <a:ext cx="41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A30"/>
                </a:solidFill>
              </a:rPr>
              <a:t>7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96012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96012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IMP0002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192024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192024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2019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288036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0" name="Text 78"/>
          <p:cNvSpPr txBox="1"/>
          <p:nvPr/>
        </p:nvSpPr>
        <p:spPr>
          <a:xfrm>
            <a:off x="288036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3840480" y="4636008"/>
            <a:ext cx="960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9D2D6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3840480" y="463600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Lazio</a:t>
            </a:r>
            <a:endParaRPr lang="en-US" sz="1100" dirty="0"/>
          </a:p>
        </p:txBody>
      </p:sp>
      <p:sp>
        <p:nvSpPr>
          <p:cNvPr id="83" name="Text 81"/>
          <p:cNvSpPr txBox="1"/>
          <p:nvPr/>
        </p:nvSpPr>
        <p:spPr>
          <a:xfrm>
            <a:off x="548640" y="51937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30"/>
                </a:solidFill>
              </a:rPr>
              <a:t>Excel  </a:t>
            </a:r>
            <a:pPr indent="0" marL="0">
              <a:buNone/>
            </a:pPr>
            <a:r>
              <a:rPr lang="en-US" sz="1800" b="1" dirty="0">
                <a:solidFill>
                  <a:srgbClr val="8F530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A2:C6</a:t>
            </a:r>
            <a:endParaRPr lang="en-US" sz="1800" dirty="0"/>
          </a:p>
        </p:txBody>
      </p:sp>
      <p:sp>
        <p:nvSpPr>
          <p:cNvPr id="84" name="card-code"/>
          <p:cNvSpPr/>
          <p:nvPr/>
        </p:nvSpPr>
        <p:spPr>
          <a:xfrm>
            <a:off x="5577840" y="1691640"/>
            <a:ext cx="60350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5806440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86" name="Text 84"/>
          <p:cNvSpPr txBox="1"/>
          <p:nvPr/>
        </p:nvSpPr>
        <p:spPr>
          <a:xfrm>
            <a:off x="5806440" y="2148840"/>
            <a:ext cx="5577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df.iloc[0:5, 0:3]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3063240"/>
          <a:ext cx="60350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94560"/>
                <a:gridCol w="17373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Excel</a:t>
                      </a: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iloc</a:t>
                      </a:r>
                      <a:endParaRPr lang="en-US" sz="15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F4C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Prima riga di dati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2 (la 1 è l'intestazione)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Fine dell'intervallo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inclusa (C6 c'è)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esclusa (5 non c'è)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Colonne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lettere: A, B, C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numeri: 0, 1, 2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0"/>
                          </a:solidFill>
                        </a:rPr>
                        <a:t>Prima righe, poi colonne?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no: A2 = colonna, riga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0"/>
                          </a:solidFill>
                        </a:rPr>
                        <a:t>sì: [righe, colonne]</a:t>
                      </a:r>
                      <a:endParaRPr lang="en-US" sz="1400" dirty="0"/>
                    </a:p>
                  </a:txBody>
                  <a:tcPr marL="73152" marR="73152" marT="73152" marB="73152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4"/>
                    </a:solidFill>
                  </a:tcPr>
                </a:tc>
              </a:tr>
            </a:tbl>
          </a:graphicData>
        </a:graphic>
      </p:graphicFrame>
      <p:sp>
        <p:nvSpPr>
          <p:cNvPr id="88" name="Text 85"/>
          <p:cNvSpPr txBox="1"/>
          <p:nvPr/>
        </p:nvSpPr>
        <p:spPr>
          <a:xfrm>
            <a:off x="5577840" y="557784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4C5C"/>
                </a:solidFill>
              </a:rPr>
              <a:t>Stesse celle: cambiano solo i numeri.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Fare domande a un oggetto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4592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</a:rPr>
              <a:t>Metodo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031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un'azione: ha le parentesi</a:t>
            </a:r>
            <a:endParaRPr lang="en-US" sz="1800" dirty="0"/>
          </a:p>
        </p:txBody>
      </p:sp>
      <p:sp>
        <p:nvSpPr>
          <p:cNvPr id="5" name="card-code"/>
          <p:cNvSpPr/>
          <p:nvPr/>
        </p:nvSpPr>
        <p:spPr>
          <a:xfrm>
            <a:off x="54864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546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df.head(3)</a:t>
            </a:r>
            <a:endParaRPr lang="en-US" sz="2200" dirty="0"/>
          </a:p>
        </p:txBody>
      </p:sp>
      <p:sp>
        <p:nvSpPr>
          <p:cNvPr id="8" name="card-out"/>
          <p:cNvSpPr/>
          <p:nvPr/>
        </p:nvSpPr>
        <p:spPr>
          <a:xfrm>
            <a:off x="548640" y="40690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EEF3F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262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prime 3 righe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64592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</a:rPr>
              <a:t>Attributo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103120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F7B"/>
                </a:solidFill>
              </a:rPr>
              <a:t>un'informazione: niente parentesi</a:t>
            </a:r>
            <a:endParaRPr lang="en-US" sz="1800" dirty="0"/>
          </a:p>
        </p:txBody>
      </p:sp>
      <p:sp>
        <p:nvSpPr>
          <p:cNvPr id="13" name="card-code"/>
          <p:cNvSpPr/>
          <p:nvPr/>
        </p:nvSpPr>
        <p:spPr>
          <a:xfrm>
            <a:off x="6263640" y="26974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1F2A3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9224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1546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2200" dirty="0"/>
          </a:p>
        </p:txBody>
      </p:sp>
      <p:sp>
        <p:nvSpPr>
          <p:cNvPr id="16" name="card-out"/>
          <p:cNvSpPr/>
          <p:nvPr/>
        </p:nvSpPr>
        <p:spPr>
          <a:xfrm>
            <a:off x="6263640" y="406908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4206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526280"/>
            <a:ext cx="4892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(2515, 9)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df è un oggetto: dati, più tutte le cose che puoi chiedergli. Il punto le collega.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Come scoprire cosa sa fare un oggetto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6868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30428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 + Tab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In Colab: l'elenco di tutto quello che puoi chiedere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34340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466344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0328" y="230428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6344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help(df.head)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66344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La spiegazione di un metodo, con esempi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8138160" y="1737360"/>
            <a:ext cx="347472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458200" y="205740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5088" y="230428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458200" y="32004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La documentazione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458200" y="37490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pandas.pydata.org → API reference → DataFrame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Nessuno conosce tutti i metodi. Si cercano, ogni giorno, anche dopo anni.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Le domande da fare sempre a un dataset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1</a:t>
            </a:r>
            <a:endParaRPr lang="en-US" sz="208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Quanto è grande?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7"/>
          <p:cNvSpPr/>
          <p:nvPr/>
        </p:nvSpPr>
        <p:spPr>
          <a:xfrm>
            <a:off x="6446520" y="21945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46520" y="2194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2</a:t>
            </a:r>
            <a:endParaRPr lang="en-US" sz="2080" dirty="0"/>
          </a:p>
        </p:txBody>
      </p:sp>
      <p:sp>
        <p:nvSpPr>
          <p:cNvPr id="11" name="Text 9"/>
          <p:cNvSpPr txBox="1"/>
          <p:nvPr/>
        </p:nvSpPr>
        <p:spPr>
          <a:xfrm>
            <a:off x="7452360" y="20574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Di che tipo sono le colonne?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6060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df.dtypes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822960" y="4114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3</a:t>
            </a:r>
            <a:endParaRPr lang="en-US" sz="2080" dirty="0"/>
          </a:p>
        </p:txBody>
      </p:sp>
      <p:sp>
        <p:nvSpPr>
          <p:cNvPr id="16" name="Text 14"/>
          <p:cNvSpPr txBox="1"/>
          <p:nvPr/>
        </p:nvSpPr>
        <p:spPr>
          <a:xfrm>
            <a:off x="1828800" y="39776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Quanti valori diversi?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df["col"].nunique()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7"/>
          <p:cNvSpPr/>
          <p:nvPr/>
        </p:nvSpPr>
        <p:spPr>
          <a:xfrm>
            <a:off x="6446520" y="411480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46520" y="4114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80" b="1" dirty="0">
                <a:solidFill>
                  <a:srgbClr val="0F4C5C"/>
                </a:solidFill>
              </a:rPr>
              <a:t>4</a:t>
            </a:r>
            <a:endParaRPr lang="en-US" sz="208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397764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A30"/>
                </a:solidFill>
              </a:rPr>
              <a:t>Quali valori, e quante volte?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745236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4C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df["col"].value_counts()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Prima di qualunque analisi. Sempre.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Task: conosci il tuo dataset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Un collega ti manda imprese.xlsx. Ti puoi fidare?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60 minuti · apri il notebook dal README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Debrief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B8C4CB"/>
                </a:solidFill>
              </a:rPr>
              <a:t>Cosa non torna nel dataset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 conti non tornano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0116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0F4C5C"/>
                </a:solidFill>
              </a:rPr>
              <a:t>2.500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291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C5C"/>
                </a:solidFill>
              </a:rPr>
              <a:t>righe attese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794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 imprese × 5 anni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480560" y="1737360"/>
            <a:ext cx="3657600" cy="3108960"/>
          </a:xfrm>
          <a:prstGeom prst="roundRect">
            <a:avLst>
              <a:gd name="adj" fmla="val 3529"/>
            </a:avLst>
          </a:prstGeom>
          <a:solidFill>
            <a:srgbClr val="0F4C5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46320" y="201168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</a:rPr>
              <a:t>2.515</a:t>
            </a:r>
            <a:endParaRPr lang="en-US" sz="64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32918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righe nel file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37947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8C4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1828800"/>
            <a:ext cx="3108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9E2A2B"/>
                </a:solidFill>
              </a:rPr>
              <a:t>15 righe in più.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Probabilmente duplicati: la stessa impresa, lo stesso anno, due volte.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Un controllo da fare a mente, in 10 secondi. Nessun codice lo fa per te.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Il fatturato è testo</a:t>
            </a:r>
            <a:endParaRPr lang="en-US" sz="3600" dirty="0"/>
          </a:p>
        </p:txBody>
      </p:sp>
      <p:sp>
        <p:nvSpPr>
          <p:cNvPr id="3" name="card-code"/>
          <p:cNvSpPr/>
          <p:nvPr/>
        </p:nvSpPr>
        <p:spPr>
          <a:xfrm>
            <a:off x="548640" y="1737360"/>
            <a:ext cx="5577840" cy="1005840"/>
          </a:xfrm>
          <a:prstGeom prst="roundRect">
            <a:avLst>
              <a:gd name="adj" fmla="val 10909"/>
            </a:avLst>
          </a:prstGeom>
          <a:solidFill>
            <a:srgbClr val="1F2A3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df["fatturato"].mean()</a:t>
            </a:r>
            <a:endParaRPr lang="en-US" sz="1800" dirty="0"/>
          </a:p>
        </p:txBody>
      </p:sp>
      <p:sp>
        <p:nvSpPr>
          <p:cNvPr id="6" name="card-err"/>
          <p:cNvSpPr/>
          <p:nvPr/>
        </p:nvSpPr>
        <p:spPr>
          <a:xfrm>
            <a:off x="548640" y="2880360"/>
            <a:ext cx="5577840" cy="1097280"/>
          </a:xfrm>
          <a:prstGeom prst="roundRect">
            <a:avLst>
              <a:gd name="adj" fmla="val 10000"/>
            </a:avLst>
          </a:prstGeom>
          <a:solidFill>
            <a:srgbClr val="FBEAE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3017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</a:rPr>
              <a:t>ERRORE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37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TypeError: ... string ...</a:t>
            </a:r>
            <a:endParaRPr lang="en-US" sz="1800" dirty="0"/>
          </a:p>
        </p:txBody>
      </p:sp>
      <p:sp>
        <p:nvSpPr>
          <p:cNvPr id="9" name="card-code"/>
          <p:cNvSpPr/>
          <p:nvPr/>
        </p:nvSpPr>
        <p:spPr>
          <a:xfrm>
            <a:off x="548640" y="4160520"/>
            <a:ext cx="5577840" cy="1005840"/>
          </a:xfrm>
          <a:prstGeom prst="roundRect">
            <a:avLst>
              <a:gd name="adj" fmla="val 10909"/>
            </a:avLst>
          </a:prstGeom>
          <a:solidFill>
            <a:srgbClr val="1F2A3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" y="4297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9F3E"/>
                </a:solidFill>
              </a:rPr>
              <a:t>PYTHON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61772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df["fatturato"].max()</a:t>
            </a:r>
            <a:endParaRPr lang="en-US" sz="1800" dirty="0"/>
          </a:p>
        </p:txBody>
      </p:sp>
      <p:sp>
        <p:nvSpPr>
          <p:cNvPr id="12" name="card-out"/>
          <p:cNvSpPr/>
          <p:nvPr/>
        </p:nvSpPr>
        <p:spPr>
          <a:xfrm>
            <a:off x="548640" y="5303520"/>
            <a:ext cx="5577840" cy="914400"/>
          </a:xfrm>
          <a:prstGeom prst="roundRect">
            <a:avLst>
              <a:gd name="adj" fmla="val 12000"/>
            </a:avLst>
          </a:prstGeom>
          <a:solidFill>
            <a:srgbClr val="EEF3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5440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7607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'n.d.'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675120" y="173736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9E2A2B"/>
                </a:solidFill>
              </a:rPr>
              <a:t>La media si ferma con un errore. Il massimo no.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200400"/>
            <a:ext cx="4937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Il massimo di un testo è in ordine alfabetico: «n» viene dopo le cifre.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1F2A30"/>
                </a:solidFill>
              </a:rPr>
              <a:t>Perché è testo? Il file usa la virgola decimale italiana (1.032,9) e contiene "n.d.".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0F4C5C"/>
                </a:solidFill>
              </a:rPr>
              <a:t>È la trappola "5000" * 2 della L1, su un file vero.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Lombardia non è lombardia</a:t>
            </a:r>
            <a:endParaRPr lang="en-US" sz="3600" dirty="0"/>
          </a:p>
        </p:txBody>
      </p:sp>
      <p:sp>
        <p:nvSpPr>
          <p:cNvPr id="3" name="card-out"/>
          <p:cNvSpPr/>
          <p:nvPr/>
        </p:nvSpPr>
        <p:spPr>
          <a:xfrm>
            <a:off x="548640" y="1737360"/>
            <a:ext cx="5577840" cy="3657600"/>
          </a:xfrm>
          <a:prstGeom prst="roundRect">
            <a:avLst>
              <a:gd name="adj" fmla="val 3000"/>
            </a:avLst>
          </a:prstGeom>
          <a:solidFill>
            <a:srgbClr val="EEF3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C6F7B"/>
                </a:solidFill>
              </a:rPr>
              <a:t>OUTPUT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94560"/>
            <a:ext cx="51206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Lombardia      302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lombardia       35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Lombardia       30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LOMBARDIA       30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Emilia-Romagna 147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Emilia Romagna  46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675120" y="182880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Per Python sono valori diversi: maiuscole, spazi finali, trattini.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A30"/>
                </a:solidFill>
              </a:rPr>
              <a:t>Le due «Lombardia» uguali? Una ha uno spazio alla fine: non si vede, ma c'è.</a:t>
            </a:r>
            <a:endParaRPr lang="en-US" sz="19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900" b="1" dirty="0">
                <a:solidFill>
                  <a:srgbClr val="9E2A2B"/>
                </a:solidFill>
              </a:rPr>
              <a:t>Se raggruppi per regione così com'è, la Lombardia viene spezzata in quattro.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4C5C"/>
                </a:solidFill>
              </a:rPr>
              <a:t>Cosa abbiamo trovato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350008"/>
            <a:ext cx="420624" cy="4206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01168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Fatturato come testo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20116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virgola decimale e "n.d."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9" name="Shape 6"/>
          <p:cNvSpPr/>
          <p:nvPr/>
        </p:nvSpPr>
        <p:spPr>
          <a:xfrm>
            <a:off x="6446520" y="210312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350008"/>
            <a:ext cx="420624" cy="4206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35240" y="21031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15 righe in più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63524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probabili duplicati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54864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4" name="Shape 10"/>
          <p:cNvSpPr/>
          <p:nvPr/>
        </p:nvSpPr>
        <p:spPr>
          <a:xfrm>
            <a:off x="82296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848" y="427024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01168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Regioni scritte male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201168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maiuscole, spazi, trattini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6172200" y="365760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EEF3F4"/>
          </a:solidFill>
          <a:ln/>
        </p:spPr>
      </p:sp>
      <p:sp>
        <p:nvSpPr>
          <p:cNvPr id="19" name="Shape 14"/>
          <p:cNvSpPr/>
          <p:nvPr/>
        </p:nvSpPr>
        <p:spPr>
          <a:xfrm>
            <a:off x="6446520" y="4023360"/>
            <a:ext cx="914400" cy="9144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270248"/>
            <a:ext cx="420624" cy="4206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635240" y="40233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A30"/>
                </a:solidFill>
              </a:rPr>
              <a:t>Addetti negativi</a:t>
            </a:r>
            <a:endParaRPr lang="en-US" sz="2200" dirty="0"/>
          </a:p>
        </p:txBody>
      </p:sp>
      <p:sp>
        <p:nvSpPr>
          <p:cNvPr id="22" name="Text 16"/>
          <p:cNvSpPr txBox="1"/>
          <p:nvPr/>
        </p:nvSpPr>
        <p:spPr>
          <a:xfrm>
            <a:off x="7635240" y="44805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C6F7B"/>
                </a:solidFill>
              </a:rPr>
              <a:t>-12: impossibile (bonus)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0F4C5C"/>
                </a:solidFill>
              </a:rPr>
              <a:t>Solo uno di questi problemi ha prodotto un errore. Gli altri erano silenziosi.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F7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Prossima volta: pulire i dati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490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F4C06E"/>
                </a:solidFill>
              </a:rPr>
              <a:t>Compito: Kaggle Learn – Pandas, prime due lezioni, ed esercizi C1-C2 del notebook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A 2026">
  <a:themeElements>
    <a:clrScheme name="SIMA 2026">
      <a:dk1>
        <a:srgbClr val="1F2A30"/>
      </a:dk1>
      <a:lt1>
        <a:srgbClr val="FFFFFF"/>
      </a:lt1>
      <a:dk2>
        <a:srgbClr val="0F4C5C"/>
      </a:dk2>
      <a:lt2>
        <a:srgbClr val="EEF3F4"/>
      </a:lt2>
      <a:accent1>
        <a:srgbClr val="E09F3E"/>
      </a:accent1>
      <a:accent2>
        <a:srgbClr val="0F4C5C"/>
      </a:accent2>
      <a:accent3>
        <a:srgbClr val="9E2A2B"/>
      </a:accent3>
      <a:accent4>
        <a:srgbClr val="3A7D44"/>
      </a:accent4>
      <a:accent5>
        <a:srgbClr val="5C6F7B"/>
      </a:accent5>
      <a:accent6>
        <a:srgbClr val="B8C4CB"/>
      </a:accent6>
      <a:hlink>
        <a:srgbClr val="0F4C5C"/>
      </a:hlink>
      <a:folHlink>
        <a:srgbClr val="5C6F7B"/>
      </a:folHlink>
    </a:clrScheme>
    <a:fontScheme name="SIMA 2026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L2 — Conosci il tuo dataset</dc:title>
  <dc:subject>PptxGenJS Presentation</dc:subject>
  <dc:creator>SIMA 2026</dc:creator>
  <cp:lastModifiedBy>SIMA 2026</cp:lastModifiedBy>
  <cp:revision>1</cp:revision>
  <dcterms:created xsi:type="dcterms:W3CDTF">2026-10-12T17:30:50Z</dcterms:created>
  <dcterms:modified xsi:type="dcterms:W3CDTF">2026-10-12T17:30:50Z</dcterms:modified>
</cp:coreProperties>
</file>