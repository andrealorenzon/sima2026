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a85fb9b-ec94-f837-9b0d-095679fb0caf}">
          <p14:sldIdLst>
            <p14:sldId id="256"/>
            <p14:sldId id="257"/>
          </p14:sldIdLst>
        </p14:section>
        <p14:section name="Spiegazione" id="{43a22243-a45f-7de9-23e5-e1251e7ea7e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ask" id="{2ac3e6a0-8c2e-e47f-c2d0-019485fb2ca9}">
          <p14:sldIdLst>
            <p14:sldId id="269"/>
          </p14:sldIdLst>
        </p14:section>
        <p14:section name="Debrief" id="{1236cd91-68a7-8805-06f5-405cf753bebc}">
          <p14:sldIdLst>
            <p14:sldId id="270"/>
            <p14:sldId id="271"/>
            <p14:sldId id="272"/>
            <p14:sldId id="273"/>
            <p14:sldId id="274"/>
          </p14:sldIdLst>
        </p14:section>
        <p14:section name="Chiusura" id="{f9702dbd-d790-68a3-10e3-b234f63cb1fb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Ripasso veloce della L1: variabili, tipi, la trappola "5000" * 2. Oggi lo stesso problema dei tipi torna fuori, ma su un file 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Stesso formato della L1.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caricare imprese.xlsx in Colab, poi df da solo in una cella per vedere la tabella. Sottolineare che df è una variabile come capitale nella L1, solo che contiene una tabella intera.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Nessuno scrive da zero il codice per leggere un Excel: qualcuno l'ha già fatto. Una libreria è codice di altri, pronto da usare. In Colab sono già installate.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nome df è una convenzione, non un obbligo. Far notare che l'indice parte da 0: domanda classica.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liste torneranno di continuo: più colonne (subito, nella prossima slide), i risultati di un ciclo e l'elenco dei file (L6). DEMO: regioni[0:2] e len dopo append.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slicing funziona così ovunque in Python: liste, testi, DataFrame. Domanda alla classe: come prendo le righe dalla 10 alla 19 comprese? (iloc[10:20]). Non entrare in loc vs iloc: basta iloc.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Disegnare alla lavagna la riga di caselle con i tagli. Funziona uguale per liste, testi ("Milano"[0:3] = "Mil") e righe di un DataFrame con iloc. Il numero tra parentesi quadre senza i due punti è invece una casella: x[2] è la terza.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passo serve raramente con i DataFrame (df.iloc[::100] per vedere una riga ogni 100 è il caso tipico), ma [::-1] per invertire è un classico che troveranno ovunque.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tabella nella slide è semplificata (colonne scelte per chiarezza). Dal vivo: aprire imprese.xlsx in Excel o Google Sheets accanto a Colab, selezionare A2:C6, poi eseguire df.iloc[0:5, 0:3]: sono le stesse celle. Con i tagli della slide precedente: il taglio 0 sta sotto l'intestazione, il taglio 5 dopo la quinta riga di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Concetto astratto, tenerlo leggero. In Colab: scrivere df. e premere Tab per vedere tutto quello che si può chiedere.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aprire la pagina della documentazione dei DataFrame, mostrare l'elenco dei metodi, cliccarne uno (head) e far vedere la struttura: parametri, cosa restituisce, esempi in fondo. Gli esempi in fondo sono la parte più 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serve memorizzare i comandi: serve ricordarsi le domande. I comandi si cercano.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il task: segnarsi chi trova i problemi e come. Molti al passo 7 vedranno 'n.d.' come massimo e non si faranno domande: è il punto del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Partire dalla domanda finale: far dire alla classe le tre cose che non convincono.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messaggio: il primo strumento di verifica è il buon senso. Sapere quanti dati ti aspetti.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 di errore esatto cambia con la versione di pandas: in Colab può dire 'Could not convert ... to numeric'. Mostrare quello che hanno ottenuto loro.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Chiedere: quante imprese lombarde ci sono davvero? Non lo sappiamo finché non puliamo. Anticipa L3 e L5 (merge).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sono anche valori mancanti e date in due formati: se qualcuno li ha notati, bene; altrimenti li scopriamo nella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lezioni Kaggle: Creating, Reading and Writing; Indexing, Selecting &amp; Assigning.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Conosci il tuo dataset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L2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Librerie, DataFrame, metodi e attributi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Esplorare imprese.xlsx,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Cosa non torna nel dataset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 Excel a Python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0"/>
                </a:solidFill>
              </a:rPr>
              <a:t>In Excel il file lo apri e lo guardi.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0"/>
                </a:solidFill>
              </a:rPr>
              <a:t>In Python lo carichi in una variabile e gli fai domande.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0F4C5C"/>
                </a:solidFill>
              </a:rPr>
              <a:t>Il file originale non viene mai modificato.</a:t>
            </a:r>
            <a:endParaRPr lang="en-US" sz="2200" dirty="0"/>
          </a:p>
        </p:txBody>
      </p:sp>
      <p:sp>
        <p:nvSpPr>
          <p:cNvPr id="4" name="card-code"/>
          <p:cNvSpPr/>
          <p:nvPr/>
        </p:nvSpPr>
        <p:spPr>
          <a:xfrm>
            <a:off x="6035040" y="173736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1F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1945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pd.read_excel(url)</a:t>
            </a:r>
            <a:endParaRPr lang="en-US" sz="2000" dirty="0"/>
          </a:p>
        </p:txBody>
      </p:sp>
      <p:sp>
        <p:nvSpPr>
          <p:cNvPr id="7" name="card-out"/>
          <p:cNvSpPr/>
          <p:nvPr/>
        </p:nvSpPr>
        <p:spPr>
          <a:xfrm>
            <a:off x="6035040" y="4023360"/>
            <a:ext cx="5577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4480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(nessun output: il file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 è nella variabile df)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librerie: attrezzi già pronti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2008937"/>
            <a:ext cx="462686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Tabelle: leggere, filtrare, riassumere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4340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200893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Grafici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3816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37" y="2008937"/>
            <a:ext cx="462686" cy="462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statsmodels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Statistica ed econometria</a:t>
            </a:r>
            <a:endParaRPr lang="en-US" sz="1600" dirty="0"/>
          </a:p>
        </p:txBody>
      </p:sp>
      <p:sp>
        <p:nvSpPr>
          <p:cNvPr id="15" name="card-code"/>
          <p:cNvSpPr/>
          <p:nvPr/>
        </p:nvSpPr>
        <p:spPr>
          <a:xfrm>
            <a:off x="548640" y="448056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9377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949440" y="4480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prende la libreria; </a:t>
            </a:r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pd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le dà un nome corto.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DataFrame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2377440"/>
                <a:gridCol w="10972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id_impresa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addetti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Emilia-Romagna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Emilia-Romagna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Emilia-Romagna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8288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Una tabella, come un foglio Excel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Ogni riga è un'osservazione: un'impresa in un anno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Ogni colonna ha un nome e un tipo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A sinistra l'indice: il numero della riga, parte da 0</a:t>
            </a:r>
            <a:endParaRPr lang="en-US" sz="1800" dirty="0"/>
          </a:p>
        </p:txBody>
      </p:sp>
      <p:sp>
        <p:nvSpPr>
          <p:cNvPr id="5" name="card-code"/>
          <p:cNvSpPr/>
          <p:nvPr/>
        </p:nvSpPr>
        <p:spPr>
          <a:xfrm>
            <a:off x="548640" y="4754880"/>
            <a:ext cx="69494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2120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df["regione"]    # una colonna sola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liste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766560" cy="2926080"/>
          </a:xfrm>
          <a:prstGeom prst="roundRect">
            <a:avLst>
              <a:gd name="adj" fmla="val 375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309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 = ["Lombardia", "Lazio", "Sicilia"]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len(regioni)        # 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regioni[0]          # "Lombardia"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regioni[-1]         # "Sicilia"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regioni.append("Puglia")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82880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Una sequenza di valori tra parentesi quadre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Si conta da 0, come in tutto Python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Lo slicing funziona come sul testo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0F4C5C"/>
                </a:solidFill>
              </a:rPr>
              <a:t>Più colonne di una tabella? Una lista di nomi.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Selezionare righe e colonne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df["regione"]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645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una colonna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df[["regione", "anno"]]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più colonne: una lista, doppie parentesi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66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df.iloc[0:5]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566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righe per posizione: 0, 1, 2, 3, 4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526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df[df["anno"] == 2020]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526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righe che rispettano una condizione: == chiede «è uguale?»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</a:rPr>
              <a:t>Attenzione  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in </a:t>
            </a:r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il primo numero è incluso, il secondo escluso. E si parte da 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Slicing: dove cadono i tagli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331720"/>
            <a:ext cx="914400" cy="822960"/>
          </a:xfrm>
          <a:prstGeom prst="rect">
            <a:avLst/>
          </a:prstGeom>
          <a:solidFill>
            <a:srgbClr val="EEF3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331720"/>
            <a:ext cx="914400" cy="822960"/>
          </a:xfrm>
          <a:prstGeom prst="rect">
            <a:avLst/>
          </a:prstGeom>
          <a:solidFill>
            <a:srgbClr val="FBE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331720"/>
            <a:ext cx="914400" cy="822960"/>
          </a:xfrm>
          <a:prstGeom prst="rect">
            <a:avLst/>
          </a:prstGeom>
          <a:solidFill>
            <a:srgbClr val="FBE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914400" cy="822960"/>
          </a:xfrm>
          <a:prstGeom prst="rect">
            <a:avLst/>
          </a:prstGeom>
          <a:solidFill>
            <a:srgbClr val="FBE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914400" cy="822960"/>
          </a:xfrm>
          <a:prstGeom prst="rect">
            <a:avLst/>
          </a:prstGeom>
          <a:solidFill>
            <a:srgbClr val="EEF3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331720"/>
            <a:ext cx="914400" cy="822960"/>
          </a:xfrm>
          <a:prstGeom prst="rect">
            <a:avLst/>
          </a:prstGeom>
          <a:solidFill>
            <a:srgbClr val="EEF3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28800" y="1920240"/>
            <a:ext cx="0" cy="1234440"/>
          </a:xfrm>
          <a:prstGeom prst="line">
            <a:avLst/>
          </a:prstGeom>
          <a:noFill/>
          <a:ln w="38100">
            <a:solidFill>
              <a:srgbClr val="8F530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544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0" y="1920240"/>
            <a:ext cx="0" cy="1234440"/>
          </a:xfrm>
          <a:prstGeom prst="line">
            <a:avLst/>
          </a:prstGeom>
          <a:noFill/>
          <a:ln w="38100">
            <a:solidFill>
              <a:srgbClr val="8F530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976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264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1554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tagli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3227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posizione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3538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dalla fine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4434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x[1:4]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 →  B C D: si taglia al 1 e al 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863840" y="169164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092440" y="1764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x[:3]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 B C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092440" y="2148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dall'inizio al taglio 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863840" y="2715768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092440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x[3:]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 E F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809244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dal taglio 3 alla fine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863840" y="3739896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092440" y="38130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x[-2:]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 F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8092440" y="41970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gli ultimi 2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863840" y="4764024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92440" y="4837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x[2]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8092440" y="52212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un elemento solo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4C5C"/>
                </a:solidFill>
              </a:rPr>
              <a:t>I numeri dello slicing non indicano le caselle, ma i tagli tra una casella e l'altra. Così fine − inizio = quanti elementi ottieni.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Omissioni e passo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Omettere inizio o fine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Il terzo numero: il passo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Se manca l'inizio si parte da 0; se manca la fine si arriva in fondo.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[inizio:fine:passo]  —  ogni quante caselle prenderne una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x[:3] </a:t>
            </a:r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x[0:3]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743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x[3:] </a:t>
            </a:r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x[3:6]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6118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805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x[:]  </a:t>
            </a:r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x[0:6]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4805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743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x[::2]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743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 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611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x[1::2]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6118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D F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448056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44805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x[::-1]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44805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E D C B 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E F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    Con il passo negativo si va all'indietro: </a:t>
            </a:r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[::-1]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 inverte.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iloc è come un intervallo di Excel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12264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122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impresa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2024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anno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036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addetti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regione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532888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53288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2532888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2532888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92024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80360" y="2532888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036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253288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2953512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95351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0120" y="2953512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2953512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92024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80360" y="2953512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8036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0" y="295351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4048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3374136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337413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0120" y="3374136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0240" y="3374136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2024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80360" y="3374136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8036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40480" y="33741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4048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3794760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379476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0120" y="3794760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012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920240" y="3794760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2024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80360" y="3794760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88036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840480" y="379476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4048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" y="4215384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421538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60120" y="4215384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6012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920240" y="4215384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92024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880360" y="4215384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88036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840480" y="421538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84048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48640" y="4636008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48640" y="463600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7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6012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6012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IMP0002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92024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92024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88036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88036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84048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84048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Lazio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548640" y="5193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Excel  </a:t>
            </a:r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A2:C6</a:t>
            </a:r>
            <a:endParaRPr lang="en-US" sz="1800" dirty="0"/>
          </a:p>
        </p:txBody>
      </p:sp>
      <p:sp>
        <p:nvSpPr>
          <p:cNvPr id="84" name="card-code"/>
          <p:cNvSpPr/>
          <p:nvPr/>
        </p:nvSpPr>
        <p:spPr>
          <a:xfrm>
            <a:off x="5577840" y="169164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58064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5806440" y="21488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df.iloc[0:5, 0:3]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06324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Excel</a:t>
                      </a:r>
                      <a:endParaRPr lang="en-US" sz="15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iloc</a:t>
                      </a:r>
                      <a:endParaRPr lang="en-US" sz="15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Prima riga di dati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2 (la 1 è l'intestazione)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Fine dell'intervallo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inclusa (C6 c'è)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esclusa (5 non c'è)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Colonne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lettere: A, B, C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numeri: 0, 1, 2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Prima righe, poi colonne?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no: A2 = colonna, riga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sì: [righe, colonne]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88" name="Text 85"/>
          <p:cNvSpPr txBox="1"/>
          <p:nvPr/>
        </p:nvSpPr>
        <p:spPr>
          <a:xfrm>
            <a:off x="5577840" y="5577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4C5C"/>
                </a:solidFill>
              </a:rPr>
              <a:t>Stesse celle: cambiano solo i numeri.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Fare domande a un oggetto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Metodo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</a:rPr>
              <a:t>un'azione: ha le parentesi</a:t>
            </a:r>
            <a:endParaRPr lang="en-US" sz="1800" dirty="0"/>
          </a:p>
        </p:txBody>
      </p:sp>
      <p:sp>
        <p:nvSpPr>
          <p:cNvPr id="5" name="card-code"/>
          <p:cNvSpPr/>
          <p:nvPr/>
        </p:nvSpPr>
        <p:spPr>
          <a:xfrm>
            <a:off x="548640" y="26974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df.head(3)</a:t>
            </a:r>
            <a:endParaRPr lang="en-US" sz="2200" dirty="0"/>
          </a:p>
        </p:txBody>
      </p:sp>
      <p:sp>
        <p:nvSpPr>
          <p:cNvPr id="8" name="card-out"/>
          <p:cNvSpPr/>
          <p:nvPr/>
        </p:nvSpPr>
        <p:spPr>
          <a:xfrm>
            <a:off x="548640" y="40690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prime 3 righe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45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Attributo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031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</a:rPr>
              <a:t>un'informazione: niente parentesi</a:t>
            </a:r>
            <a:endParaRPr lang="en-US" sz="1800" dirty="0"/>
          </a:p>
        </p:txBody>
      </p:sp>
      <p:sp>
        <p:nvSpPr>
          <p:cNvPr id="13" name="card-code"/>
          <p:cNvSpPr/>
          <p:nvPr/>
        </p:nvSpPr>
        <p:spPr>
          <a:xfrm>
            <a:off x="6263640" y="26974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54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2200" dirty="0"/>
          </a:p>
        </p:txBody>
      </p:sp>
      <p:sp>
        <p:nvSpPr>
          <p:cNvPr id="16" name="card-out"/>
          <p:cNvSpPr/>
          <p:nvPr/>
        </p:nvSpPr>
        <p:spPr>
          <a:xfrm>
            <a:off x="6263640" y="40690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(2515, 9)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df è un oggetto: dati, più tutte le cose che puoi chiedergli. Il punto le collega.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Come scoprire cosa sa fare un oggetto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 + Tab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In Colab: l'elenco di tutto quello che puoi chiedere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3042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help(df.head)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La spiegazione di un metodo, con esempi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3042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La documentazione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pandas.pydata.org → API reference → DataFrame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Nessuno conosce tutti i metodi. Si cercano, ogni giorno, anche dopo anni.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domande da fare sempre a un 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Quanto è grande?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Di che tipo sono le colonne?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Quanti valori diversi?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df["col"].nunique()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114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4</a:t>
            </a:r>
            <a:endParaRPr lang="en-US" sz="208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Quali valori, e quante volte?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df["col"].value_counts()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Prima di qualunque analisi. Sempre.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conosci il tuo dataset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Un collega ti manda imprese.xlsx. Ti puoi fidare?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Cosa non torna nel dataset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 conti non tornano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4C5C"/>
                </a:solidFill>
              </a:rPr>
              <a:t>2.500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</a:rPr>
              <a:t>righe attese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imprese × 5 anni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2.515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righe nel file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18288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9E2A2B"/>
                </a:solidFill>
              </a:rPr>
              <a:t>15 righe in più.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Probabilmente duplicati: la stessa impresa, lo stesso anno, due volte.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Un controllo da fare a mente, in 10 secondi. Nessun codice lo fa per 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fatturato è testo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df["fatturato"].mean()</a:t>
            </a:r>
            <a:endParaRPr lang="en-US" sz="1800" dirty="0"/>
          </a:p>
        </p:txBody>
      </p:sp>
      <p:sp>
        <p:nvSpPr>
          <p:cNvPr id="6" name="card-err"/>
          <p:cNvSpPr/>
          <p:nvPr/>
        </p:nvSpPr>
        <p:spPr>
          <a:xfrm>
            <a:off x="548640" y="2880360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A2B"/>
                </a:solidFill>
              </a:rPr>
              <a:t>ERRORE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... string ...</a:t>
            </a:r>
            <a:endParaRPr lang="en-US" sz="1800" dirty="0"/>
          </a:p>
        </p:txBody>
      </p:sp>
      <p:sp>
        <p:nvSpPr>
          <p:cNvPr id="9" name="card-code"/>
          <p:cNvSpPr/>
          <p:nvPr/>
        </p:nvSpPr>
        <p:spPr>
          <a:xfrm>
            <a:off x="548640" y="416052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df["fatturato"].max()</a:t>
            </a:r>
            <a:endParaRPr lang="en-US" sz="1800" dirty="0"/>
          </a:p>
        </p:txBody>
      </p:sp>
      <p:sp>
        <p:nvSpPr>
          <p:cNvPr id="12" name="card-out"/>
          <p:cNvSpPr/>
          <p:nvPr/>
        </p:nvSpPr>
        <p:spPr>
          <a:xfrm>
            <a:off x="548640" y="5303520"/>
            <a:ext cx="557784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760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'n.d.'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737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2A2B"/>
                </a:solidFill>
              </a:rPr>
              <a:t>La media si ferma con un errore. Il massimo no.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2004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Il massimo di un testo è in ordine alfabetico: «n» viene dopo le cifre.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Perché è testo? Il file usa la virgola decimale italiana (1.032,9) e contiene "n.d.".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È la trappola "5000" * 2 della L1, su un file vero.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Lombardia non è lombardia</a:t>
            </a:r>
            <a:endParaRPr lang="en-US" sz="3600" dirty="0"/>
          </a:p>
        </p:txBody>
      </p:sp>
      <p:sp>
        <p:nvSpPr>
          <p:cNvPr id="3" name="card-out"/>
          <p:cNvSpPr/>
          <p:nvPr/>
        </p:nvSpPr>
        <p:spPr>
          <a:xfrm>
            <a:off x="548640" y="173736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120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Lombardia      302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lombardia       35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Lombardia       30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LOMBARDIA       30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Emilia-Romagna 147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 Romagna  46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8288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Per Python sono valori diversi: maiuscole, spazi finali, trattini.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Le due «Lombardia» uguali? Una ha uno spazio alla fine: non si vede, ma c'è.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9E2A2B"/>
                </a:solidFill>
              </a:rPr>
              <a:t>Se raggruppi per regione così com'è, la Lombardia viene spezzata in quattro.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Cosa abbiamo trovato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Fatturato come testo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virgola decimale e "n.d."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500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15 righe in più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probabili duplicati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233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702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Regioni scritte male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480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maiuscole, spazi, trattini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7220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40233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27024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Addetti negativi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480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-12: impossibile (bonus)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Solo uno di questi problemi ha prodotto un errore. Gli altri erano silenziosi.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pulire i dati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prime due lezioni, ed esercizi C1-C2 del notebook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 — Conosci il tuo dataset</dc:title>
  <dc:subject>PptxGenJS Presentation</dc:subject>
  <dc:creator>SIMA 2026</dc:creator>
  <cp:lastModifiedBy>SIMA 2026</cp:lastModifiedBy>
  <cp:revision>1</cp:revision>
  <dcterms:created xsi:type="dcterms:W3CDTF">2026-10-12T10:07:26Z</dcterms:created>
  <dcterms:modified xsi:type="dcterms:W3CDTF">2026-10-12T10:07:26Z</dcterms:modified>
</cp:coreProperties>
</file>