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3cf99f9e-69dd-a0fd-1c47-c3384697c75d}">
          <p14:sldIdLst>
            <p14:sldId id="256"/>
            <p14:sldId id="257"/>
          </p14:sldIdLst>
        </p14:section>
        <p14:section name="Spiegazione" id="{a556594c-fbc1-a869-7601-3edd353c1fef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Task" id="{84755450-a6af-c8ca-8049-462b41517b85}">
          <p14:sldIdLst>
            <p14:sldId id="268"/>
          </p14:sldIdLst>
        </p14:section>
        <p14:section name="Debrief" id="{5e91026d-7ea4-20c2-c2bd-1553fb39a354}">
          <p14:sldIdLst>
            <p14:sldId id="269"/>
            <p14:sldId id="270"/>
            <p14:sldId id="271"/>
            <p14:sldId id="272"/>
            <p14:sldId id="273"/>
          </p14:sldIdLst>
        </p14:section>
        <p14:section name="Chiusura" id="{cb50e36a-5c55-0f8e-dee1-a58230b9f767}">
          <p14:sldIdLst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Ripasso veloce della L1: variabili, tipi, la trappola "5000" * 2. Oggi lo stesso problema dei tipi torna fuori, ma su un file vero.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Stesso formato della L1.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caricare imprese.xlsx in Colab, poi df da solo in una cella per vedere la tabella. Sottolineare che df è una variabile come capitale nella L1, solo che contiene una tabella intera.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Nessuno scrive da zero il codice per leggere un Excel: qualcuno l'ha già fatto. Una libreria è codice di altri, pronto da usare. In Colab sono già installate.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nome df è una convenzione, non un obbligo. Far notare che l'indice parte da 0: domanda classica.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slicing funziona così ovunque in Python: liste, testi, DataFrame. Domanda alla classe: come prendo le righe dalla 10 alla 19 comprese? (iloc[10:20]). Non entrare in loc vs iloc: basta iloc.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Disegnare alla lavagna la riga di caselle con i tagli. Funziona uguale per liste, testi ("Milano"[0:3] = "Mil") e righe di un DataFrame con iloc. Il numero tra parentesi quadre senza i due punti è invece una casella: x[2] è la terza.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passo serve raramente con i DataFrame (df.iloc[::100] per vedere una riga ogni 100 è il caso tipico), ma [::-1] per invertire è un classico che troveranno ovunque.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tabella nella slide è semplificata (colonne scelte per chiarezza). Dal vivo: aprire imprese.xlsx in Excel o Google Sheets accanto a Colab, selezionare A2:C6, poi eseguire df.iloc[0:5, 0:3]: sono le stesse celle. Con i tagli della slide precedente: il taglio 0 sta sotto l'intestazione, il taglio 5 dopo la quinta riga di dati.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Concetto astratto, tenerlo leggero. In Colab: scrivere df. e premere Tab per vedere tutto quello che si può chiedere.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aprire la pagina della documentazione dei DataFrame, mostrare l'elenco dei metodi, cliccarne uno (head) e far vedere la struttura: parametri, cosa restituisce, esempi in fondo. Gli esempi in fondo sono la parte più utile.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Non serve memorizzare i comandi: serve ricordarsi le domande. I comandi si cercano.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Durante il task: segnarsi chi trova i problemi e come. Molti al passo 7 vedranno 'n.d.' come massimo e non si faranno domande: è il punto del debrief.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Partire dalla domanda finale: far dire alla classe le tre cose che non convincono.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messaggio: il primo strumento di verifica è il buon senso. Sapere quanti dati ti aspetti.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messaggio di errore esatto cambia con la versione di pandas: in Colab può dire 'Could not convert ... to numeric'. Mostrare quello che hanno ottenuto loro.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Chiedere: quante imprese lombarde ci sono davvero? Non lo sappiamo finché non puliamo. Anticipa L3 e L5 (merge).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 sono anche valori mancanti e date in due formati: se qualcuno li ha notati, bene; altrimenti li scopriamo nella L3.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lezioni Kaggle: Creating, Reading and Writing; Indexing, Selecting &amp; Assigning.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">
    <p:bg>
      <p:bgPr>
        <a:solidFill>
          <a:srgbClr val="0F4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F4C06E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zione">
    <p:bg>
      <p:bgPr>
        <a:solidFill>
          <a:srgbClr val="1F2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B8C4CB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0F4C5C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7B"/>
                </a:solidFill>
              </a:rPr>
              <a:t>SIMA 2026 · L2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Conosci il tuo dataset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L2 · Informatica per economisti · SIMA 2026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Oggi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1</a:t>
            </a:r>
            <a:endParaRPr lang="en-US" sz="208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Spiegazione e demo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Librerie, DataFrame, metodi e attributi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0F4C5C"/>
          </a:solidFill>
          <a:ln/>
        </p:spPr>
      </p:sp>
      <p:sp>
        <p:nvSpPr>
          <p:cNvPr id="10" name="Shape 8"/>
          <p:cNvSpPr/>
          <p:nvPr/>
        </p:nvSpPr>
        <p:spPr>
          <a:xfrm>
            <a:off x="466344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344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2</a:t>
            </a:r>
            <a:endParaRPr lang="en-US" sz="208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Task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C06E"/>
                </a:solidFill>
              </a:rPr>
              <a:t>60 min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Esplorare imprese.xlsx, a piccoli passi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13816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16" name="Shape 14"/>
          <p:cNvSpPr/>
          <p:nvPr/>
        </p:nvSpPr>
        <p:spPr>
          <a:xfrm>
            <a:off x="845820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5820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3</a:t>
            </a:r>
            <a:endParaRPr lang="en-US" sz="2080" dirty="0"/>
          </a:p>
        </p:txBody>
      </p:sp>
      <p:sp>
        <p:nvSpPr>
          <p:cNvPr id="18" name="Text 16"/>
          <p:cNvSpPr txBox="1"/>
          <p:nvPr/>
        </p:nvSpPr>
        <p:spPr>
          <a:xfrm>
            <a:off x="845820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Debrief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845820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45820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Cosa non torna nel dataset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Da Excel a Python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88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1F2A30"/>
                </a:solidFill>
              </a:rPr>
              <a:t>In Excel il file lo apri e lo guardi.</a:t>
            </a:r>
            <a:endParaRPr lang="en-US" sz="2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1F2A30"/>
                </a:solidFill>
              </a:rPr>
              <a:t>In Python lo carichi in una variabile e gli fai domande.</a:t>
            </a:r>
            <a:endParaRPr lang="en-US" sz="2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0F4C5C"/>
                </a:solidFill>
              </a:rPr>
              <a:t>Il file originale non viene mai modificato.</a:t>
            </a:r>
            <a:endParaRPr lang="en-US" sz="2200" dirty="0"/>
          </a:p>
        </p:txBody>
      </p:sp>
      <p:sp>
        <p:nvSpPr>
          <p:cNvPr id="4" name="card-code"/>
          <p:cNvSpPr/>
          <p:nvPr/>
        </p:nvSpPr>
        <p:spPr>
          <a:xfrm>
            <a:off x="6035040" y="1737360"/>
            <a:ext cx="5577840" cy="2011680"/>
          </a:xfrm>
          <a:prstGeom prst="roundRect">
            <a:avLst>
              <a:gd name="adj" fmla="val 5455"/>
            </a:avLst>
          </a:prstGeom>
          <a:solidFill>
            <a:srgbClr val="1F2A3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2636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263640" y="2194560"/>
            <a:ext cx="5120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pandas as pd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pd.read_excel(url)</a:t>
            </a:r>
            <a:endParaRPr lang="en-US" sz="2000" dirty="0"/>
          </a:p>
        </p:txBody>
      </p:sp>
      <p:sp>
        <p:nvSpPr>
          <p:cNvPr id="7" name="card-out"/>
          <p:cNvSpPr/>
          <p:nvPr/>
        </p:nvSpPr>
        <p:spPr>
          <a:xfrm>
            <a:off x="6035040" y="4023360"/>
            <a:ext cx="5577840" cy="1463040"/>
          </a:xfrm>
          <a:prstGeom prst="roundRect">
            <a:avLst>
              <a:gd name="adj" fmla="val 7500"/>
            </a:avLst>
          </a:prstGeom>
          <a:solidFill>
            <a:srgbClr val="EEF3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263640" y="4160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448056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(nessun output: il file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ora è nella variabile df)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Le librerie: attrezzi già pronti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0217" y="2008937"/>
            <a:ext cx="462686" cy="46268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2926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pandas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4290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Tabelle: leggere, filtrare, riassumere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34340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4977" y="2008937"/>
            <a:ext cx="462686" cy="46268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343400" y="2926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matplotlib</a:t>
            </a:r>
            <a:endParaRPr lang="en-US" sz="2400" dirty="0"/>
          </a:p>
        </p:txBody>
      </p:sp>
      <p:sp>
        <p:nvSpPr>
          <p:cNvPr id="10" name="Text 6"/>
          <p:cNvSpPr txBox="1"/>
          <p:nvPr/>
        </p:nvSpPr>
        <p:spPr>
          <a:xfrm>
            <a:off x="4343400" y="34290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Grafici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813816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9737" y="2008937"/>
            <a:ext cx="462686" cy="46268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138160" y="2926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statsmodels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8138160" y="34290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Statistica ed econometria</a:t>
            </a:r>
            <a:endParaRPr lang="en-US" sz="1600" dirty="0"/>
          </a:p>
        </p:txBody>
      </p:sp>
      <p:sp>
        <p:nvSpPr>
          <p:cNvPr id="15" name="card-code"/>
          <p:cNvSpPr/>
          <p:nvPr/>
        </p:nvSpPr>
        <p:spPr>
          <a:xfrm>
            <a:off x="548640" y="4480560"/>
            <a:ext cx="6035040" cy="1371600"/>
          </a:xfrm>
          <a:prstGeom prst="roundRect">
            <a:avLst>
              <a:gd name="adj" fmla="val 8000"/>
            </a:avLst>
          </a:prstGeom>
          <a:solidFill>
            <a:srgbClr val="1F2A30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777240" y="4617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777240" y="4937760"/>
            <a:ext cx="5577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pandas as pd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6949440" y="4480560"/>
            <a:ext cx="4663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 prende la libreria; </a:t>
            </a:r>
            <a:pPr indent="0" marL="0">
              <a:buNone/>
            </a:pPr>
            <a:r>
              <a:rPr lang="en-US" sz="18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 pd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 le dà un nome corto.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Il DataFrame</a:t>
            </a:r>
            <a:endParaRPr lang="en-US" sz="3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9494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645920"/>
                <a:gridCol w="2377440"/>
                <a:gridCol w="1097280"/>
                <a:gridCol w="12801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id_impresa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regione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anno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addetti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IMP0001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Emilia-Romagna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2019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IMP0001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Emilia-Romagna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IMP0001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Emilia-Romagna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955280" y="1828800"/>
            <a:ext cx="3657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Una tabella, come un foglio Excel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Ogni riga è un'osservazione: un'impresa in un anno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Ogni colonna ha un nome e un tipo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A sinistra l'indice: il numero della riga, parte da 0</a:t>
            </a:r>
            <a:endParaRPr lang="en-US" sz="1800" dirty="0"/>
          </a:p>
        </p:txBody>
      </p:sp>
      <p:sp>
        <p:nvSpPr>
          <p:cNvPr id="5" name="card-code"/>
          <p:cNvSpPr/>
          <p:nvPr/>
        </p:nvSpPr>
        <p:spPr>
          <a:xfrm>
            <a:off x="548640" y="4754880"/>
            <a:ext cx="69494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4892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5212080"/>
            <a:ext cx="6492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df["regione"]    # una colonna sola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Selezionare righe e colonne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5852160" cy="777240"/>
          </a:xfrm>
          <a:prstGeom prst="roundRect">
            <a:avLst>
              <a:gd name="adj" fmla="val 11765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df["regione"]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6675120" y="164592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F2A30"/>
                </a:solidFill>
              </a:rPr>
              <a:t>una colonna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5852160" cy="777240"/>
          </a:xfrm>
          <a:prstGeom prst="roundRect">
            <a:avLst>
              <a:gd name="adj" fmla="val 11765"/>
            </a:avLst>
          </a:prstGeom>
          <a:solidFill>
            <a:srgbClr val="1F2A3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260604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df[["regione", "anno"]]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0604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F2A30"/>
                </a:solidFill>
              </a:rPr>
              <a:t>più colonne: una lista, doppie parentesi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3566160"/>
            <a:ext cx="5852160" cy="777240"/>
          </a:xfrm>
          <a:prstGeom prst="roundRect">
            <a:avLst>
              <a:gd name="adj" fmla="val 11765"/>
            </a:avLst>
          </a:prstGeom>
          <a:solidFill>
            <a:srgbClr val="1F2A3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356616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df.iloc[0:5]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6675120" y="356616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F2A30"/>
                </a:solidFill>
              </a:rPr>
              <a:t>righe per posizione: 0, 1, 2, 3, 4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48640" y="4526280"/>
            <a:ext cx="5852160" cy="777240"/>
          </a:xfrm>
          <a:prstGeom prst="roundRect">
            <a:avLst>
              <a:gd name="adj" fmla="val 11765"/>
            </a:avLst>
          </a:prstGeom>
          <a:solidFill>
            <a:srgbClr val="1F2A3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452628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df[df["anno"] == 2020]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6675120" y="45262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F2A30"/>
                </a:solidFill>
              </a:rPr>
              <a:t>righe che rispettano una condizione: == chiede «è uguale?»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548640" y="5532120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EEF3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" y="5532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F5308"/>
                </a:solidFill>
              </a:rPr>
              <a:t>Attenzione  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in </a:t>
            </a:r>
            <a:pPr indent="0" marL="0">
              <a:buNone/>
            </a:pPr>
            <a:r>
              <a:rPr lang="en-US" sz="18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0:5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 il primo numero è incluso, il secondo escluso. E si parte da 0.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Slicing: dove cadono i tagli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2331720"/>
            <a:ext cx="914400" cy="822960"/>
          </a:xfrm>
          <a:prstGeom prst="rect">
            <a:avLst/>
          </a:prstGeom>
          <a:solidFill>
            <a:srgbClr val="EEF3F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2331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32278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5387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-6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828800" y="2331720"/>
            <a:ext cx="914400" cy="822960"/>
          </a:xfrm>
          <a:prstGeom prst="rect">
            <a:avLst/>
          </a:prstGeom>
          <a:solidFill>
            <a:srgbClr val="FBE3B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28800" y="2331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1828800" y="32278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828800" y="35387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-5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43200" y="2331720"/>
            <a:ext cx="914400" cy="822960"/>
          </a:xfrm>
          <a:prstGeom prst="rect">
            <a:avLst/>
          </a:prstGeom>
          <a:solidFill>
            <a:srgbClr val="FBE3B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743200" y="2331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2743200" y="32278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743200" y="35387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-4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0" y="2331720"/>
            <a:ext cx="914400" cy="822960"/>
          </a:xfrm>
          <a:prstGeom prst="rect">
            <a:avLst/>
          </a:prstGeom>
          <a:solidFill>
            <a:srgbClr val="FBE3B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657600" y="2331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3657600" y="32278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657600" y="35387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-3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0" y="2331720"/>
            <a:ext cx="914400" cy="822960"/>
          </a:xfrm>
          <a:prstGeom prst="rect">
            <a:avLst/>
          </a:prstGeom>
          <a:solidFill>
            <a:srgbClr val="EEF3F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72000" y="2331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0" y="32278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0" y="35387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-2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0" y="2331720"/>
            <a:ext cx="914400" cy="822960"/>
          </a:xfrm>
          <a:prstGeom prst="rect">
            <a:avLst/>
          </a:prstGeom>
          <a:solidFill>
            <a:srgbClr val="EEF3F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0" y="2331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</a:t>
            </a:r>
            <a:endParaRPr lang="en-US" sz="26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0" y="32278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0" y="35387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14400" y="1920240"/>
            <a:ext cx="0" cy="1234440"/>
          </a:xfrm>
          <a:prstGeom prst="line">
            <a:avLst/>
          </a:prstGeom>
          <a:noFill/>
          <a:ln w="15875">
            <a:solidFill>
              <a:srgbClr val="B8C4C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00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1828800" y="1920240"/>
            <a:ext cx="0" cy="1234440"/>
          </a:xfrm>
          <a:prstGeom prst="line">
            <a:avLst/>
          </a:prstGeom>
          <a:noFill/>
          <a:ln w="38100">
            <a:solidFill>
              <a:srgbClr val="8F530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5544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53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2743200" y="1920240"/>
            <a:ext cx="0" cy="1234440"/>
          </a:xfrm>
          <a:prstGeom prst="line">
            <a:avLst/>
          </a:prstGeom>
          <a:noFill/>
          <a:ln w="15875">
            <a:solidFill>
              <a:srgbClr val="B8C4C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4688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3657600" y="1920240"/>
            <a:ext cx="0" cy="1234440"/>
          </a:xfrm>
          <a:prstGeom prst="line">
            <a:avLst/>
          </a:prstGeom>
          <a:noFill/>
          <a:ln w="15875">
            <a:solidFill>
              <a:srgbClr val="B8C4C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3832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72000" y="1920240"/>
            <a:ext cx="0" cy="1234440"/>
          </a:xfrm>
          <a:prstGeom prst="line">
            <a:avLst/>
          </a:prstGeom>
          <a:noFill/>
          <a:ln w="38100">
            <a:solidFill>
              <a:srgbClr val="8F530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2976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53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486400" y="1920240"/>
            <a:ext cx="0" cy="1234440"/>
          </a:xfrm>
          <a:prstGeom prst="line">
            <a:avLst/>
          </a:prstGeom>
          <a:noFill/>
          <a:ln w="15875">
            <a:solidFill>
              <a:srgbClr val="B8C4C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2120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6400800" y="1920240"/>
            <a:ext cx="0" cy="1234440"/>
          </a:xfrm>
          <a:prstGeom prst="line">
            <a:avLst/>
          </a:prstGeom>
          <a:noFill/>
          <a:ln w="15875">
            <a:solidFill>
              <a:srgbClr val="B8C4CB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1264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6537960" y="155448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F7B"/>
                </a:solidFill>
              </a:rPr>
              <a:t>tagli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37960" y="322783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F7B"/>
                </a:solidFill>
              </a:rPr>
              <a:t>posizione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6537960" y="353872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F7B"/>
                </a:solidFill>
              </a:rPr>
              <a:t>dalla fine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914400" y="443484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F53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x[1:4]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  →  B C D: si taglia al 1 e al 4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7863840" y="1691640"/>
            <a:ext cx="3749040" cy="868680"/>
          </a:xfrm>
          <a:prstGeom prst="roundRect">
            <a:avLst>
              <a:gd name="adj" fmla="val 10526"/>
            </a:avLst>
          </a:prstGeom>
          <a:solidFill>
            <a:srgbClr val="EEF3F4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8092440" y="1764792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x[:3]</a:t>
            </a:r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A B C</a:t>
            </a:r>
            <a:endParaRPr lang="en-US" sz="1700" dirty="0"/>
          </a:p>
        </p:txBody>
      </p:sp>
      <p:sp>
        <p:nvSpPr>
          <p:cNvPr id="47" name="Text 45"/>
          <p:cNvSpPr txBox="1"/>
          <p:nvPr/>
        </p:nvSpPr>
        <p:spPr>
          <a:xfrm>
            <a:off x="8092440" y="214884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F7B"/>
                </a:solidFill>
              </a:rPr>
              <a:t>dall'inizio al taglio 3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7863840" y="2715768"/>
            <a:ext cx="3749040" cy="868680"/>
          </a:xfrm>
          <a:prstGeom prst="roundRect">
            <a:avLst>
              <a:gd name="adj" fmla="val 10526"/>
            </a:avLst>
          </a:prstGeom>
          <a:solidFill>
            <a:srgbClr val="EEF3F4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8092440" y="27889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x[3:]</a:t>
            </a:r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 E F</a:t>
            </a:r>
            <a:endParaRPr lang="en-US" sz="1700" dirty="0"/>
          </a:p>
        </p:txBody>
      </p:sp>
      <p:sp>
        <p:nvSpPr>
          <p:cNvPr id="50" name="Text 48"/>
          <p:cNvSpPr txBox="1"/>
          <p:nvPr/>
        </p:nvSpPr>
        <p:spPr>
          <a:xfrm>
            <a:off x="8092440" y="3172968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F7B"/>
                </a:solidFill>
              </a:rPr>
              <a:t>dal taglio 3 alla fine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7863840" y="3739896"/>
            <a:ext cx="3749040" cy="868680"/>
          </a:xfrm>
          <a:prstGeom prst="roundRect">
            <a:avLst>
              <a:gd name="adj" fmla="val 10526"/>
            </a:avLst>
          </a:prstGeom>
          <a:solidFill>
            <a:srgbClr val="EEF3F4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8092440" y="381304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x[-2:]</a:t>
            </a:r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 F</a:t>
            </a:r>
            <a:endParaRPr lang="en-US" sz="1700" dirty="0"/>
          </a:p>
        </p:txBody>
      </p:sp>
      <p:sp>
        <p:nvSpPr>
          <p:cNvPr id="53" name="Text 51"/>
          <p:cNvSpPr txBox="1"/>
          <p:nvPr/>
        </p:nvSpPr>
        <p:spPr>
          <a:xfrm>
            <a:off x="8092440" y="4197096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F7B"/>
                </a:solidFill>
              </a:rPr>
              <a:t>gli ultimi 2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7863840" y="4764024"/>
            <a:ext cx="3749040" cy="868680"/>
          </a:xfrm>
          <a:prstGeom prst="roundRect">
            <a:avLst>
              <a:gd name="adj" fmla="val 10526"/>
            </a:avLst>
          </a:prstGeom>
          <a:solidFill>
            <a:srgbClr val="EEF3F4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092440" y="4837176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x[2]</a:t>
            </a:r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</a:t>
            </a:r>
            <a:endParaRPr lang="en-US" sz="1700" dirty="0"/>
          </a:p>
        </p:txBody>
      </p:sp>
      <p:sp>
        <p:nvSpPr>
          <p:cNvPr id="56" name="Text 54"/>
          <p:cNvSpPr txBox="1"/>
          <p:nvPr/>
        </p:nvSpPr>
        <p:spPr>
          <a:xfrm>
            <a:off x="8092440" y="5221224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F7B"/>
                </a:solidFill>
              </a:rPr>
              <a:t>un elemento solo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0F4C5C"/>
                </a:solidFill>
              </a:rPr>
              <a:t>I numeri dello slicing non indicano le caselle, ma i tagli tra una casella e l'altra. Così fine − inizio = quanti elementi ottieni.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Omissioni e passo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0020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4C5C"/>
                </a:solidFill>
              </a:rPr>
              <a:t>Omettere inizio o fine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217920" y="160020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4C5C"/>
                </a:solidFill>
              </a:rPr>
              <a:t>Il terzo numero: il passo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05740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F7B"/>
                </a:solidFill>
              </a:rPr>
              <a:t>Se manca l'inizio si parte da 0; se manca la fine si arriva in fondo.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0" y="205740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F7B"/>
                </a:solidFill>
              </a:rPr>
              <a:t>[inizio:fine:passo]  —  ogni quante caselle prenderne una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743200"/>
            <a:ext cx="5394960" cy="713232"/>
          </a:xfrm>
          <a:prstGeom prst="roundRect">
            <a:avLst>
              <a:gd name="adj" fmla="val 12821"/>
            </a:avLst>
          </a:prstGeom>
          <a:solidFill>
            <a:srgbClr val="EEF3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74320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x[:3] </a:t>
            </a:r>
            <a:pPr indent="0" marL="0">
              <a:buNone/>
            </a:pPr>
            <a:r>
              <a:rPr lang="en-US" sz="18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x[0:3]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114800" y="2743200"/>
            <a:ext cx="1691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B C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8640" y="3611880"/>
            <a:ext cx="5394960" cy="713232"/>
          </a:xfrm>
          <a:prstGeom prst="roundRect">
            <a:avLst>
              <a:gd name="adj" fmla="val 12821"/>
            </a:avLst>
          </a:prstGeom>
          <a:solidFill>
            <a:srgbClr val="EEF3F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361188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x[3:] </a:t>
            </a:r>
            <a:pPr indent="0" marL="0">
              <a:buNone/>
            </a:pPr>
            <a:r>
              <a:rPr lang="en-US" sz="18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x[3:6]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114800" y="3611880"/>
            <a:ext cx="1691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 E F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4480560"/>
            <a:ext cx="5394960" cy="713232"/>
          </a:xfrm>
          <a:prstGeom prst="roundRect">
            <a:avLst>
              <a:gd name="adj" fmla="val 12821"/>
            </a:avLst>
          </a:prstGeom>
          <a:solidFill>
            <a:srgbClr val="EEF3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7240" y="448056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x[:]  </a:t>
            </a:r>
            <a:pPr indent="0" marL="0">
              <a:buNone/>
            </a:pPr>
            <a:r>
              <a:rPr lang="en-US" sz="18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x[0:6]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114800" y="4480560"/>
            <a:ext cx="1691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tutto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217920" y="2743200"/>
            <a:ext cx="5394960" cy="713232"/>
          </a:xfrm>
          <a:prstGeom prst="roundRect">
            <a:avLst>
              <a:gd name="adj" fmla="val 12821"/>
            </a:avLst>
          </a:prstGeom>
          <a:solidFill>
            <a:srgbClr val="EEF3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46520" y="274320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x[::2]</a:t>
            </a:r>
            <a:pPr indent="0" marL="0">
              <a:buNone/>
            </a:pP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9784080" y="2743200"/>
            <a:ext cx="1691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C E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217920" y="3611880"/>
            <a:ext cx="5394960" cy="713232"/>
          </a:xfrm>
          <a:prstGeom prst="roundRect">
            <a:avLst>
              <a:gd name="adj" fmla="val 12821"/>
            </a:avLst>
          </a:prstGeom>
          <a:solidFill>
            <a:srgbClr val="EEF3F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46520" y="361188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x[1::2]</a:t>
            </a:r>
            <a:pPr indent="0" marL="0">
              <a:buNone/>
            </a:pP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9784080" y="3611880"/>
            <a:ext cx="1691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D F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6217920" y="4480560"/>
            <a:ext cx="5394960" cy="713232"/>
          </a:xfrm>
          <a:prstGeom prst="roundRect">
            <a:avLst>
              <a:gd name="adj" fmla="val 12821"/>
            </a:avLst>
          </a:prstGeom>
          <a:solidFill>
            <a:srgbClr val="EEF3F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46520" y="448056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x[::-1]</a:t>
            </a:r>
            <a:pPr indent="0" marL="0">
              <a:buNone/>
            </a:pP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9784080" y="4480560"/>
            <a:ext cx="1691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E D C B A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</a:t>
            </a:r>
            <a:pPr indent="0" marL="0">
              <a:buNone/>
            </a:pPr>
            <a:r>
              <a:rPr lang="en-US" sz="17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B C D E F</a:t>
            </a:r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</a:rPr>
              <a:t>    Con il passo negativo si va all'indietro: </a:t>
            </a:r>
            <a:pPr indent="0" marL="0">
              <a:buNone/>
            </a:pPr>
            <a:r>
              <a:rPr lang="en-US" sz="17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[::-1]</a:t>
            </a:r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</a:rPr>
              <a:t> inverte.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iloc è come un intervallo di Excel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691640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691640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60120" y="1691640"/>
            <a:ext cx="96012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169164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920240" y="1691640"/>
            <a:ext cx="96012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920240" y="169164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B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880360" y="1691640"/>
            <a:ext cx="96012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880360" y="169164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C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840480" y="1691640"/>
            <a:ext cx="96012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840480" y="169164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2112264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2112264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1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60120" y="2112264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0120" y="211226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impresa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920240" y="2112264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920240" y="211226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anno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880360" y="2112264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880360" y="211226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addetti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840480" y="2112264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840480" y="211226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regione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2532888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532888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2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60120" y="2532888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60120" y="253288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IMP0001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920240" y="2532888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920240" y="253288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2019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2880360" y="2532888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880360" y="253288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840480" y="2532888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840480" y="253288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Emilia-R.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48640" y="2953512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48640" y="2953512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3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960120" y="2953512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60120" y="2953512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IMP0001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1920240" y="2953512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1920240" y="2953512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2020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2880360" y="2953512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2880360" y="2953512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3840480" y="2953512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3840480" y="2953512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Emilia-R.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48640" y="3374136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3374136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4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960120" y="3374136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60120" y="3374136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IMP0001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920240" y="3374136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920240" y="3374136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2021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2880360" y="3374136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880360" y="3374136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3840480" y="3374136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840480" y="3374136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Emilia-R.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548640" y="3794760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3794760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5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960120" y="3794760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960120" y="379476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IMP0001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1920240" y="3794760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1920240" y="379476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2022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2880360" y="3794760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2880360" y="379476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3840480" y="3794760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3840480" y="379476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Emilia-R.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548640" y="4215384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548640" y="4215384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6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960120" y="4215384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960120" y="421538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IMP0001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1920240" y="4215384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1920240" y="421538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2023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2880360" y="4215384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2880360" y="421538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3840480" y="4215384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3840480" y="421538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Emilia-R.</a:t>
            </a:r>
            <a:endParaRPr lang="en-US" sz="1100" dirty="0"/>
          </a:p>
        </p:txBody>
      </p:sp>
      <p:sp>
        <p:nvSpPr>
          <p:cNvPr id="73" name="Shape 71"/>
          <p:cNvSpPr/>
          <p:nvPr/>
        </p:nvSpPr>
        <p:spPr>
          <a:xfrm>
            <a:off x="548640" y="4636008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8640" y="4636008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7</a:t>
            </a:r>
            <a:endParaRPr lang="en-US" sz="1200" dirty="0"/>
          </a:p>
        </p:txBody>
      </p:sp>
      <p:sp>
        <p:nvSpPr>
          <p:cNvPr id="75" name="Shape 73"/>
          <p:cNvSpPr/>
          <p:nvPr/>
        </p:nvSpPr>
        <p:spPr>
          <a:xfrm>
            <a:off x="960120" y="4636008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960120" y="463600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IMP0002</a:t>
            </a:r>
            <a:endParaRPr lang="en-US" sz="1100" dirty="0"/>
          </a:p>
        </p:txBody>
      </p:sp>
      <p:sp>
        <p:nvSpPr>
          <p:cNvPr id="77" name="Shape 75"/>
          <p:cNvSpPr/>
          <p:nvPr/>
        </p:nvSpPr>
        <p:spPr>
          <a:xfrm>
            <a:off x="1920240" y="4636008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1920240" y="463600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2019</a:t>
            </a:r>
            <a:endParaRPr lang="en-US" sz="1100" dirty="0"/>
          </a:p>
        </p:txBody>
      </p:sp>
      <p:sp>
        <p:nvSpPr>
          <p:cNvPr id="79" name="Shape 77"/>
          <p:cNvSpPr/>
          <p:nvPr/>
        </p:nvSpPr>
        <p:spPr>
          <a:xfrm>
            <a:off x="2880360" y="4636008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2880360" y="463600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100" dirty="0"/>
          </a:p>
        </p:txBody>
      </p:sp>
      <p:sp>
        <p:nvSpPr>
          <p:cNvPr id="81" name="Shape 79"/>
          <p:cNvSpPr/>
          <p:nvPr/>
        </p:nvSpPr>
        <p:spPr>
          <a:xfrm>
            <a:off x="3840480" y="4636008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3840480" y="463600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Lazio</a:t>
            </a:r>
            <a:endParaRPr lang="en-US" sz="1100" dirty="0"/>
          </a:p>
        </p:txBody>
      </p:sp>
      <p:sp>
        <p:nvSpPr>
          <p:cNvPr id="83" name="Text 81"/>
          <p:cNvSpPr txBox="1"/>
          <p:nvPr/>
        </p:nvSpPr>
        <p:spPr>
          <a:xfrm>
            <a:off x="548640" y="519379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30"/>
                </a:solidFill>
              </a:rPr>
              <a:t>Excel  </a:t>
            </a:r>
            <a:pPr indent="0" marL="0">
              <a:buNone/>
            </a:pPr>
            <a:r>
              <a:rPr lang="en-US" sz="1800" b="1" dirty="0">
                <a:solidFill>
                  <a:srgbClr val="8F53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A2:C6</a:t>
            </a:r>
            <a:endParaRPr lang="en-US" sz="1800" dirty="0"/>
          </a:p>
        </p:txBody>
      </p:sp>
      <p:sp>
        <p:nvSpPr>
          <p:cNvPr id="84" name="card-code"/>
          <p:cNvSpPr/>
          <p:nvPr/>
        </p:nvSpPr>
        <p:spPr>
          <a:xfrm>
            <a:off x="5577840" y="1691640"/>
            <a:ext cx="60350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5806440" y="1828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86" name="Text 84"/>
          <p:cNvSpPr txBox="1"/>
          <p:nvPr/>
        </p:nvSpPr>
        <p:spPr>
          <a:xfrm>
            <a:off x="5806440" y="2148840"/>
            <a:ext cx="5577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df.iloc[0:5, 0:3]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3063240"/>
          <a:ext cx="60350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94560"/>
                <a:gridCol w="17373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Excel</a:t>
                      </a:r>
                      <a:endParaRPr lang="en-US" sz="15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iloc</a:t>
                      </a:r>
                      <a:endParaRPr lang="en-US" sz="15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0"/>
                          </a:solidFill>
                        </a:rPr>
                        <a:t>Prima riga di dati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2 (la 1 è l'intestazione)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0"/>
                          </a:solidFill>
                        </a:rPr>
                        <a:t>Fine dell'intervallo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inclusa (C6 c'è)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esclusa (5 non c'è)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0"/>
                          </a:solidFill>
                        </a:rPr>
                        <a:t>Colonne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lettere: A, B, C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numeri: 0, 1, 2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0"/>
                          </a:solidFill>
                        </a:rPr>
                        <a:t>Prima righe, poi colonne?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no: A2 = colonna, riga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sì: [righe, colonne]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</a:tbl>
          </a:graphicData>
        </a:graphic>
      </p:graphicFrame>
      <p:sp>
        <p:nvSpPr>
          <p:cNvPr id="88" name="Text 85"/>
          <p:cNvSpPr txBox="1"/>
          <p:nvPr/>
        </p:nvSpPr>
        <p:spPr>
          <a:xfrm>
            <a:off x="5577840" y="557784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0F4C5C"/>
                </a:solidFill>
              </a:rPr>
              <a:t>Stesse celle: cambiano solo i numeri.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Fare domande a un oggetto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4592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</a:rPr>
              <a:t>Metodo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03120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C6F7B"/>
                </a:solidFill>
              </a:rPr>
              <a:t>un'azione: ha le parentesi</a:t>
            </a:r>
            <a:endParaRPr lang="en-US" sz="1800" dirty="0"/>
          </a:p>
        </p:txBody>
      </p:sp>
      <p:sp>
        <p:nvSpPr>
          <p:cNvPr id="5" name="card-code"/>
          <p:cNvSpPr/>
          <p:nvPr/>
        </p:nvSpPr>
        <p:spPr>
          <a:xfrm>
            <a:off x="548640" y="269748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2834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154680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df.head(3)</a:t>
            </a:r>
            <a:endParaRPr lang="en-US" sz="2200" dirty="0"/>
          </a:p>
        </p:txBody>
      </p:sp>
      <p:sp>
        <p:nvSpPr>
          <p:cNvPr id="8" name="card-out"/>
          <p:cNvSpPr/>
          <p:nvPr/>
        </p:nvSpPr>
        <p:spPr>
          <a:xfrm>
            <a:off x="548640" y="406908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EEF3F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4206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526280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 prime 3 righe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64592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</a:rPr>
              <a:t>Attributo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2103120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C6F7B"/>
                </a:solidFill>
              </a:rPr>
              <a:t>un'informazione: niente parentesi</a:t>
            </a:r>
            <a:endParaRPr lang="en-US" sz="1800" dirty="0"/>
          </a:p>
        </p:txBody>
      </p:sp>
      <p:sp>
        <p:nvSpPr>
          <p:cNvPr id="13" name="card-code"/>
          <p:cNvSpPr/>
          <p:nvPr/>
        </p:nvSpPr>
        <p:spPr>
          <a:xfrm>
            <a:off x="6263640" y="269748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92240" y="2834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3154680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df.shape</a:t>
            </a:r>
            <a:endParaRPr lang="en-US" sz="2200" dirty="0"/>
          </a:p>
        </p:txBody>
      </p:sp>
      <p:sp>
        <p:nvSpPr>
          <p:cNvPr id="16" name="card-out"/>
          <p:cNvSpPr/>
          <p:nvPr/>
        </p:nvSpPr>
        <p:spPr>
          <a:xfrm>
            <a:off x="6263640" y="406908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EEF3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92240" y="4206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4526280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(2515, 9)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5321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df è un oggetto: dati, più tutte le cose che puoi chiedergli. Il punto le collega.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Come scoprire cosa sa fare un oggetto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3474720" cy="3108960"/>
          </a:xfrm>
          <a:prstGeom prst="roundRect">
            <a:avLst>
              <a:gd name="adj" fmla="val 3529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05740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" y="2304288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32004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 + Tab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74904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In Colab: l'elenco di tutto quello che puoi chiedere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343400" y="1737360"/>
            <a:ext cx="3474720" cy="3108960"/>
          </a:xfrm>
          <a:prstGeom prst="roundRect">
            <a:avLst>
              <a:gd name="adj" fmla="val 3529"/>
            </a:avLst>
          </a:prstGeom>
          <a:solidFill>
            <a:srgbClr val="EEF3F4"/>
          </a:solidFill>
          <a:ln/>
        </p:spPr>
      </p:sp>
      <p:sp>
        <p:nvSpPr>
          <p:cNvPr id="9" name="Shape 6"/>
          <p:cNvSpPr/>
          <p:nvPr/>
        </p:nvSpPr>
        <p:spPr>
          <a:xfrm>
            <a:off x="4663440" y="205740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328" y="2304288"/>
            <a:ext cx="420624" cy="4206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63440" y="32004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help(df.head)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4663440" y="374904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La spiegazione di un metodo, con esempi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8138160" y="1737360"/>
            <a:ext cx="3474720" cy="3108960"/>
          </a:xfrm>
          <a:prstGeom prst="roundRect">
            <a:avLst>
              <a:gd name="adj" fmla="val 3529"/>
            </a:avLst>
          </a:prstGeom>
          <a:solidFill>
            <a:srgbClr val="EEF3F4"/>
          </a:solidFill>
          <a:ln/>
        </p:spPr>
      </p:sp>
      <p:sp>
        <p:nvSpPr>
          <p:cNvPr id="14" name="Shape 10"/>
          <p:cNvSpPr/>
          <p:nvPr/>
        </p:nvSpPr>
        <p:spPr>
          <a:xfrm>
            <a:off x="8458200" y="205740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5088" y="2304288"/>
            <a:ext cx="420624" cy="4206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58200" y="32004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La documentazione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8458200" y="374904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pandas.pydata.org → API reference → DataFrame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52578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Nessuno conosce tutti i metodi. Si cercano, ogni giorno, anche dopo anni.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Le domande da fare sempre a un dataset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1945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1945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0F4C5C"/>
                </a:solidFill>
              </a:rPr>
              <a:t>1</a:t>
            </a:r>
            <a:endParaRPr lang="en-US" sz="208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205740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A30"/>
                </a:solidFill>
              </a:rPr>
              <a:t>Quanto è grande?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26060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df.shape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17220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9" name="Shape 7"/>
          <p:cNvSpPr/>
          <p:nvPr/>
        </p:nvSpPr>
        <p:spPr>
          <a:xfrm>
            <a:off x="6446520" y="21945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21945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0F4C5C"/>
                </a:solidFill>
              </a:rPr>
              <a:t>2</a:t>
            </a:r>
            <a:endParaRPr lang="en-US" sz="2080" dirty="0"/>
          </a:p>
        </p:txBody>
      </p:sp>
      <p:sp>
        <p:nvSpPr>
          <p:cNvPr id="11" name="Text 9"/>
          <p:cNvSpPr txBox="1"/>
          <p:nvPr/>
        </p:nvSpPr>
        <p:spPr>
          <a:xfrm>
            <a:off x="7452360" y="205740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A30"/>
                </a:solidFill>
              </a:rPr>
              <a:t>Di che tipo sono le colonne?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6060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df.dtypes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4864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14" name="Shape 12"/>
          <p:cNvSpPr/>
          <p:nvPr/>
        </p:nvSpPr>
        <p:spPr>
          <a:xfrm>
            <a:off x="822960" y="411480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4114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0F4C5C"/>
                </a:solidFill>
              </a:rPr>
              <a:t>3</a:t>
            </a:r>
            <a:endParaRPr lang="en-US" sz="2080" dirty="0"/>
          </a:p>
        </p:txBody>
      </p:sp>
      <p:sp>
        <p:nvSpPr>
          <p:cNvPr id="16" name="Text 14"/>
          <p:cNvSpPr txBox="1"/>
          <p:nvPr/>
        </p:nvSpPr>
        <p:spPr>
          <a:xfrm>
            <a:off x="1828800" y="397764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A30"/>
                </a:solidFill>
              </a:rPr>
              <a:t>Quanti valori diversi?</a:t>
            </a:r>
            <a:endParaRPr lang="en-US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1828800" y="45262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df["col"].nunique()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617220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19" name="Shape 17"/>
          <p:cNvSpPr/>
          <p:nvPr/>
        </p:nvSpPr>
        <p:spPr>
          <a:xfrm>
            <a:off x="6446520" y="411480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46520" y="4114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0F4C5C"/>
                </a:solidFill>
              </a:rPr>
              <a:t>4</a:t>
            </a:r>
            <a:endParaRPr lang="en-US" sz="2080" dirty="0"/>
          </a:p>
        </p:txBody>
      </p:sp>
      <p:sp>
        <p:nvSpPr>
          <p:cNvPr id="21" name="Text 19"/>
          <p:cNvSpPr txBox="1"/>
          <p:nvPr/>
        </p:nvSpPr>
        <p:spPr>
          <a:xfrm>
            <a:off x="7452360" y="397764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A30"/>
                </a:solidFill>
              </a:rPr>
              <a:t>Quali valori, e quante volte?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7452360" y="45262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df["col"].value_counts()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Prima di qualunque analisi. Sempre.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Task: conosci il tuo dataset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Un collega ti manda imprese.xlsx. Ti puoi fidare?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60 minuti · apri il notebook dal README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Debrief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Cosa non torna nel dataset</a:t>
            </a:r>
            <a:endParaRPr lang="en-US" sz="2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I conti non tornano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3657600" cy="3108960"/>
          </a:xfrm>
          <a:prstGeom prst="roundRect">
            <a:avLst>
              <a:gd name="adj" fmla="val 3529"/>
            </a:avLst>
          </a:prstGeom>
          <a:solidFill>
            <a:srgbClr val="EEF3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201168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0F4C5C"/>
                </a:solidFill>
              </a:rPr>
              <a:t>2.500</a:t>
            </a:r>
            <a:endParaRPr lang="en-US" sz="64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32918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4C5C"/>
                </a:solidFill>
              </a:rPr>
              <a:t>righe attese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7947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 imprese × 5 anni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480560" y="1737360"/>
            <a:ext cx="3657600" cy="3108960"/>
          </a:xfrm>
          <a:prstGeom prst="roundRect">
            <a:avLst>
              <a:gd name="adj" fmla="val 3529"/>
            </a:avLst>
          </a:prstGeom>
          <a:solidFill>
            <a:srgbClr val="0F4C5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846320" y="201168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</a:rPr>
              <a:t>2.515</a:t>
            </a:r>
            <a:endParaRPr lang="en-US" sz="6400" dirty="0"/>
          </a:p>
        </p:txBody>
      </p:sp>
      <p:sp>
        <p:nvSpPr>
          <p:cNvPr id="9" name="Text 7"/>
          <p:cNvSpPr txBox="1"/>
          <p:nvPr/>
        </p:nvSpPr>
        <p:spPr>
          <a:xfrm>
            <a:off x="4846320" y="32918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righe nel file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37947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8C4C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df.shape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503920" y="1828800"/>
            <a:ext cx="3108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9E2A2B"/>
                </a:solidFill>
              </a:rPr>
              <a:t>15 righe in più.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F2A30"/>
                </a:solidFill>
              </a:rPr>
              <a:t>Probabilmente duplicati: la stessa impresa, lo stesso anno, due volte.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F2A30"/>
                </a:solidFill>
              </a:rPr>
              <a:t>Un controllo da fare a mente, in 10 secondi. Nessun codice lo fa per te.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Il fatturato è testo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5577840" cy="1005840"/>
          </a:xfrm>
          <a:prstGeom prst="roundRect">
            <a:avLst>
              <a:gd name="adj" fmla="val 10909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df["fatturato"].mean()</a:t>
            </a:r>
            <a:endParaRPr lang="en-US" sz="1800" dirty="0"/>
          </a:p>
        </p:txBody>
      </p:sp>
      <p:sp>
        <p:nvSpPr>
          <p:cNvPr id="6" name="card-err"/>
          <p:cNvSpPr/>
          <p:nvPr/>
        </p:nvSpPr>
        <p:spPr>
          <a:xfrm>
            <a:off x="548640" y="2880360"/>
            <a:ext cx="5577840" cy="1097280"/>
          </a:xfrm>
          <a:prstGeom prst="roundRect">
            <a:avLst>
              <a:gd name="adj" fmla="val 10000"/>
            </a:avLst>
          </a:prstGeom>
          <a:solidFill>
            <a:srgbClr val="FBEAE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017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</a:rPr>
              <a:t>ERRORE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33756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E2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TypeError: ... string ...</a:t>
            </a:r>
            <a:endParaRPr lang="en-US" sz="1800" dirty="0"/>
          </a:p>
        </p:txBody>
      </p:sp>
      <p:sp>
        <p:nvSpPr>
          <p:cNvPr id="9" name="card-code"/>
          <p:cNvSpPr/>
          <p:nvPr/>
        </p:nvSpPr>
        <p:spPr>
          <a:xfrm>
            <a:off x="548640" y="4160520"/>
            <a:ext cx="5577840" cy="1005840"/>
          </a:xfrm>
          <a:prstGeom prst="roundRect">
            <a:avLst>
              <a:gd name="adj" fmla="val 10909"/>
            </a:avLst>
          </a:prstGeom>
          <a:solidFill>
            <a:srgbClr val="1F2A3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42976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61772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df["fatturato"].max()</a:t>
            </a:r>
            <a:endParaRPr lang="en-US" sz="1800" dirty="0"/>
          </a:p>
        </p:txBody>
      </p:sp>
      <p:sp>
        <p:nvSpPr>
          <p:cNvPr id="12" name="card-out"/>
          <p:cNvSpPr/>
          <p:nvPr/>
        </p:nvSpPr>
        <p:spPr>
          <a:xfrm>
            <a:off x="548640" y="5303520"/>
            <a:ext cx="5577840" cy="914400"/>
          </a:xfrm>
          <a:prstGeom prst="roundRect">
            <a:avLst>
              <a:gd name="adj" fmla="val 12000"/>
            </a:avLst>
          </a:prstGeom>
          <a:solidFill>
            <a:srgbClr val="EEF3F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54406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57607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'n.d.'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675120" y="173736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9E2A2B"/>
                </a:solidFill>
              </a:rPr>
              <a:t>La media si ferma con un errore. Il massimo no.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6675120" y="3200400"/>
            <a:ext cx="49377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F2A30"/>
                </a:solidFill>
              </a:rPr>
              <a:t>Il massimo di un testo è in ordine alfabetico: «n» viene dopo le cifre.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F2A30"/>
                </a:solidFill>
              </a:rPr>
              <a:t>Perché è testo? Il file usa la virgola decimale italiana (1.032,9) e contiene "n.d.".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0F4C5C"/>
                </a:solidFill>
              </a:rPr>
              <a:t>È la trappola "5000" * 2 della L1, su un file vero.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Lombardia non è lombardia</a:t>
            </a:r>
            <a:endParaRPr lang="en-US" sz="3600" dirty="0"/>
          </a:p>
        </p:txBody>
      </p:sp>
      <p:sp>
        <p:nvSpPr>
          <p:cNvPr id="3" name="card-out"/>
          <p:cNvSpPr/>
          <p:nvPr/>
        </p:nvSpPr>
        <p:spPr>
          <a:xfrm>
            <a:off x="548640" y="1737360"/>
            <a:ext cx="5577840" cy="3657600"/>
          </a:xfrm>
          <a:prstGeom prst="roundRect">
            <a:avLst>
              <a:gd name="adj" fmla="val 3000"/>
            </a:avLst>
          </a:prstGeom>
          <a:solidFill>
            <a:srgbClr val="EEF3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512064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Lombardia      302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lombardia       35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Lombardia       30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LOMBARDIA       30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Emilia-Romagna 147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Emilia Romagna  46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675120" y="1828800"/>
            <a:ext cx="49377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F2A30"/>
                </a:solidFill>
              </a:rPr>
              <a:t>Per Python sono valori diversi: maiuscole, spazi finali, trattini.</a:t>
            </a:r>
            <a:endParaRPr lang="en-US" sz="19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F2A30"/>
                </a:solidFill>
              </a:rPr>
              <a:t>Le due «Lombardia» uguali? Una ha uno spazio alla fine: non si vede, ma c'è.</a:t>
            </a:r>
            <a:endParaRPr lang="en-US" sz="19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9E2A2B"/>
                </a:solidFill>
              </a:rPr>
              <a:t>Se raggruppi per regione così com'è, la Lombardia viene spezzata in quattro.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Cosa abbiamo trovato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10312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2350008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011680" y="21031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Fatturato come testo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2011680" y="25603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virgola decimale e "n.d."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17220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9" name="Shape 6"/>
          <p:cNvSpPr/>
          <p:nvPr/>
        </p:nvSpPr>
        <p:spPr>
          <a:xfrm>
            <a:off x="6446520" y="210312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350008"/>
            <a:ext cx="420624" cy="4206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635240" y="21031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15 righe in più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7635240" y="25603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probabili duplicati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54864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14" name="Shape 10"/>
          <p:cNvSpPr/>
          <p:nvPr/>
        </p:nvSpPr>
        <p:spPr>
          <a:xfrm>
            <a:off x="822960" y="402336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" y="4270248"/>
            <a:ext cx="420624" cy="4206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011680" y="40233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Regioni scritte male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2011680" y="448056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maiuscole, spazi, trattini</a:t>
            </a:r>
            <a:endParaRPr lang="en-US" sz="1600" dirty="0"/>
          </a:p>
        </p:txBody>
      </p:sp>
      <p:sp>
        <p:nvSpPr>
          <p:cNvPr id="18" name="Shape 13"/>
          <p:cNvSpPr/>
          <p:nvPr/>
        </p:nvSpPr>
        <p:spPr>
          <a:xfrm>
            <a:off x="617220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19" name="Shape 14"/>
          <p:cNvSpPr/>
          <p:nvPr/>
        </p:nvSpPr>
        <p:spPr>
          <a:xfrm>
            <a:off x="6446520" y="402336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3408" y="4270248"/>
            <a:ext cx="420624" cy="4206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635240" y="40233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Addetti negativi</a:t>
            </a:r>
            <a:endParaRPr lang="en-US" sz="2200" dirty="0"/>
          </a:p>
        </p:txBody>
      </p:sp>
      <p:sp>
        <p:nvSpPr>
          <p:cNvPr id="22" name="Text 16"/>
          <p:cNvSpPr txBox="1"/>
          <p:nvPr/>
        </p:nvSpPr>
        <p:spPr>
          <a:xfrm>
            <a:off x="7635240" y="448056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-12: impossibile (bonus)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Solo uno di questi problemi ha prodotto un errore. Gli altri erano silenziosi.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Prossima volta: pulire i dati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Compito: Kaggle Learn – Pandas, prime due lezioni (~40 min)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A 2026">
  <a:themeElements>
    <a:clrScheme name="SIMA 2026">
      <a:dk1>
        <a:srgbClr val="1F2A30"/>
      </a:dk1>
      <a:lt1>
        <a:srgbClr val="FFFFFF"/>
      </a:lt1>
      <a:dk2>
        <a:srgbClr val="0F4C5C"/>
      </a:dk2>
      <a:lt2>
        <a:srgbClr val="EEF3F4"/>
      </a:lt2>
      <a:accent1>
        <a:srgbClr val="E09F3E"/>
      </a:accent1>
      <a:accent2>
        <a:srgbClr val="0F4C5C"/>
      </a:accent2>
      <a:accent3>
        <a:srgbClr val="9E2A2B"/>
      </a:accent3>
      <a:accent4>
        <a:srgbClr val="3A7D44"/>
      </a:accent4>
      <a:accent5>
        <a:srgbClr val="5C6F7B"/>
      </a:accent5>
      <a:accent6>
        <a:srgbClr val="B8C4CB"/>
      </a:accent6>
      <a:hlink>
        <a:srgbClr val="0F4C5C"/>
      </a:hlink>
      <a:folHlink>
        <a:srgbClr val="5C6F7B"/>
      </a:folHlink>
    </a:clrScheme>
    <a:fontScheme name="SIMA 2026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L2 — Conosci il tuo dataset</dc:title>
  <dc:subject>PptxGenJS Presentation</dc:subject>
  <dc:creator>SIMA 2026</dc:creator>
  <cp:lastModifiedBy>SIMA 2026</cp:lastModifiedBy>
  <cp:revision>1</cp:revision>
  <dcterms:created xsi:type="dcterms:W3CDTF">2026-10-06T08:48:09Z</dcterms:created>
  <dcterms:modified xsi:type="dcterms:W3CDTF">2026-10-06T08:48:09Z</dcterms:modified>
</cp:coreProperties>
</file>