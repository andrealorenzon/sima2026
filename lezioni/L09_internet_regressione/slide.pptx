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9fd140ec-2353-e182-f91e-8b1bc9aa6515}">
          <p14:sldIdLst>
            <p14:sldId id="256"/>
            <p14:sldId id="257"/>
          </p14:sldIdLst>
        </p14:section>
        <p14:section name="Spiegazione" id="{0c3566c1-814e-b32d-9010-b421a827f752}">
          <p14:sldIdLst>
            <p14:sldId id="258"/>
            <p14:sldId id="259"/>
            <p14:sldId id="260"/>
          </p14:sldIdLst>
        </p14:section>
        <p14:section name="Task" id="{76adc4a6-a765-6204-978e-f66f73409532}">
          <p14:sldIdLst>
            <p14:sldId id="261"/>
          </p14:sldIdLst>
        </p14:section>
        <p14:section name="Chiusura" id="{e75acf77-0bd7-3ae3-d6bf-76c6c0c28eac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Due novità: dati veri e la regressione. La regressione si usa come scatola nera: lanciarla e leggerla, non derivarla.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aprire la pagina GitHub di Our World in Data (owid/co2-data), mostrare il file CSV e il file che descrive le colonne (codebook). Leggere sempre la descrizione delle colonne prima di usarle.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 anticipare il problema degli aggregati: il passo 4 del task serve a scoprirlo.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summary è lungo e spaventa: indicare solo i tre numeri da leggere. Il resto (errori standard, p-value) verrà nei corsi di metodi.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download del CSV richiede qualche secondo. Al passo 4 la somma sarà enorme: chiedere cosa contiene davvero la colonna country.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F4C06E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zione">
    <p:bg>
      <p:bgPr>
        <a:solidFill>
          <a:srgbClr val="1F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B8C4CB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0F4C5C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7B"/>
                </a:solidFill>
              </a:rPr>
              <a:t>SIMA 2026 · L9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Dati da internet e una regressione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C06E"/>
                </a:solidFill>
              </a:rPr>
              <a:t>L9 · Informatica per economisti · SIMA 2026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Oggi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EEF3F4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1</a:t>
            </a:r>
            <a:endParaRPr lang="en-US" sz="208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</a:rPr>
              <a:t>Spiegazione e demo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5308"/>
                </a:solidFill>
              </a:rPr>
              <a:t>25 min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</a:rPr>
              <a:t>Leggere dati dal web, la regressione con statsmodels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0F4C5C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2</a:t>
            </a:r>
            <a:endParaRPr lang="en-US" sz="208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Task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C06E"/>
                </a:solidFill>
              </a:rPr>
              <a:t>60 min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CO₂ nel mondo, fatturato e addetti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3816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EEF3F4"/>
          </a:solidFill>
          <a:ln/>
        </p:spPr>
      </p:sp>
      <p:sp>
        <p:nvSpPr>
          <p:cNvPr id="16" name="Shape 14"/>
          <p:cNvSpPr/>
          <p:nvPr/>
        </p:nvSpPr>
        <p:spPr>
          <a:xfrm>
            <a:off x="845820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5820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3</a:t>
            </a:r>
            <a:endParaRPr lang="en-US" sz="208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</a:rPr>
              <a:t>Debrief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5308"/>
                </a:solidFill>
              </a:rPr>
              <a:t>25 min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</a:rPr>
              <a:t>Gli aggregati nascosti e le osservazioni perse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Dati da internet: un indirizzo al posto del file</a:t>
            </a:r>
            <a:endParaRPr lang="en-US" sz="3600" dirty="0"/>
          </a:p>
        </p:txBody>
      </p:sp>
      <p:sp>
        <p:nvSpPr>
          <p:cNvPr id="3" name="card-code"/>
          <p:cNvSpPr/>
          <p:nvPr/>
        </p:nvSpPr>
        <p:spPr>
          <a:xfrm>
            <a:off x="548640" y="1737360"/>
            <a:ext cx="7498080" cy="1280160"/>
          </a:xfrm>
          <a:prstGeom prst="roundRect">
            <a:avLst>
              <a:gd name="adj" fmla="val 8571"/>
            </a:avLst>
          </a:prstGeom>
          <a:solidFill>
            <a:srgbClr val="1F2A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 = "https://raw.githubusercontent.com/owid/...csv"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co2 = pd.read_csv(url)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91840"/>
            <a:ext cx="11064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2A30"/>
                </a:solidFill>
              </a:rPr>
              <a:t>Molti enti pubblicano dati scaricabili: Our World in Data, Eurostat, ISTAT, Banca d'Italia, World Bank.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2A30"/>
                </a:solidFill>
              </a:rPr>
              <a:t>Se il file è online, read_csv e read_excel accettano direttamente l'indirizzo.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2A30"/>
                </a:solidFill>
              </a:rPr>
              <a:t>Il vantaggio: rilanci il notebook e hai i dati aggiornati.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0F4C5C"/>
                </a:solidFill>
              </a:rPr>
              <a:t>Il rischio: i dati cambiano, e con loro i tuoi risultati. Annota quando li hai scaricati.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Leggere la descrizione dei dati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394960" cy="2560320"/>
          </a:xfrm>
          <a:prstGeom prst="roundRect">
            <a:avLst>
              <a:gd name="adj" fmla="val 4286"/>
            </a:avLst>
          </a:prstGeom>
          <a:solidFill>
            <a:srgbClr val="EEF3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5308"/>
                </a:solidFill>
              </a:rPr>
              <a:t>PRIMA DI ANALIZZARE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4846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F2A30"/>
                </a:solidFill>
              </a:rPr>
              <a:t>Ogni dataset serio ha una descrizione delle colonne (codebook): unità di misura, fonte, cosa contiene davvero ogni riga.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217920" y="1737360"/>
            <a:ext cx="5394960" cy="2560320"/>
          </a:xfrm>
          <a:prstGeom prst="roundRect">
            <a:avLst>
              <a:gd name="adj" fmla="val 4286"/>
            </a:avLst>
          </a:prstGeom>
          <a:solidFill>
            <a:srgbClr val="0F4C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9224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C06E"/>
                </a:solidFill>
              </a:rPr>
              <a:t>LA DOMANDA CHIAVE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423160"/>
            <a:ext cx="4846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Cosa rappresenta una riga? Un paese in un anno? O anche un continente, un gruppo di paesi, il mondo intero?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663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4C5C"/>
                </a:solidFill>
              </a:rPr>
              <a:t>Le stesse domande della L2, su dati che non hai preparato tu.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Una regressione in una riga</a:t>
            </a:r>
            <a:endParaRPr lang="en-US" sz="3600" dirty="0"/>
          </a:p>
        </p:txBody>
      </p:sp>
      <p:sp>
        <p:nvSpPr>
          <p:cNvPr id="3" name="card-code"/>
          <p:cNvSpPr/>
          <p:nvPr/>
        </p:nvSpPr>
        <p:spPr>
          <a:xfrm>
            <a:off x="548640" y="1737360"/>
            <a:ext cx="6583680" cy="1737360"/>
          </a:xfrm>
          <a:prstGeom prst="roundRect">
            <a:avLst>
              <a:gd name="adj" fmla="val 6316"/>
            </a:avLst>
          </a:prstGeom>
          <a:solidFill>
            <a:srgbClr val="1F2A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6126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statsmodels.formula.api as smf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smf.ols("fatturato ~ addetti", data=df).fit()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print(m.summary())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498080" y="182880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 ~ x": y in funzione di x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 ~ x + z": più variabili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0F4C5C"/>
                </a:solidFill>
              </a:rPr>
              <a:t>OLS: la retta che passa più vicino ai punti.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3520440" cy="1463040"/>
          </a:xfrm>
          <a:prstGeom prst="roundRect">
            <a:avLst>
              <a:gd name="adj" fmla="val 7500"/>
            </a:avLst>
          </a:prstGeom>
          <a:solidFill>
            <a:srgbClr val="EEF3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069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coefficiente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5262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</a:rPr>
              <a:t>di quanto cambia y, in media, se x aumenta di 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43400" y="3931920"/>
            <a:ext cx="3520440" cy="1463040"/>
          </a:xfrm>
          <a:prstGeom prst="roundRect">
            <a:avLst>
              <a:gd name="adj" fmla="val 7500"/>
            </a:avLst>
          </a:prstGeom>
          <a:solidFill>
            <a:srgbClr val="EEF3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4069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R²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45262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</a:rPr>
              <a:t>quanta parte della variabilità di y è descritta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38160" y="3931920"/>
            <a:ext cx="3520440" cy="1463040"/>
          </a:xfrm>
          <a:prstGeom prst="roundRect">
            <a:avLst>
              <a:gd name="adj" fmla="val 7500"/>
            </a:avLst>
          </a:prstGeom>
          <a:solidFill>
            <a:srgbClr val="EEF3F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12480" y="4069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No. Observations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45262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</a:rPr>
              <a:t>su quante righe è stata stimata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4C5C"/>
                </a:solidFill>
              </a:rPr>
              <a:t>Associazione, non causa: la causalità è il mestiere dei vostri corsi di econometria.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Task: CO₂ e fatturato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Dati veri, una regressione, e qualche sorpresa.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60 minuti · apri il notebook dal README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Prossima volta: dal notebook allo script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C06E"/>
                </a:solidFill>
              </a:rPr>
              <a:t>Compito: scegliete domanda e dati per il mini-progetto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A 2026">
  <a:themeElements>
    <a:clrScheme name="SIMA 2026">
      <a:dk1>
        <a:srgbClr val="1F2A30"/>
      </a:dk1>
      <a:lt1>
        <a:srgbClr val="FFFFFF"/>
      </a:lt1>
      <a:dk2>
        <a:srgbClr val="0F4C5C"/>
      </a:dk2>
      <a:lt2>
        <a:srgbClr val="EEF3F4"/>
      </a:lt2>
      <a:accent1>
        <a:srgbClr val="E09F3E"/>
      </a:accent1>
      <a:accent2>
        <a:srgbClr val="0F4C5C"/>
      </a:accent2>
      <a:accent3>
        <a:srgbClr val="9E2A2B"/>
      </a:accent3>
      <a:accent4>
        <a:srgbClr val="3A7D44"/>
      </a:accent4>
      <a:accent5>
        <a:srgbClr val="5C6F7B"/>
      </a:accent5>
      <a:accent6>
        <a:srgbClr val="B8C4CB"/>
      </a:accent6>
      <a:hlink>
        <a:srgbClr val="0F4C5C"/>
      </a:hlink>
      <a:folHlink>
        <a:srgbClr val="5C6F7B"/>
      </a:folHlink>
    </a:clrScheme>
    <a:fontScheme name="SIMA 2026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L9 — Dati da internet e una regressione</dc:title>
  <dc:subject>PptxGenJS Presentation</dc:subject>
  <dc:creator>SIMA 2026</dc:creator>
  <cp:lastModifiedBy>SIMA 2026</cp:lastModifiedBy>
  <cp:revision>1</cp:revision>
  <dcterms:created xsi:type="dcterms:W3CDTF">2026-10-25T09:30:43Z</dcterms:created>
  <dcterms:modified xsi:type="dcterms:W3CDTF">2026-10-25T09:30:43Z</dcterms:modified>
</cp:coreProperties>
</file>