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cb44a72a-686b-50c1-b627-b56982368f03}">
          <p14:sldIdLst>
            <p14:sldId id="256"/>
            <p14:sldId id="257"/>
          </p14:sldIdLst>
        </p14:section>
        <p14:section name="Spiegazione" id="{f830be02-6654-6dd1-a442-909e8f4a2058}">
          <p14:sldIdLst>
            <p14:sldId id="258"/>
            <p14:sldId id="259"/>
            <p14:sldId id="260"/>
            <p14:sldId id="261"/>
          </p14:sldIdLst>
        </p14:section>
        <p14:section name="Task" id="{f784eac3-0f62-616b-5b16-d58794bc619b}">
          <p14:sldIdLst>
            <p14:sldId id="262"/>
          </p14:sldIdLst>
        </p14:section>
        <p14:section name="Chiusura" id="{e9a21e3f-955a-176a-a128-a0403e639b1b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oggi si lavora sul dataset pulito (imprese_pulito.xlsx): è il risultato della L3. Finalmente domande da economisti.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che la nuova colonna compare in fondo a df.head(). Domanda: cosa succede se addetti vale 0? (divisione per zero: inf). Nel nostro dataset non capita, ma è da sapere.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È la tabella pivot di Excel, scritta. DEMO: groupby per anno, poi per settore. Far notare che il risultato è a sua volta una tabella su cui si può lavorare (ordinare, disegnare).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Esempio classico: entra Bill Gates in un bar, il reddito medio dei clienti diventa miliardario, quello mediano non cambia.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veloce dei tre grafici sul dataset. pandas usa matplotlib dietro le quinte: plt.title, plt.xlabel, plt.show.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passo 5 quasi tutti scriveranno 'Liguria' senza farsi domande. Il passo 6 serve a smontarlo.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Raggruppare, riassumere, disegnare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L5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Nuove colonne, groupby, media e mediana, grafici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Fatturato, regioni e settori, a piccoli passi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La regione più ricca? Il 2020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Nuove colonne: come una formula trascinata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IN EXCEL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Scrivi =C2/D2 nella prima cella e trascini la formula fino in fondo.</a:t>
            </a:r>
            <a:endParaRPr lang="en-US" sz="1900" dirty="0"/>
          </a:p>
        </p:txBody>
      </p:sp>
      <p:sp>
        <p:nvSpPr>
          <p:cNvPr id="6" name="card-code"/>
          <p:cNvSpPr/>
          <p:nvPr/>
        </p:nvSpPr>
        <p:spPr>
          <a:xfrm>
            <a:off x="6035040" y="1737360"/>
            <a:ext cx="55778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636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1945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df["ricavo"] = df["prezzo"] * df["qta"]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15468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Una riga sola, applicata a tutte le righe insieme.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F4C5C"/>
                </a:solidFill>
              </a:rPr>
              <a:t>Se manca uno dei due valori, il risultato è mancante.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Niente trascinamento, niente celle dimenticate in fondo al foglio.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Raggruppare: dividi, calcola, ricomponi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1</a:t>
            </a:r>
            <a:endParaRPr lang="en-US" sz="182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Dividi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7B"/>
                </a:solidFill>
              </a:rPr>
              <a:t>una tabella per ogni anno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86200" y="2423160"/>
            <a:ext cx="411480" cy="0"/>
          </a:xfrm>
          <a:prstGeom prst="line">
            <a:avLst/>
          </a:prstGeom>
          <a:noFill/>
          <a:ln w="25400">
            <a:solidFill>
              <a:srgbClr val="5C6F7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43400" y="169164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96596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2</a:t>
            </a:r>
            <a:endParaRPr lang="en-US" sz="182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Calcola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CB"/>
                </a:solidFill>
              </a:rPr>
              <a:t>la media di ognuna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80960" y="2423160"/>
            <a:ext cx="411480" cy="0"/>
          </a:xfrm>
          <a:prstGeom prst="line">
            <a:avLst/>
          </a:prstGeom>
          <a:noFill/>
          <a:ln w="25400">
            <a:solidFill>
              <a:srgbClr val="5C6F7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38160" y="169164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96596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3</a:t>
            </a:r>
            <a:endParaRPr lang="en-US" sz="182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Ricomponi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7B"/>
                </a:solidFill>
              </a:rPr>
              <a:t>una riga per anno</a:t>
            </a:r>
            <a:endParaRPr lang="en-US" sz="1500" dirty="0"/>
          </a:p>
        </p:txBody>
      </p:sp>
      <p:sp>
        <p:nvSpPr>
          <p:cNvPr id="20" name="card-code"/>
          <p:cNvSpPr/>
          <p:nvPr/>
        </p:nvSpPr>
        <p:spPr>
          <a:xfrm>
            <a:off x="548640" y="347472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9319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df.groupby("anno")["fatturato"].mean()</a:t>
            </a:r>
            <a:endParaRPr lang="en-US" sz="1800" dirty="0"/>
          </a:p>
        </p:txBody>
      </p:sp>
      <p:sp>
        <p:nvSpPr>
          <p:cNvPr id="23" name="card-code"/>
          <p:cNvSpPr/>
          <p:nvPr/>
        </p:nvSpPr>
        <p:spPr>
          <a:xfrm>
            <a:off x="548640" y="4846320"/>
            <a:ext cx="6583680" cy="1280160"/>
          </a:xfrm>
          <a:prstGeom prst="roundRect">
            <a:avLst>
              <a:gd name="adj" fmla="val 8571"/>
            </a:avLst>
          </a:prstGeom>
          <a:solidFill>
            <a:srgbClr val="1F2A3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983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3035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df.groupby("anno")["fatturato"]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.agg(["mean", "median", "count"])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356616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per ogni 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, della colonna 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fatturato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, calcola la media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Con agg: più statistiche insieme, una colonna ciascuna.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Media o mediana?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0020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020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65176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5176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70332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33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BE3B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</a:rPr>
              <a:t>cinque imprese, fatturato in milioni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EEF3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657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4C5C"/>
                </a:solidFill>
              </a:rPr>
              <a:t>22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media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166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(1+2+3+4+100)/5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34290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0F4C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20440" y="3657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3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mediana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5166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quella in mezzo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182880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Un solo valore estremo sposta la media, non la mediana.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Con dati asimmetrici (redditi, fatturati, prezzi delle case) la mediana descrive meglio l'impresa «tipica».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F4C5C"/>
                </a:solidFill>
              </a:rPr>
              <a:t>E guarda sempre quante osservazioni ci sono dietro un numero.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Quale grafico per quale domanda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58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Linea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03320"/>
            <a:ext cx="295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Come cambia nel tempo? plot()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28160" y="1737360"/>
            <a:ext cx="350520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460248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368" y="22585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248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Barre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02480" y="3703320"/>
            <a:ext cx="295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Come si confrontano delle categorie? plot(kind="barh")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07680" y="1737360"/>
            <a:ext cx="350520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38200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888" y="22585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8200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Istogramma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82000" y="3703320"/>
            <a:ext cx="295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Come sono distribuiti i valori? plot(kind="hist")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EEF3F4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UN GRAFICO ONESTO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Titolo, assi con le unità di misura, barre in ordine. Se non si capisce senza spiegarlo a voce, non è finito.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raggruppa e disegna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Il numero che ottieni racconta davvero quello che sembra?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unire tabelle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Kaggle Learn – Pandas, «Grouping and Sorting» (~20 min)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L5 — Raggruppare, riassumere, disegnare</dc:title>
  <dc:subject>PptxGenJS Presentation</dc:subject>
  <dc:creator>SIMA 2026</dc:creator>
  <cp:lastModifiedBy>SIMA 2026</cp:lastModifiedBy>
  <cp:revision>1</cp:revision>
  <dcterms:created xsi:type="dcterms:W3CDTF">2026-10-25T09:30:41Z</dcterms:created>
  <dcterms:modified xsi:type="dcterms:W3CDTF">2026-10-25T09:30:41Z</dcterms:modified>
</cp:coreProperties>
</file>