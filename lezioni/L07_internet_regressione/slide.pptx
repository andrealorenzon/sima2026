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afed00a8-000b-000c-d1b4-f8e7197d030d}">
          <p14:sldIdLst>
            <p14:sldId id="256"/>
            <p14:sldId id="257"/>
          </p14:sldIdLst>
        </p14:section>
        <p14:section name="Spiegazione" id="{04599c37-0ac0-2c86-a92b-da233b26dedf}">
          <p14:sldIdLst>
            <p14:sldId id="258"/>
            <p14:sldId id="259"/>
            <p14:sldId id="260"/>
          </p14:sldIdLst>
        </p14:section>
        <p14:section name="Task" id="{eaac964a-964e-d533-c4a1-68fa89a5393e}">
          <p14:sldIdLst>
            <p14:sldId id="261"/>
          </p14:sldIdLst>
        </p14:section>
        <p14:section name="Chiusura" id="{1b5eed0e-40e0-b0b8-f75c-38da9a9834c8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Due novità: dati veri e la regressione. La regressione si usa come scatola nera: lanciarla e leggerla, non derivarla.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aprire la pagina GitHub di Our World in Data (owid/co2-data), mostrare il file CSV e il file che descrive le colonne (codebook). Leggere sempre la descrizione delle colonne prima di usarle.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Non anticipare il problema degli aggregati: il passo 4 del task serve a scoprirlo.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summary è lungo e spaventa: indicare solo i tre numeri da leggere. Il resto (errori standard, p-value) verrà nei corsi di metodi.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download del CSV richiede qualche secondo. Al passo 4 la somma sarà enorme: chiedere cosa contiene davvero la colonna country.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">
    <p:bg>
      <p:bgPr>
        <a:solidFill>
          <a:srgbClr val="0F4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F4C06E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zione">
    <p:bg>
      <p:bgPr>
        <a:solidFill>
          <a:srgbClr val="1F2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B8C4CB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0F4C5C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7B"/>
                </a:solidFill>
              </a:rPr>
              <a:t>SIMA 2026 · L7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Dati da internet e una regressione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L7 · Informatica per economisti · SIMA 2026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Oggi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1</a:t>
            </a:r>
            <a:endParaRPr lang="en-US" sz="208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Spiegazione e demo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Leggere dati dal web, la regressione con statsmodels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4340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0F4C5C"/>
          </a:solidFill>
          <a:ln/>
        </p:spPr>
      </p:sp>
      <p:sp>
        <p:nvSpPr>
          <p:cNvPr id="10" name="Shape 8"/>
          <p:cNvSpPr/>
          <p:nvPr/>
        </p:nvSpPr>
        <p:spPr>
          <a:xfrm>
            <a:off x="466344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6344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2</a:t>
            </a:r>
            <a:endParaRPr lang="en-US" sz="208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Task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C06E"/>
                </a:solidFill>
              </a:rPr>
              <a:t>60 min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CO₂ nel mondo, fatturato e addetti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13816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16" name="Shape 14"/>
          <p:cNvSpPr/>
          <p:nvPr/>
        </p:nvSpPr>
        <p:spPr>
          <a:xfrm>
            <a:off x="845820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45820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3</a:t>
            </a:r>
            <a:endParaRPr lang="en-US" sz="2080" dirty="0"/>
          </a:p>
        </p:txBody>
      </p:sp>
      <p:sp>
        <p:nvSpPr>
          <p:cNvPr id="18" name="Text 16"/>
          <p:cNvSpPr txBox="1"/>
          <p:nvPr/>
        </p:nvSpPr>
        <p:spPr>
          <a:xfrm>
            <a:off x="845820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Debrief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845820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45820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Gli aggregati nascosti e le osservazioni perse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Dati da internet: un indirizzo al posto del file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7498080" cy="1280160"/>
          </a:xfrm>
          <a:prstGeom prst="roundRect">
            <a:avLst>
              <a:gd name="adj" fmla="val 8571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 = "https://raw.githubusercontent.com/owid/...csv"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co2 = pd.read_csv(url)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91840"/>
            <a:ext cx="110642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F2A30"/>
                </a:solidFill>
              </a:rPr>
              <a:t>Molti enti pubblicano dati scaricabili: Our World in Data, Eurostat, ISTAT, Banca d'Italia, World Bank.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F2A30"/>
                </a:solidFill>
              </a:rPr>
              <a:t>Se il file è online, read_csv e read_excel accettano direttamente l'indirizzo.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F2A30"/>
                </a:solidFill>
              </a:rPr>
              <a:t>Il vantaggio: rilanci il notebook e hai i dati aggiornati.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0F4C5C"/>
                </a:solidFill>
              </a:rPr>
              <a:t>Il rischio: i dati cambiano, e con loro i tuoi risultati. Annota quando li hai scaricati.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Leggere la descrizione dei dati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5394960" cy="2560320"/>
          </a:xfrm>
          <a:prstGeom prst="roundRect">
            <a:avLst>
              <a:gd name="adj" fmla="val 4286"/>
            </a:avLst>
          </a:prstGeom>
          <a:solidFill>
            <a:srgbClr val="EEF3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9659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F5308"/>
                </a:solidFill>
              </a:rPr>
              <a:t>PRIMA DI ANALIZZARE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423160"/>
            <a:ext cx="48463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F2A30"/>
                </a:solidFill>
              </a:rPr>
              <a:t>Ogni dataset serio ha una descrizione delle colonne (codebook): unità di misura, fonte, cosa contiene davvero ogni riga.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217920" y="1737360"/>
            <a:ext cx="5394960" cy="2560320"/>
          </a:xfrm>
          <a:prstGeom prst="roundRect">
            <a:avLst>
              <a:gd name="adj" fmla="val 4286"/>
            </a:avLst>
          </a:prstGeom>
          <a:solidFill>
            <a:srgbClr val="0F4C5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92240" y="19659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4C06E"/>
                </a:solidFill>
              </a:rPr>
              <a:t>LA DOMANDA CHIAVE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2423160"/>
            <a:ext cx="48463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</a:rPr>
              <a:t>Cosa rappresenta una riga? Un paese in un anno? O anche un continente, un gruppo di paesi, il mondo intero?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6634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Le stesse domande della L2, su dati che non hai preparato tu.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Una regressione in una riga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6583680" cy="1737360"/>
          </a:xfrm>
          <a:prstGeom prst="roundRect">
            <a:avLst>
              <a:gd name="adj" fmla="val 6316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6126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statsmodels.formula.api as smf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 = smf.ols("fatturato ~ addetti", data=df).fit()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print(m.summary())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498080" y="1828800"/>
            <a:ext cx="4114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"y ~ x": y in funzione di x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"y ~ x + z": più variabili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0F4C5C"/>
                </a:solidFill>
              </a:rPr>
              <a:t>OLS: la retta che passa più vicino ai punti.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393192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EEF3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4069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coefficiente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5262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A30"/>
                </a:solidFill>
              </a:rPr>
              <a:t>di quanto cambia y, in media, se x aumenta di 1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343400" y="393192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EEF3F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17720" y="4069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R²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45262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A30"/>
                </a:solidFill>
              </a:rPr>
              <a:t>quanta parte della variabilità di y è descritta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138160" y="393192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EEF3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412480" y="4069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No. Observations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412480" y="45262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A30"/>
                </a:solidFill>
              </a:rPr>
              <a:t>su quante righe è stata stimata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Associazione, non causa: la causalità è il mestiere dei vostri corsi di econometria.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Task: CO₂ e fatturato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Dati veri, una regressione, e qualche sorpresa.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60 minuti · apri il notebook dal README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Prossima volta: dal notebook allo script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Compito: scegliete domanda e dati per il mini-progetto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A 2026">
  <a:themeElements>
    <a:clrScheme name="SIMA 2026">
      <a:dk1>
        <a:srgbClr val="1F2A30"/>
      </a:dk1>
      <a:lt1>
        <a:srgbClr val="FFFFFF"/>
      </a:lt1>
      <a:dk2>
        <a:srgbClr val="0F4C5C"/>
      </a:dk2>
      <a:lt2>
        <a:srgbClr val="EEF3F4"/>
      </a:lt2>
      <a:accent1>
        <a:srgbClr val="E09F3E"/>
      </a:accent1>
      <a:accent2>
        <a:srgbClr val="0F4C5C"/>
      </a:accent2>
      <a:accent3>
        <a:srgbClr val="9E2A2B"/>
      </a:accent3>
      <a:accent4>
        <a:srgbClr val="3A7D44"/>
      </a:accent4>
      <a:accent5>
        <a:srgbClr val="5C6F7B"/>
      </a:accent5>
      <a:accent6>
        <a:srgbClr val="B8C4CB"/>
      </a:accent6>
      <a:hlink>
        <a:srgbClr val="0F4C5C"/>
      </a:hlink>
      <a:folHlink>
        <a:srgbClr val="5C6F7B"/>
      </a:folHlink>
    </a:clrScheme>
    <a:fontScheme name="SIMA 2026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L7 — Dati da internet e una regressione</dc:title>
  <dc:subject>PptxGenJS Presentation</dc:subject>
  <dc:creator>SIMA 2026</dc:creator>
  <cp:lastModifiedBy>SIMA 2026</cp:lastModifiedBy>
  <cp:revision>1</cp:revision>
  <dcterms:created xsi:type="dcterms:W3CDTF">2026-10-09T09:08:27Z</dcterms:created>
  <dcterms:modified xsi:type="dcterms:W3CDTF">2026-10-09T09:08:27Z</dcterms:modified>
</cp:coreProperties>
</file>