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e87b6070-1303-74ad-df8f-84d10c26f41b}">
          <p14:sldIdLst>
            <p14:sldId id="256"/>
            <p14:sldId id="257"/>
          </p14:sldIdLst>
        </p14:section>
        <p14:section name="Spiegazione" id="{a40e7ebd-3467-263c-42d8-eb4a9c0f374c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Task" id="{1e9b1b31-6c63-b89f-615d-6f2a01e98d42}">
          <p14:sldIdLst>
            <p14:sldId id="269"/>
          </p14:sldIdLst>
        </p14:section>
        <p14:section name="Chiusura" id="{067ab80e-53c5-1430-ccf6-eec48af5a81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Ripasso veloce della L1: variabili, tipi, la trappola "5000" * 2. Oggi lo stesso problema dei tipi torna fuori, ma su un file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formato della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caricare imprese.xlsx in Colab, poi df da solo in una cella per vedere la tabella. Sottolineare che df è una variabile come capitale nella L1, solo che contiene una tabella intera.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scrive da zero il codice per leggere un Excel: qualcuno l'ha già fatto. Una libreria è codice di altri, pronto da usare. In Colab sono già installate.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df è una convenzione, non un obbligo. Far notare che l'indice parte da 0: domanda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liste torneranno di continuo: più colonne (subito, nella prossima slide), i risultati di un ciclo e l'elenco dei file (L6). DEMO: regioni[0:2] e len dopo append.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slicing funziona così ovunque in Python: liste, testi, DataFrame. Domanda alla classe: come prendo le righe dalla 10 alla 19 comprese? (iloc[10:20]). Non entrare in loc vs iloc: basta iloc.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Disegnare la riga di caselle con la lavagna di Zoom (Condividi → Lavagna) con i tagli. Funziona uguale per liste, testi ("Milano"[0:3] = "Mil") e righe di un DataFrame con iloc. Il numero tra parentesi quadre senza i due punti è invece una casella: x[2] è la terza.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serve raramente con i DataFrame (df.iloc[::100] per vedere una riga ogni 100 è il caso tipico), ma [::-1] per invertire è un classico che troveranno ovunque.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nella slide è semplificata (colonne scelte per chiarezza). Dal vivo: aprire imprese.xlsx in Excel o Google Sheets accanto a Colab, selezionare A2:C6, poi eseguire df.iloc[0:5, 0:3]: sono le stesse celle. Con i tagli della slide precedente: il taglio 0 sta sotto l'intestazione, il taglio 5 dopo la quinta riga di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astratto, tenerlo leggero. In Colab: scrivere df. e premere Tab per vedere tutto quello che si può chiedere.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aprire la pagina della documentazione dei DataFrame, mostrare l'elenco dei metodi, cliccarne uno (head) e far vedere la struttura: parametri, cosa restituisce, esempi in fondo. Gli esempi in fondo sono la parte più utile.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serve memorizzare i comandi: serve ricordarsi le domande. I comandi si cercano.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segnarsi chi trova i problemi e come. Molti al passo 7 vedranno 'n.d.' come massimo e non si faranno domande: è il punto del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lezioni Kaggle: Creating, Reading and Writing; Indexing, Selecting &amp; Assigning.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Conosci il tuo dataset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L2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Librerie, DataFrame, metodi e attributi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Esplorare imprese.xlsx,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non torna nel dataset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Excel a Python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Excel il file lo apri e lo guardi.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Python lo carichi in una variabile e gli fai domande.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file originale non viene mai modificato.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011680"/>
          </a:xfrm>
          <a:prstGeom prst="roundRect">
            <a:avLst>
              <a:gd name="adj" fmla="val 545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02336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4805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il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 è nella variabile df)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librerie: attrezzi già pronti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Tabelle: leggere, filtrare, riassumere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34340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97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4340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Grafici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1381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3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Statistica ed econometria</a:t>
            </a:r>
            <a:endParaRPr lang="en-US" sz="1600" dirty="0"/>
          </a:p>
        </p:txBody>
      </p:sp>
      <p:sp>
        <p:nvSpPr>
          <p:cNvPr id="15" name="card-code"/>
          <p:cNvSpPr/>
          <p:nvPr/>
        </p:nvSpPr>
        <p:spPr>
          <a:xfrm>
            <a:off x="548640" y="448056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77240" y="4617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93776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949440" y="4480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prende la libreria;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pd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le dà un nome corto.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DataFrame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45920"/>
                <a:gridCol w="23774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id_impresa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regione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anno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addetti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82880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tabella, come un foglio Excel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riga è un'osservazione: un'impresa in un anno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colonna ha un nome e un tipo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A sinistra l'indice: il numero della riga, parte da 0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475488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2120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    # una colonna sola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liste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766560" cy="2926080"/>
          </a:xfrm>
          <a:prstGeom prst="roundRect">
            <a:avLst>
              <a:gd name="adj" fmla="val 375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3093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 = ["Lombardia", "Lazio", "Sicilia"]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len(regioni)        # 3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regioni[0]          # "Lombardia"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regioni[-1]         # "Sicilia"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regioni.append("Puglia")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680960" y="1828800"/>
            <a:ext cx="3931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sequenza di valori tra parentesi quadre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Si conta da 0, come in tutto Python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Lo slicing funziona come sul testo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0F4C5C"/>
                </a:solidFill>
              </a:rPr>
              <a:t>Più colonne di una tabella? Una lista di nomi.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Selezionare righe e colonne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675120" y="16459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una colonna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df[["regione", "anno"]]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060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più colonne: una lista, doppie parentesi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56616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df.iloc[0:5]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5661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per posizione: 0, 1, 2, 3, 4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452628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5262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df[df["anno"] == 2020]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45262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che rispettano una condizione: == chiede «è uguale?»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Attenzione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in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il primo numero è incluso, il secondo escluso. E si parte da 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Slicing: dove cadono i tagli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4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8288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554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7432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6576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832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976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26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537960" y="1554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tagli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322783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posizione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353872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dalla fine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x[1:4]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 →  B C D: si taglia al 1 e al 4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863840" y="1691640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092440" y="17647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 B C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8092440" y="2148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dall'inizio al taglio 3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7863840" y="2715768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092440" y="2788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 E F</a:t>
            </a:r>
            <a:endParaRPr lang="en-US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8092440" y="31729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 taglio 3 alla fine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863840" y="3739896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092440" y="381304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x[-2:]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 F</a:t>
            </a:r>
            <a:endParaRPr lang="en-US" sz="1700" dirty="0"/>
          </a:p>
        </p:txBody>
      </p:sp>
      <p:sp>
        <p:nvSpPr>
          <p:cNvPr id="53" name="Text 51"/>
          <p:cNvSpPr txBox="1"/>
          <p:nvPr/>
        </p:nvSpPr>
        <p:spPr>
          <a:xfrm>
            <a:off x="8092440" y="419709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gli ultimi 2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7863840" y="4764024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92440" y="48371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x[2]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</a:t>
            </a:r>
            <a:endParaRPr lang="en-US" sz="1700" dirty="0"/>
          </a:p>
        </p:txBody>
      </p:sp>
      <p:sp>
        <p:nvSpPr>
          <p:cNvPr id="56" name="Text 54"/>
          <p:cNvSpPr txBox="1"/>
          <p:nvPr/>
        </p:nvSpPr>
        <p:spPr>
          <a:xfrm>
            <a:off x="8092440" y="522122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un elemento solo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I numeri dello slicing non indicano le caselle, ma i tagli tra una casella e l'altra. Così fine − inizio = quanti elementi ottieni.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Omissioni e passo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Omettere inizio o fine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Il terzo numero: il passo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Se manca l'inizio si parte da 0; se manca la fine si arriva in fondo.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[inizio:fine:passo]  —  ogni quante caselle prenderne una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x[0:3]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x[3:6]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E F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x[:] 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x[0:6]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tutto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 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D F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1792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652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x[::-1]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78408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E D C B A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 D E F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  Con il passo negativo si va all'indietro: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[::-1]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inverte.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iloc è come un intervallo di Excel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impresa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anno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addetti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regione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2021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5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6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7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IMP0002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Lazio</a:t>
            </a:r>
            <a:endParaRPr lang="en-US" sz="110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51937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</a:rPr>
              <a:t>Excel  </a:t>
            </a:r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A2:C6</a:t>
            </a:r>
            <a:endParaRPr lang="en-US" sz="1800" dirty="0"/>
          </a:p>
        </p:txBody>
      </p:sp>
      <p:sp>
        <p:nvSpPr>
          <p:cNvPr id="84" name="card-code"/>
          <p:cNvSpPr/>
          <p:nvPr/>
        </p:nvSpPr>
        <p:spPr>
          <a:xfrm>
            <a:off x="5577840" y="169164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8064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5806440" y="214884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df.iloc[0:5, 0:3]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3063240"/>
          <a:ext cx="60350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Excel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iloc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riga di dati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2 (la 1 è l'intestazione)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Fine dell'intervallo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inclusa (C6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esclusa (5 non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Colonne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lettere: A, B, C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numeri: 0, 1, 2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righe, poi colonne?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no: A2 = colonna, riga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sì: [righe, colonne]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88" name="Text 85"/>
          <p:cNvSpPr txBox="1"/>
          <p:nvPr/>
        </p:nvSpPr>
        <p:spPr>
          <a:xfrm>
            <a:off x="5577840" y="5577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Stesse celle: cambiano solo i numeri.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Fare domande a un oggetto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Metodo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un'azione: ha le parentesi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df.head(3)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prime 3 righe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Attributo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un'informazione: niente parentesi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(2515, 9)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df è un oggetto: dati, più tutte le cose che puoi chiedergli. Il punto le collega.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scoprire cosa sa fare un oggetto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 + Tab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In Colab: l'elenco di tutto quello che puoi chiedere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help(df.head)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spiegazione di un metodo, con esempi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La documentazione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pandas.pydata.org → API reference → DataFrame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Nessuno conosce tutti i metodi. Si cercano, ogni giorno, anche dopo anni.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domande da fare sempre a un 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Quanto è grande?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644652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Di che tipo sono le colonne?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df.dtypes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Quanti valori diversi?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df["col"].nunique()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Quali valori, e quante volte?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df["col"].value_counts()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Prima di qualunque analisi. Sempre.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conosci il tuo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Un collega ti manda imprese.xlsx. Ti puoi fidare?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prime due lezioni, ed esercizi C1-C2 del notebook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— Conosci il tuo dataset</dc:title>
  <dc:subject>PptxGenJS Presentation</dc:subject>
  <dc:creator>SIMA 2026</dc:creator>
  <cp:lastModifiedBy>SIMA 2026</cp:lastModifiedBy>
  <cp:revision>1</cp:revision>
  <dcterms:created xsi:type="dcterms:W3CDTF">2026-10-12T17:30:50Z</dcterms:created>
  <dcterms:modified xsi:type="dcterms:W3CDTF">2026-10-12T17:30:50Z</dcterms:modified>
</cp:coreProperties>
</file>