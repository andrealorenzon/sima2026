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adb10b21-b838-5961-5539-d7025c319358}">
          <p14:sldIdLst>
            <p14:sldId id="256"/>
            <p14:sldId id="257"/>
          </p14:sldIdLst>
        </p14:section>
        <p14:section name="Spiegazione" id="{94f952b7-aa52-487d-cc7c-a2691d3901dc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Task" id="{3af35d32-966d-f755-6eee-07261d925cb4}">
          <p14:sldIdLst>
            <p14:sldId id="264"/>
          </p14:sldIdLst>
        </p14:section>
        <p14:section name="Extra" id="{3ab71ce3-2745-c1db-c727-61a3418672c2}">
          <p14:sldIdLst>
            <p14:sldId id="265"/>
          </p14:sldIdLst>
        </p14:section>
        <p14:section name="Chiusura" id="{ac8511fb-5609-aeec-33ab-8398ed68a790}">
          <p14:sldIdLst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Benvenuto. Presentazione rapida del corso: sei settimane, formato fisso (spiegazione, task, debrief). Obiettivo: non imparare a memoria, ma saper cercare e verificare.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formato è sempre lo stesso: imparano la forma una volta sola. Il task è il cuore della lezione.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 righe, eseguite dall'alto in basso. Se scambio l'ordine (print prima delle variabili) non funziona: è il primo concetto da far passare.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README su GitHub, pulsante Open in Colab, eseguire una cella, modificarla, rieseguirla. Mostrare File &gt; Salva una copia in Drive: senza, perdono il lavoro.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pulsante Gemini in Colab, fare la richiesta, leggere insieme riga per riga il codice prodotto. Chiedere alla classe: il risultato è plausibile? Come lo verifichiamo? (1000 x 1.03^10 circa 1344)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provocare l'errore, leggere il messaggio, cercare l'ultima riga su Google e aprire il primo risultato insieme.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Insistere sul limite dei 10 minuti: meglio chiedere che perdere mezz'ora.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 Zoom: stanze separate da 3. Comporre i gruppi mescolando chi ha già qualche esperienza (Stata, R, Excel avanzato) con chi parte da zero. Gruppi fissi per qualche settimana aiutano. Il codice sta nel notebook di chi scrive: per questo i ruoli ruotano a ogni incontro e non a ogni passo. A fine lezione chi ha scritto condivide il notebook con gli altri due.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Durante il task: girare tra i banchi, segnarsi le soluzioni interessanti (anche sbagliate) da mostrare nel debrief. Al passo 7 molti non capiranno: è voluto.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Facoltativo: chi non vuole un account GitHub può continuare a salvare su Drive. Il fork è utile anche dopo il corso, come archivio personale del proprio lavoro. Di default il fork copia solo il branch principale, quindi niente soluzioni: vanno lette dal link nel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problema dei tipi tornerà con l'Excel. Ricordare di creare l'account Kaggle.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olo">
    <p:bg>
      <p:bgPr>
        <a:solidFill>
          <a:srgbClr val="0F4C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rgbClr val="F4C06E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zione">
    <p:bg>
      <p:bgPr>
        <a:solidFill>
          <a:srgbClr val="1F2A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rgbClr val="B8C4CB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t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0F4C5C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F7B"/>
                </a:solidFill>
              </a:rPr>
              <a:t>SIMA 2026 · L1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Python come calcolatrice intelligente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4C06E"/>
                </a:solidFill>
              </a:rPr>
              <a:t>L1 · Informatica per economisti · SIMA 2026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Oggi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1</a:t>
            </a:r>
            <a:endParaRPr lang="en-US" sz="208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</a:rPr>
              <a:t>Spiegazione e demo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5308"/>
                </a:solidFill>
              </a:rPr>
              <a:t>25 min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30"/>
                </a:solidFill>
              </a:rPr>
              <a:t>Programmi, Colab, Gemini, errori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34340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0F4C5C"/>
          </a:solidFill>
          <a:ln/>
        </p:spPr>
      </p:sp>
      <p:sp>
        <p:nvSpPr>
          <p:cNvPr id="10" name="Shape 8"/>
          <p:cNvSpPr/>
          <p:nvPr/>
        </p:nvSpPr>
        <p:spPr>
          <a:xfrm>
            <a:off x="466344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6344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2</a:t>
            </a:r>
            <a:endParaRPr lang="en-US" sz="208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Task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C06E"/>
                </a:solidFill>
              </a:rPr>
              <a:t>60 min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Il risparmio di Marco, a piccoli passi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13816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EEF3F4"/>
          </a:solidFill>
          <a:ln/>
        </p:spPr>
      </p:sp>
      <p:sp>
        <p:nvSpPr>
          <p:cNvPr id="16" name="Shape 14"/>
          <p:cNvSpPr/>
          <p:nvPr/>
        </p:nvSpPr>
        <p:spPr>
          <a:xfrm>
            <a:off x="845820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45820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3</a:t>
            </a:r>
            <a:endParaRPr lang="en-US" sz="2080" dirty="0"/>
          </a:p>
        </p:txBody>
      </p:sp>
      <p:sp>
        <p:nvSpPr>
          <p:cNvPr id="18" name="Text 16"/>
          <p:cNvSpPr txBox="1"/>
          <p:nvPr/>
        </p:nvSpPr>
        <p:spPr>
          <a:xfrm>
            <a:off x="845820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</a:rPr>
              <a:t>Debrief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845820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5308"/>
                </a:solidFill>
              </a:rPr>
              <a:t>25 min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845820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30"/>
                </a:solidFill>
              </a:rPr>
              <a:t>Variabili, tipi, la prima trappola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Cos'è un programma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828800"/>
            <a:ext cx="49377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200" dirty="0">
                <a:solidFill>
                  <a:srgbClr val="1F2A30"/>
                </a:solidFill>
              </a:rPr>
              <a:t>Una lista di istruzioni, eseguite in ordine, una dopo l'altra.</a:t>
            </a:r>
            <a:endParaRPr lang="en-US" sz="2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0F4C5C"/>
                </a:solidFill>
              </a:rPr>
              <a:t>Il computer non capisce: esegue. Esattamente quello che scrivi.</a:t>
            </a:r>
            <a:endParaRPr lang="en-US" sz="2200" dirty="0"/>
          </a:p>
        </p:txBody>
      </p:sp>
      <p:sp>
        <p:nvSpPr>
          <p:cNvPr id="4" name="card-code"/>
          <p:cNvSpPr/>
          <p:nvPr/>
        </p:nvSpPr>
        <p:spPr>
          <a:xfrm>
            <a:off x="6035040" y="1737360"/>
            <a:ext cx="5577840" cy="2377440"/>
          </a:xfrm>
          <a:prstGeom prst="roundRect">
            <a:avLst>
              <a:gd name="adj" fmla="val 4615"/>
            </a:avLst>
          </a:prstGeom>
          <a:solidFill>
            <a:srgbClr val="1F2A3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2636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263640" y="2194560"/>
            <a:ext cx="51206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capitale = 5000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tasso = 0.025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print(capitale * (1 + tasso))</a:t>
            </a:r>
            <a:endParaRPr lang="en-US" sz="2000" dirty="0"/>
          </a:p>
        </p:txBody>
      </p:sp>
      <p:sp>
        <p:nvSpPr>
          <p:cNvPr id="7" name="card-out"/>
          <p:cNvSpPr/>
          <p:nvPr/>
        </p:nvSpPr>
        <p:spPr>
          <a:xfrm>
            <a:off x="6035040" y="4389120"/>
            <a:ext cx="5577840" cy="1280160"/>
          </a:xfrm>
          <a:prstGeom prst="roundRect">
            <a:avLst>
              <a:gd name="adj" fmla="val 8571"/>
            </a:avLst>
          </a:prstGeom>
          <a:solidFill>
            <a:srgbClr val="EEF3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263640" y="4526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484632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5125.0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Colab: il nostro ambiente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005840" cy="1005840"/>
          </a:xfrm>
          <a:prstGeom prst="ellipse">
            <a:avLst/>
          </a:prstGeom>
          <a:solidFill>
            <a:srgbClr val="EEF3F4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0217" y="2008937"/>
            <a:ext cx="462686" cy="46268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29260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Nel browser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3832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Gratis, niente da installare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383280" y="1737360"/>
            <a:ext cx="1005840" cy="1005840"/>
          </a:xfrm>
          <a:prstGeom prst="ellipse">
            <a:avLst/>
          </a:prstGeom>
          <a:solidFill>
            <a:srgbClr val="EEF3F4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4857" y="2008937"/>
            <a:ext cx="462686" cy="46268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383280" y="29260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Account Google</a:t>
            </a:r>
            <a:endParaRPr 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3383280" y="33832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L'unica cosa che serve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6217920" y="1737360"/>
            <a:ext cx="1005840" cy="1005840"/>
          </a:xfrm>
          <a:prstGeom prst="ellipse">
            <a:avLst/>
          </a:prstGeom>
          <a:solidFill>
            <a:srgbClr val="EEF3F4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9497" y="2008937"/>
            <a:ext cx="462686" cy="462686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217920" y="29260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Celle</a:t>
            </a:r>
            <a:endParaRPr lang="en-US" sz="2200" dirty="0"/>
          </a:p>
        </p:txBody>
      </p:sp>
      <p:sp>
        <p:nvSpPr>
          <p:cNvPr id="14" name="Text 9"/>
          <p:cNvSpPr txBox="1"/>
          <p:nvPr/>
        </p:nvSpPr>
        <p:spPr>
          <a:xfrm>
            <a:off x="6217920" y="33832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Testo e codice, alternati</a:t>
            </a:r>
            <a:endParaRPr lang="en-US" sz="1600" dirty="0"/>
          </a:p>
        </p:txBody>
      </p:sp>
      <p:sp>
        <p:nvSpPr>
          <p:cNvPr id="15" name="Shape 10"/>
          <p:cNvSpPr/>
          <p:nvPr/>
        </p:nvSpPr>
        <p:spPr>
          <a:xfrm>
            <a:off x="9052560" y="1737360"/>
            <a:ext cx="1005840" cy="1005840"/>
          </a:xfrm>
          <a:prstGeom prst="ellipse">
            <a:avLst/>
          </a:prstGeom>
          <a:solidFill>
            <a:srgbClr val="EEF3F4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4137" y="2008937"/>
            <a:ext cx="462686" cy="462686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9052560" y="29260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Shift + Invio</a:t>
            </a:r>
            <a:endParaRPr lang="en-US" sz="2200" dirty="0"/>
          </a:p>
        </p:txBody>
      </p:sp>
      <p:sp>
        <p:nvSpPr>
          <p:cNvPr id="18" name="Text 12"/>
          <p:cNvSpPr txBox="1"/>
          <p:nvPr/>
        </p:nvSpPr>
        <p:spPr>
          <a:xfrm>
            <a:off x="9052560" y="33832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Esegue la cella selezionata</a:t>
            </a:r>
            <a:endParaRPr lang="en-US" sz="1600" dirty="0"/>
          </a:p>
        </p:txBody>
      </p:sp>
      <p:sp>
        <p:nvSpPr>
          <p:cNvPr id="19" name="Shape 13"/>
          <p:cNvSpPr/>
          <p:nvPr/>
        </p:nvSpPr>
        <p:spPr>
          <a:xfrm>
            <a:off x="548640" y="466344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EEF3F4"/>
          </a:solidFill>
          <a:ln/>
        </p:spPr>
      </p:sp>
      <p:sp>
        <p:nvSpPr>
          <p:cNvPr id="20" name="Text 14"/>
          <p:cNvSpPr txBox="1"/>
          <p:nvPr/>
        </p:nvSpPr>
        <p:spPr>
          <a:xfrm>
            <a:off x="822960" y="46634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5308"/>
                </a:solidFill>
              </a:rPr>
              <a:t>Demo  </a:t>
            </a:r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</a:rPr>
              <a:t>apriamo il notebook dal pulsante «Open in Colab» nel README del corso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Gemini: l'assistente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640080" cy="640080"/>
          </a:xfrm>
          <a:prstGeom prst="ellipse">
            <a:avLst/>
          </a:prstGeom>
          <a:solidFill>
            <a:srgbClr val="EEF3F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F4C5C"/>
                </a:solidFill>
              </a:rPr>
              <a:t>1</a:t>
            </a:r>
            <a:endParaRPr lang="en-US" sz="1820" dirty="0"/>
          </a:p>
        </p:txBody>
      </p:sp>
      <p:sp>
        <p:nvSpPr>
          <p:cNvPr id="5" name="Text 3"/>
          <p:cNvSpPr txBox="1"/>
          <p:nvPr/>
        </p:nvSpPr>
        <p:spPr>
          <a:xfrm>
            <a:off x="1417320" y="182880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F2A30"/>
                </a:solidFill>
              </a:rPr>
              <a:t>Chiedi cosa vuoi, con precisione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48640" y="2788920"/>
            <a:ext cx="640080" cy="640080"/>
          </a:xfrm>
          <a:prstGeom prst="ellipse">
            <a:avLst/>
          </a:prstGeom>
          <a:solidFill>
            <a:srgbClr val="EEF3F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2788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F4C5C"/>
                </a:solidFill>
              </a:rPr>
              <a:t>2</a:t>
            </a:r>
            <a:endParaRPr lang="en-US" sz="1820" dirty="0"/>
          </a:p>
        </p:txBody>
      </p:sp>
      <p:sp>
        <p:nvSpPr>
          <p:cNvPr id="8" name="Text 6"/>
          <p:cNvSpPr txBox="1"/>
          <p:nvPr/>
        </p:nvSpPr>
        <p:spPr>
          <a:xfrm>
            <a:off x="1417320" y="278892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F2A30"/>
                </a:solidFill>
              </a:rPr>
              <a:t>Leggi il codice che propone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3749040"/>
            <a:ext cx="640080" cy="640080"/>
          </a:xfrm>
          <a:prstGeom prst="ellipse">
            <a:avLst/>
          </a:prstGeom>
          <a:solidFill>
            <a:srgbClr val="EEF3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3749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F4C5C"/>
                </a:solidFill>
              </a:rPr>
              <a:t>3</a:t>
            </a:r>
            <a:endParaRPr lang="en-US" sz="182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374904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F2A30"/>
                </a:solidFill>
              </a:rPr>
              <a:t>Verifica il risultato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6400800" y="1737360"/>
            <a:ext cx="5212080" cy="3017520"/>
          </a:xfrm>
          <a:prstGeom prst="roundRect">
            <a:avLst>
              <a:gd name="adj" fmla="val 3636"/>
            </a:avLst>
          </a:prstGeom>
          <a:solidFill>
            <a:srgbClr val="0F4C5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766560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4C06E"/>
                </a:solidFill>
              </a:rPr>
              <a:t>REGOLA DEL CORSO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766560" y="2468880"/>
            <a:ext cx="44805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Che il codice giri non vuol dire che sia giusto.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1206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F5308"/>
                </a:solidFill>
              </a:rPr>
              <a:t>Demo  </a:t>
            </a:r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</a:rPr>
              <a:t>«calcola l'interesse composto su 1000 euro al 3% per 10 anni»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Gli errori sono amici</a:t>
            </a:r>
            <a:endParaRPr lang="en-US" sz="3600" dirty="0"/>
          </a:p>
        </p:txBody>
      </p:sp>
      <p:sp>
        <p:nvSpPr>
          <p:cNvPr id="3" name="card-code"/>
          <p:cNvSpPr/>
          <p:nvPr/>
        </p:nvSpPr>
        <p:spPr>
          <a:xfrm>
            <a:off x="548640" y="1737360"/>
            <a:ext cx="5577840" cy="1371600"/>
          </a:xfrm>
          <a:prstGeom prst="roundRect">
            <a:avLst>
              <a:gd name="adj" fmla="val 8000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print(capitale</a:t>
            </a:r>
            <a:endParaRPr lang="en-US" sz="2000" dirty="0"/>
          </a:p>
        </p:txBody>
      </p:sp>
      <p:sp>
        <p:nvSpPr>
          <p:cNvPr id="6" name="card-err"/>
          <p:cNvSpPr/>
          <p:nvPr/>
        </p:nvSpPr>
        <p:spPr>
          <a:xfrm>
            <a:off x="548640" y="3383280"/>
            <a:ext cx="5577840" cy="1371600"/>
          </a:xfrm>
          <a:prstGeom prst="roundRect">
            <a:avLst>
              <a:gd name="adj" fmla="val 8000"/>
            </a:avLst>
          </a:prstGeom>
          <a:solidFill>
            <a:srgbClr val="FBEAE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35204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</a:rPr>
              <a:t>ERRORE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84048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9E2A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SyntaxError: '(' was never closed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675120" y="1737360"/>
            <a:ext cx="640080" cy="640080"/>
          </a:xfrm>
          <a:prstGeom prst="ellipse">
            <a:avLst/>
          </a:prstGeom>
          <a:solidFill>
            <a:srgbClr val="EEF3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75120" y="1737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F4C5C"/>
                </a:solidFill>
              </a:rPr>
              <a:t>1</a:t>
            </a:r>
            <a:endParaRPr lang="en-US" sz="1820" dirty="0"/>
          </a:p>
        </p:txBody>
      </p:sp>
      <p:sp>
        <p:nvSpPr>
          <p:cNvPr id="11" name="Text 9"/>
          <p:cNvSpPr txBox="1"/>
          <p:nvPr/>
        </p:nvSpPr>
        <p:spPr>
          <a:xfrm>
            <a:off x="7498080" y="169164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A30"/>
                </a:solidFill>
              </a:rPr>
              <a:t>Leggi l'ultima riga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21031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dice il tipo di errore e la causa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675120" y="2788920"/>
            <a:ext cx="640080" cy="640080"/>
          </a:xfrm>
          <a:prstGeom prst="ellipse">
            <a:avLst/>
          </a:prstGeom>
          <a:solidFill>
            <a:srgbClr val="EEF3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675120" y="2788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F4C5C"/>
                </a:solidFill>
              </a:rPr>
              <a:t>2</a:t>
            </a:r>
            <a:endParaRPr lang="en-US" sz="1820" dirty="0"/>
          </a:p>
        </p:txBody>
      </p:sp>
      <p:sp>
        <p:nvSpPr>
          <p:cNvPr id="15" name="Text 13"/>
          <p:cNvSpPr txBox="1"/>
          <p:nvPr/>
        </p:nvSpPr>
        <p:spPr>
          <a:xfrm>
            <a:off x="7498080" y="274320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A30"/>
                </a:solidFill>
              </a:rPr>
              <a:t>Copiala su Google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7498080" y="31546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così com'è, senza modificarla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675120" y="3840480"/>
            <a:ext cx="640080" cy="640080"/>
          </a:xfrm>
          <a:prstGeom prst="ellipse">
            <a:avLst/>
          </a:prstGeom>
          <a:solidFill>
            <a:srgbClr val="EEF3F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675120" y="3840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F4C5C"/>
                </a:solidFill>
              </a:rPr>
              <a:t>3</a:t>
            </a:r>
            <a:endParaRPr lang="en-US" sz="1820" dirty="0"/>
          </a:p>
        </p:txBody>
      </p:sp>
      <p:sp>
        <p:nvSpPr>
          <p:cNvPr id="19" name="Text 17"/>
          <p:cNvSpPr txBox="1"/>
          <p:nvPr/>
        </p:nvSpPr>
        <p:spPr>
          <a:xfrm>
            <a:off x="7498080" y="379476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A30"/>
                </a:solidFill>
              </a:rPr>
              <a:t>Qualcuno l'ha già risolto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498080" y="42062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di solito su Stack Overflow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Come si lavora nel task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210312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" y="2350008"/>
            <a:ext cx="420624" cy="4206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011680" y="21031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Passi piccoli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2011680" y="256032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Uno alla volta, nell'ordine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172200" y="173736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9" name="Shape 6"/>
          <p:cNvSpPr/>
          <p:nvPr/>
        </p:nvSpPr>
        <p:spPr>
          <a:xfrm>
            <a:off x="6446520" y="210312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350008"/>
            <a:ext cx="420624" cy="4206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635240" y="21031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Cosa cercare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7635240" y="256032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Per ogni passo trovi le parole chiave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548640" y="365760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14" name="Shape 10"/>
          <p:cNvSpPr/>
          <p:nvPr/>
        </p:nvSpPr>
        <p:spPr>
          <a:xfrm>
            <a:off x="822960" y="402336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" y="4270248"/>
            <a:ext cx="420624" cy="4206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2011680" y="40233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Gemini c'è</a:t>
            </a:r>
            <a:endParaRPr lang="en-US" sz="2200" dirty="0"/>
          </a:p>
        </p:txBody>
      </p:sp>
      <p:sp>
        <p:nvSpPr>
          <p:cNvPr id="17" name="Text 12"/>
          <p:cNvSpPr txBox="1"/>
          <p:nvPr/>
        </p:nvSpPr>
        <p:spPr>
          <a:xfrm>
            <a:off x="2011680" y="448056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Ma prima prova a capire cosa ti serve</a:t>
            </a:r>
            <a:endParaRPr lang="en-US" sz="1600" dirty="0"/>
          </a:p>
        </p:txBody>
      </p:sp>
      <p:sp>
        <p:nvSpPr>
          <p:cNvPr id="18" name="Shape 13"/>
          <p:cNvSpPr/>
          <p:nvPr/>
        </p:nvSpPr>
        <p:spPr>
          <a:xfrm>
            <a:off x="6172200" y="365760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19" name="Shape 14"/>
          <p:cNvSpPr/>
          <p:nvPr/>
        </p:nvSpPr>
        <p:spPr>
          <a:xfrm>
            <a:off x="6446520" y="402336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3408" y="4270248"/>
            <a:ext cx="420624" cy="42062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635240" y="40233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10 minuti</a:t>
            </a:r>
            <a:endParaRPr lang="en-US" sz="2200" dirty="0"/>
          </a:p>
        </p:txBody>
      </p:sp>
      <p:sp>
        <p:nvSpPr>
          <p:cNvPr id="22" name="Text 16"/>
          <p:cNvSpPr txBox="1"/>
          <p:nvPr/>
        </p:nvSpPr>
        <p:spPr>
          <a:xfrm>
            <a:off x="7635240" y="448056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Bloccato più a lungo? Chiedi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48640" y="56235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F4C5C"/>
                </a:solidFill>
              </a:rPr>
              <a:t>Saper cercare è metà del mestiere di programmare.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In gruppi da 3, con tre ruoli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3474720" cy="2926080"/>
          </a:xfrm>
          <a:prstGeom prst="roundRect">
            <a:avLst>
              <a:gd name="adj" fmla="val 3750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205740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568" y="2304288"/>
            <a:ext cx="420624" cy="4206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68680" y="320040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30"/>
                </a:solidFill>
              </a:rPr>
              <a:t>Chi scrive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374904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condivide lo schermo e scrive il codice nel suo notebook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343400" y="1737360"/>
            <a:ext cx="3474720" cy="2926080"/>
          </a:xfrm>
          <a:prstGeom prst="roundRect">
            <a:avLst>
              <a:gd name="adj" fmla="val 3750"/>
            </a:avLst>
          </a:prstGeom>
          <a:solidFill>
            <a:srgbClr val="EEF3F4"/>
          </a:solidFill>
          <a:ln/>
        </p:spPr>
      </p:sp>
      <p:sp>
        <p:nvSpPr>
          <p:cNvPr id="9" name="Shape 6"/>
          <p:cNvSpPr/>
          <p:nvPr/>
        </p:nvSpPr>
        <p:spPr>
          <a:xfrm>
            <a:off x="4663440" y="205740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0328" y="2304288"/>
            <a:ext cx="420624" cy="4206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63440" y="320040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30"/>
                </a:solidFill>
              </a:rPr>
              <a:t>Chi cerca</a:t>
            </a:r>
            <a:endParaRPr lang="en-US" sz="2400" dirty="0"/>
          </a:p>
        </p:txBody>
      </p:sp>
      <p:sp>
        <p:nvSpPr>
          <p:cNvPr id="12" name="Text 8"/>
          <p:cNvSpPr txBox="1"/>
          <p:nvPr/>
        </p:nvSpPr>
        <p:spPr>
          <a:xfrm>
            <a:off x="4663440" y="374904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Google, Gemini, dispense: trova cosa serve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8138160" y="1737360"/>
            <a:ext cx="3474720" cy="2926080"/>
          </a:xfrm>
          <a:prstGeom prst="roundRect">
            <a:avLst>
              <a:gd name="adj" fmla="val 3750"/>
            </a:avLst>
          </a:prstGeom>
          <a:solidFill>
            <a:srgbClr val="0F4C5C"/>
          </a:solidFill>
          <a:ln/>
        </p:spPr>
      </p:sp>
      <p:sp>
        <p:nvSpPr>
          <p:cNvPr id="14" name="Shape 10"/>
          <p:cNvSpPr/>
          <p:nvPr/>
        </p:nvSpPr>
        <p:spPr>
          <a:xfrm>
            <a:off x="8458200" y="205740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05088" y="2304288"/>
            <a:ext cx="420624" cy="4206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458200" y="320040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Chi controlla</a:t>
            </a:r>
            <a:endParaRPr lang="en-US" sz="2400" dirty="0"/>
          </a:p>
        </p:txBody>
      </p:sp>
      <p:sp>
        <p:nvSpPr>
          <p:cNvPr id="17" name="Text 12"/>
          <p:cNvSpPr txBox="1"/>
          <p:nvPr/>
        </p:nvSpPr>
        <p:spPr>
          <a:xfrm>
            <a:off x="8458200" y="374904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B8C4CB"/>
                </a:solidFill>
              </a:rPr>
              <a:t>il risultato ha senso? il numero torna?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548640" y="50292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0F4C5C"/>
                </a:solidFill>
              </a:rPr>
              <a:t>I ruoli ruotano a ogni incontro. Il più importante è chi controlla: è il mestiere che il corso vuole allenare.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Task: il risparmio di Marco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B8C4CB"/>
                </a:solidFill>
              </a:rPr>
              <a:t>Marco ha 5.000 € e li investe al 2,5% annuo.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B8C4CB"/>
                </a:solidFill>
              </a:rPr>
              <a:t>60 minuti · apri il notebook dal README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Extra: una copia del corso tutta tua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2011680"/>
            <a:ext cx="640080" cy="64008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011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1F2A30"/>
                </a:solidFill>
              </a:rPr>
              <a:t>1</a:t>
            </a:r>
            <a:endParaRPr lang="en-US" sz="182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7889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A30"/>
                </a:solidFill>
              </a:rPr>
              <a:t>Crea un account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24612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F7B"/>
                </a:solidFill>
              </a:rPr>
              <a:t>su github.com, gratuito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383280" y="173736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EEF3F4"/>
          </a:solidFill>
          <a:ln/>
        </p:spPr>
      </p:sp>
      <p:sp>
        <p:nvSpPr>
          <p:cNvPr id="9" name="Shape 7"/>
          <p:cNvSpPr/>
          <p:nvPr/>
        </p:nvSpPr>
        <p:spPr>
          <a:xfrm>
            <a:off x="3657600" y="2011680"/>
            <a:ext cx="640080" cy="64008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657600" y="2011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1F2A30"/>
                </a:solidFill>
              </a:rPr>
              <a:t>2</a:t>
            </a:r>
            <a:endParaRPr lang="en-US" sz="1820" dirty="0"/>
          </a:p>
        </p:txBody>
      </p:sp>
      <p:sp>
        <p:nvSpPr>
          <p:cNvPr id="11" name="Text 9"/>
          <p:cNvSpPr txBox="1"/>
          <p:nvPr/>
        </p:nvSpPr>
        <p:spPr>
          <a:xfrm>
            <a:off x="3657600" y="27889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A30"/>
                </a:solidFill>
              </a:rPr>
              <a:t>Apri il repository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3657600" y="324612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F7B"/>
                </a:solidFill>
              </a:rPr>
              <a:t>github.com/andrealorenzon/SIMA2026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17920" y="173736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EEF3F4"/>
          </a:solidFill>
          <a:ln/>
        </p:spPr>
      </p:sp>
      <p:sp>
        <p:nvSpPr>
          <p:cNvPr id="14" name="Shape 12"/>
          <p:cNvSpPr/>
          <p:nvPr/>
        </p:nvSpPr>
        <p:spPr>
          <a:xfrm>
            <a:off x="6492240" y="2011680"/>
            <a:ext cx="640080" cy="64008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92240" y="2011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1F2A30"/>
                </a:solidFill>
              </a:rPr>
              <a:t>3</a:t>
            </a:r>
            <a:endParaRPr lang="en-US" sz="1820" dirty="0"/>
          </a:p>
        </p:txBody>
      </p:sp>
      <p:sp>
        <p:nvSpPr>
          <p:cNvPr id="16" name="Text 14"/>
          <p:cNvSpPr txBox="1"/>
          <p:nvPr/>
        </p:nvSpPr>
        <p:spPr>
          <a:xfrm>
            <a:off x="6492240" y="27889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A30"/>
                </a:solidFill>
              </a:rPr>
              <a:t>Clicca «Fork»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6492240" y="324612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F7B"/>
                </a:solidFill>
              </a:rPr>
              <a:t>in alto a destra, poi «Create fork»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9052560" y="173736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0F4C5C"/>
          </a:solidFill>
          <a:ln/>
        </p:spPr>
      </p:sp>
      <p:sp>
        <p:nvSpPr>
          <p:cNvPr id="19" name="Shape 17"/>
          <p:cNvSpPr/>
          <p:nvPr/>
        </p:nvSpPr>
        <p:spPr>
          <a:xfrm>
            <a:off x="9326880" y="2011680"/>
            <a:ext cx="640080" cy="64008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326880" y="2011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1F2A30"/>
                </a:solidFill>
              </a:rPr>
              <a:t>4</a:t>
            </a:r>
            <a:endParaRPr lang="en-US" sz="1820" dirty="0"/>
          </a:p>
        </p:txBody>
      </p:sp>
      <p:sp>
        <p:nvSpPr>
          <p:cNvPr id="21" name="Text 19"/>
          <p:cNvSpPr txBox="1"/>
          <p:nvPr/>
        </p:nvSpPr>
        <p:spPr>
          <a:xfrm>
            <a:off x="9326880" y="27889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È tuo</a:t>
            </a:r>
            <a:endParaRPr lang="en-US" sz="1900" dirty="0"/>
          </a:p>
        </p:txBody>
      </p:sp>
      <p:sp>
        <p:nvSpPr>
          <p:cNvPr id="22" name="Text 20"/>
          <p:cNvSpPr txBox="1"/>
          <p:nvPr/>
        </p:nvSpPr>
        <p:spPr>
          <a:xfrm>
            <a:off x="9326880" y="324612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8C4CB"/>
                </a:solidFill>
              </a:rPr>
              <a:t>github.com/&lt;tuo-nome&gt;/SIMA2026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4251960"/>
            <a:ext cx="11064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F2A30"/>
                </a:solidFill>
              </a:rPr>
              <a:t>Un fork è una copia del repository nel tuo account: puoi modificarla senza toccare l'originale.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F2A30"/>
                </a:solidFill>
              </a:rPr>
              <a:t>Da Colab salvi i notebook direttamente lì: File → Salva una copia in GitHub.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F2A30"/>
                </a:solidFill>
              </a:rPr>
              <a:t>Quando il corso si aggiorna, sul tuo fork clicca «Sync fork» per ricevere le novità.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Prossima volta: un file Excel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4C06E"/>
                </a:solidFill>
              </a:rPr>
              <a:t>Compito: Kaggle Learn – Python, lezione «Hello, Python» (~30 min)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A 2026">
  <a:themeElements>
    <a:clrScheme name="SIMA 2026">
      <a:dk1>
        <a:srgbClr val="1F2A30"/>
      </a:dk1>
      <a:lt1>
        <a:srgbClr val="FFFFFF"/>
      </a:lt1>
      <a:dk2>
        <a:srgbClr val="0F4C5C"/>
      </a:dk2>
      <a:lt2>
        <a:srgbClr val="EEF3F4"/>
      </a:lt2>
      <a:accent1>
        <a:srgbClr val="E09F3E"/>
      </a:accent1>
      <a:accent2>
        <a:srgbClr val="0F4C5C"/>
      </a:accent2>
      <a:accent3>
        <a:srgbClr val="9E2A2B"/>
      </a:accent3>
      <a:accent4>
        <a:srgbClr val="3A7D44"/>
      </a:accent4>
      <a:accent5>
        <a:srgbClr val="5C6F7B"/>
      </a:accent5>
      <a:accent6>
        <a:srgbClr val="B8C4CB"/>
      </a:accent6>
      <a:hlink>
        <a:srgbClr val="0F4C5C"/>
      </a:hlink>
      <a:folHlink>
        <a:srgbClr val="5C6F7B"/>
      </a:folHlink>
    </a:clrScheme>
    <a:fontScheme name="SIMA 2026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L1 — Python come calcolatrice intelligente</dc:title>
  <dc:subject>PptxGenJS Presentation</dc:subject>
  <dc:creator>SIMA 2026</dc:creator>
  <cp:lastModifiedBy>SIMA 2026</cp:lastModifiedBy>
  <cp:revision>1</cp:revision>
  <dcterms:created xsi:type="dcterms:W3CDTF">2026-10-11T07:47:13Z</dcterms:created>
  <dcterms:modified xsi:type="dcterms:W3CDTF">2026-10-11T07:47:13Z</dcterms:modified>
</cp:coreProperties>
</file>