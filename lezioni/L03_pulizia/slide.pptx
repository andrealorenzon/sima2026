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1dae2e08-afdd-a82a-6205-071f6aef4fca}">
          <p14:sldIdLst>
            <p14:sldId id="256"/>
            <p14:sldId id="257"/>
          </p14:sldIdLst>
        </p14:section>
        <p14:section name="Spiegazione" id="{728e10d7-81ad-602e-a2a1-4d5610677c0d}">
          <p14:sldIdLst>
            <p14:sldId id="258"/>
            <p14:sldId id="259"/>
            <p14:sldId id="260"/>
            <p14:sldId id="261"/>
            <p14:sldId id="262"/>
          </p14:sldIdLst>
        </p14:section>
        <p14:section name="Task" id="{1d774037-3726-77e3-d854-daf778df96df}">
          <p14:sldIdLst>
            <p14:sldId id="263"/>
          </p14:sldIdLst>
        </p14:section>
        <p14:section name="Chiusura" id="{62294d44-517d-8d2b-89b7-70fe5a733126}">
          <p14:sldIdLst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Ripresa della L2: quali problemi avevamo trovato? Farli elencare alla classe. Oggi li correggiamo.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Esempio da fare a voce: un fatturato di 24 milioni è un errore o un'impresa enorme? Non lo dice il codice, lo decidi tu guardando i dati.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Far notare anche il df = ...: senza riassegnare, df non cambia. Errore classico: si lancia drop_duplicates() e ci si stupisce che i duplicati siano ancora lì.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veloce su una piccola Series creata al volo: pd.Series([' Milano', 'milano', 'MILANO ']). Quante città diverse? E dopo strip + title?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caso "12,5": la virgola italiana non è un decimale per Python. Non anticipare la soluzione del task: lasciare che ci arrivino.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isna().sum() per contare i mancanti di ogni colonna: lo cercano nel task.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Girando tra i banchi: tenere d'occhio il passo 5. Chi trova più di 50 mancanti ha sbagliato l'ordine delle sostituzioni: non dirglielo, chiedergli se il numero torna.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olo">
    <p:bg>
      <p:bgPr>
        <a:solidFill>
          <a:srgbClr val="0F4C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dirty="0">
                <a:solidFill>
                  <a:srgbClr val="F4C06E"/>
                </a:solidFill>
              </a:defRPr>
            </a:lvl1pPr>
          </a:lstStyle>
          <a:p>
            <a:pPr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zione">
    <p:bg>
      <p:bgPr>
        <a:solidFill>
          <a:srgbClr val="1F2A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94560"/>
            <a:ext cx="10698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dirty="0">
                <a:solidFill>
                  <a:srgbClr val="B8C4CB"/>
                </a:solidFill>
              </a:defRPr>
            </a:lvl1pPr>
          </a:lstStyle>
          <a:p>
            <a:pPr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ut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0F4C5C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F7B"/>
                </a:solidFill>
              </a:rPr>
              <a:t>SIMA 2026 · L3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Pulire i dati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4C06E"/>
                </a:solidFill>
              </a:rPr>
              <a:t>L3 · Informatica per economisti · SIMA 2026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Oggi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3474720" cy="3566160"/>
          </a:xfrm>
          <a:prstGeom prst="roundRect">
            <a:avLst>
              <a:gd name="adj" fmla="val 3158"/>
            </a:avLst>
          </a:prstGeom>
          <a:solidFill>
            <a:srgbClr val="EEF3F4"/>
          </a:solidFill>
          <a:ln/>
        </p:spPr>
      </p:sp>
      <p:sp>
        <p:nvSpPr>
          <p:cNvPr id="4" name="Shape 2"/>
          <p:cNvSpPr/>
          <p:nvPr/>
        </p:nvSpPr>
        <p:spPr>
          <a:xfrm>
            <a:off x="868680" y="2148840"/>
            <a:ext cx="731520" cy="73152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1F2A30"/>
                </a:solidFill>
              </a:rPr>
              <a:t>1</a:t>
            </a:r>
            <a:endParaRPr lang="en-US" sz="208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31546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0"/>
                </a:solidFill>
              </a:rPr>
              <a:t>Spiegazione e demo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7033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F5308"/>
                </a:solidFill>
              </a:rPr>
              <a:t>25 min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42519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A30"/>
                </a:solidFill>
              </a:rPr>
              <a:t>Testo, conversioni, valori mancanti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343400" y="1828800"/>
            <a:ext cx="3474720" cy="3566160"/>
          </a:xfrm>
          <a:prstGeom prst="roundRect">
            <a:avLst>
              <a:gd name="adj" fmla="val 3158"/>
            </a:avLst>
          </a:prstGeom>
          <a:solidFill>
            <a:srgbClr val="0F4C5C"/>
          </a:solidFill>
          <a:ln/>
        </p:spPr>
      </p:sp>
      <p:sp>
        <p:nvSpPr>
          <p:cNvPr id="10" name="Shape 8"/>
          <p:cNvSpPr/>
          <p:nvPr/>
        </p:nvSpPr>
        <p:spPr>
          <a:xfrm>
            <a:off x="4663440" y="2148840"/>
            <a:ext cx="731520" cy="73152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6344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1F2A30"/>
                </a:solidFill>
              </a:rPr>
              <a:t>2</a:t>
            </a:r>
            <a:endParaRPr lang="en-US" sz="2080" dirty="0"/>
          </a:p>
        </p:txBody>
      </p:sp>
      <p:sp>
        <p:nvSpPr>
          <p:cNvPr id="12" name="Text 10"/>
          <p:cNvSpPr txBox="1"/>
          <p:nvPr/>
        </p:nvSpPr>
        <p:spPr>
          <a:xfrm>
            <a:off x="4663440" y="31546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Task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37033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C06E"/>
                </a:solidFill>
              </a:rPr>
              <a:t>60 min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42519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Pulire imprese.xlsx, un problema alla volta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8138160" y="1828800"/>
            <a:ext cx="3474720" cy="3566160"/>
          </a:xfrm>
          <a:prstGeom prst="roundRect">
            <a:avLst>
              <a:gd name="adj" fmla="val 3158"/>
            </a:avLst>
          </a:prstGeom>
          <a:solidFill>
            <a:srgbClr val="EEF3F4"/>
          </a:solidFill>
          <a:ln/>
        </p:spPr>
      </p:sp>
      <p:sp>
        <p:nvSpPr>
          <p:cNvPr id="16" name="Shape 14"/>
          <p:cNvSpPr/>
          <p:nvPr/>
        </p:nvSpPr>
        <p:spPr>
          <a:xfrm>
            <a:off x="8458200" y="2148840"/>
            <a:ext cx="731520" cy="73152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45820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1F2A30"/>
                </a:solidFill>
              </a:rPr>
              <a:t>3</a:t>
            </a:r>
            <a:endParaRPr lang="en-US" sz="2080" dirty="0"/>
          </a:p>
        </p:txBody>
      </p:sp>
      <p:sp>
        <p:nvSpPr>
          <p:cNvPr id="18" name="Text 16"/>
          <p:cNvSpPr txBox="1"/>
          <p:nvPr/>
        </p:nvSpPr>
        <p:spPr>
          <a:xfrm>
            <a:off x="8458200" y="31546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0"/>
                </a:solidFill>
              </a:rPr>
              <a:t>Debrief</a:t>
            </a:r>
            <a:endParaRPr lang="en-US" sz="2600" dirty="0"/>
          </a:p>
        </p:txBody>
      </p:sp>
      <p:sp>
        <p:nvSpPr>
          <p:cNvPr id="19" name="Text 17"/>
          <p:cNvSpPr txBox="1"/>
          <p:nvPr/>
        </p:nvSpPr>
        <p:spPr>
          <a:xfrm>
            <a:off x="8458200" y="37033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F5308"/>
                </a:solidFill>
              </a:rPr>
              <a:t>25 min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8458200" y="42519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A30"/>
                </a:solidFill>
              </a:rPr>
              <a:t>Le trappole silenziose e le nostre decisioni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Pulire è decidere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2560320" cy="2377440"/>
          </a:xfrm>
          <a:prstGeom prst="roundRect">
            <a:avLst>
              <a:gd name="adj" fmla="val 4615"/>
            </a:avLst>
          </a:prstGeom>
          <a:solidFill>
            <a:srgbClr val="EEF3F4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2103120"/>
            <a:ext cx="685800" cy="68580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21031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1F2A30"/>
                </a:solidFill>
              </a:rPr>
              <a:t>1</a:t>
            </a:r>
            <a:endParaRPr lang="en-US" sz="195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0175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0"/>
                </a:solidFill>
              </a:rPr>
              <a:t>Trova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52044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il problema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3383280" y="1828800"/>
            <a:ext cx="2560320" cy="2377440"/>
          </a:xfrm>
          <a:prstGeom prst="roundRect">
            <a:avLst>
              <a:gd name="adj" fmla="val 4615"/>
            </a:avLst>
          </a:prstGeom>
          <a:solidFill>
            <a:srgbClr val="EEF3F4"/>
          </a:solidFill>
          <a:ln/>
        </p:spPr>
      </p:sp>
      <p:sp>
        <p:nvSpPr>
          <p:cNvPr id="9" name="Shape 7"/>
          <p:cNvSpPr/>
          <p:nvPr/>
        </p:nvSpPr>
        <p:spPr>
          <a:xfrm>
            <a:off x="3657600" y="2103120"/>
            <a:ext cx="685800" cy="68580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657600" y="21031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1F2A30"/>
                </a:solidFill>
              </a:rPr>
              <a:t>2</a:t>
            </a:r>
            <a:endParaRPr lang="en-US" sz="1950" dirty="0"/>
          </a:p>
        </p:txBody>
      </p:sp>
      <p:sp>
        <p:nvSpPr>
          <p:cNvPr id="11" name="Text 9"/>
          <p:cNvSpPr txBox="1"/>
          <p:nvPr/>
        </p:nvSpPr>
        <p:spPr>
          <a:xfrm>
            <a:off x="3657600" y="30175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0"/>
                </a:solidFill>
              </a:rPr>
              <a:t>Decidi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3657600" y="352044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cosa fare, e perché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217920" y="1828800"/>
            <a:ext cx="2560320" cy="2377440"/>
          </a:xfrm>
          <a:prstGeom prst="roundRect">
            <a:avLst>
              <a:gd name="adj" fmla="val 4615"/>
            </a:avLst>
          </a:prstGeom>
          <a:solidFill>
            <a:srgbClr val="EEF3F4"/>
          </a:solidFill>
          <a:ln/>
        </p:spPr>
      </p:sp>
      <p:sp>
        <p:nvSpPr>
          <p:cNvPr id="14" name="Shape 12"/>
          <p:cNvSpPr/>
          <p:nvPr/>
        </p:nvSpPr>
        <p:spPr>
          <a:xfrm>
            <a:off x="6492240" y="2103120"/>
            <a:ext cx="685800" cy="68580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92240" y="21031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1F2A30"/>
                </a:solidFill>
              </a:rPr>
              <a:t>3</a:t>
            </a:r>
            <a:endParaRPr lang="en-US" sz="1950" dirty="0"/>
          </a:p>
        </p:txBody>
      </p:sp>
      <p:sp>
        <p:nvSpPr>
          <p:cNvPr id="16" name="Text 14"/>
          <p:cNvSpPr txBox="1"/>
          <p:nvPr/>
        </p:nvSpPr>
        <p:spPr>
          <a:xfrm>
            <a:off x="6492240" y="30175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0"/>
                </a:solidFill>
              </a:rPr>
              <a:t>Correggi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6492240" y="352044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con il codice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9052560" y="1828800"/>
            <a:ext cx="2560320" cy="2377440"/>
          </a:xfrm>
          <a:prstGeom prst="roundRect">
            <a:avLst>
              <a:gd name="adj" fmla="val 4615"/>
            </a:avLst>
          </a:prstGeom>
          <a:solidFill>
            <a:srgbClr val="0F4C5C"/>
          </a:solidFill>
          <a:ln/>
        </p:spPr>
      </p:sp>
      <p:sp>
        <p:nvSpPr>
          <p:cNvPr id="19" name="Shape 17"/>
          <p:cNvSpPr/>
          <p:nvPr/>
        </p:nvSpPr>
        <p:spPr>
          <a:xfrm>
            <a:off x="9326880" y="2103120"/>
            <a:ext cx="685800" cy="68580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326880" y="21031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1F2A30"/>
                </a:solidFill>
              </a:rPr>
              <a:t>4</a:t>
            </a:r>
            <a:endParaRPr lang="en-US" sz="1950" dirty="0"/>
          </a:p>
        </p:txBody>
      </p:sp>
      <p:sp>
        <p:nvSpPr>
          <p:cNvPr id="21" name="Text 19"/>
          <p:cNvSpPr txBox="1"/>
          <p:nvPr/>
        </p:nvSpPr>
        <p:spPr>
          <a:xfrm>
            <a:off x="9326880" y="30175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Verifica</a:t>
            </a:r>
            <a:endParaRPr lang="en-US" sz="2600" dirty="0"/>
          </a:p>
        </p:txBody>
      </p:sp>
      <p:sp>
        <p:nvSpPr>
          <p:cNvPr id="22" name="Text 20"/>
          <p:cNvSpPr txBox="1"/>
          <p:nvPr/>
        </p:nvSpPr>
        <p:spPr>
          <a:xfrm>
            <a:off x="9326880" y="352044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B8C4CB"/>
                </a:solidFill>
              </a:rPr>
              <a:t>conta prima, conta dopo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46634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2000" dirty="0">
                <a:solidFill>
                  <a:srgbClr val="1F2A30"/>
                </a:solidFill>
              </a:rPr>
              <a:t>Nessuna correzione è automatica: ogni volta scegli tu. </a:t>
            </a:r>
            <a:pPr indent="0" marL="0">
              <a:spcAft>
                <a:spcPts val="1000"/>
              </a:spcAft>
              <a:buNone/>
            </a:pPr>
            <a:r>
              <a:rPr lang="en-US" sz="2000" b="1" dirty="0">
                <a:solidFill>
                  <a:srgbClr val="0F4C5C"/>
                </a:solidFill>
              </a:rPr>
              <a:t>Le decisioni vanno scritte.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La regola: conta prima, conta dopo</a:t>
            </a:r>
            <a:endParaRPr lang="en-US" sz="3600" dirty="0"/>
          </a:p>
        </p:txBody>
      </p:sp>
      <p:sp>
        <p:nvSpPr>
          <p:cNvPr id="3" name="card-code"/>
          <p:cNvSpPr/>
          <p:nvPr/>
        </p:nvSpPr>
        <p:spPr>
          <a:xfrm>
            <a:off x="548640" y="1737360"/>
            <a:ext cx="6035040" cy="1920240"/>
          </a:xfrm>
          <a:prstGeom prst="roundRect">
            <a:avLst>
              <a:gd name="adj" fmla="val 5714"/>
            </a:avLst>
          </a:prstGeom>
          <a:solidFill>
            <a:srgbClr val="1F2A3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94560"/>
            <a:ext cx="55778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print(df.shape)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 = df.drop_duplicates()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print(df.shape)</a:t>
            </a:r>
            <a:endParaRPr lang="en-US" sz="2000" dirty="0"/>
          </a:p>
        </p:txBody>
      </p:sp>
      <p:sp>
        <p:nvSpPr>
          <p:cNvPr id="6" name="card-out"/>
          <p:cNvSpPr/>
          <p:nvPr/>
        </p:nvSpPr>
        <p:spPr>
          <a:xfrm>
            <a:off x="548640" y="3886200"/>
            <a:ext cx="6035040" cy="1371600"/>
          </a:xfrm>
          <a:prstGeom prst="roundRect">
            <a:avLst>
              <a:gd name="adj" fmla="val 8000"/>
            </a:avLst>
          </a:prstGeom>
          <a:solidFill>
            <a:srgbClr val="EEF3F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40233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C6F7B"/>
                </a:solidFill>
              </a:rPr>
              <a:t>OUTPUT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4343400"/>
            <a:ext cx="5577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(1000, 5)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(980, 5)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7040880" y="1828800"/>
            <a:ext cx="45720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2000" dirty="0">
                <a:solidFill>
                  <a:srgbClr val="1F2A30"/>
                </a:solidFill>
              </a:rPr>
              <a:t>Quante righe dovevano sparire? 20? Allora va bene.</a:t>
            </a:r>
            <a:endParaRPr lang="en-US" sz="2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000" dirty="0">
                <a:solidFill>
                  <a:srgbClr val="1F2A30"/>
                </a:solidFill>
              </a:rPr>
              <a:t>Molti errori di pulizia non danno messaggi: perdi dati in silenzio.</a:t>
            </a:r>
            <a:endParaRPr lang="en-US" sz="2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000" b="1" dirty="0">
                <a:solidFill>
                  <a:srgbClr val="0F4C5C"/>
                </a:solidFill>
              </a:rPr>
              <a:t>Contare è l'unica difesa.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Lavorare sul testo: .str</a:t>
            </a:r>
            <a:endParaRPr lang="en-US" sz="3600" dirty="0"/>
          </a:p>
        </p:txBody>
      </p:sp>
      <p:sp>
        <p:nvSpPr>
          <p:cNvPr id="3" name="card-code"/>
          <p:cNvSpPr/>
          <p:nvPr/>
        </p:nvSpPr>
        <p:spPr>
          <a:xfrm>
            <a:off x="548640" y="1737360"/>
            <a:ext cx="6035040" cy="1188720"/>
          </a:xfrm>
          <a:prstGeom prst="roundRect">
            <a:avLst>
              <a:gd name="adj" fmla="val 9231"/>
            </a:avLst>
          </a:prstGeom>
          <a:solidFill>
            <a:srgbClr val="1F2A3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94560"/>
            <a:ext cx="5577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citta.str.strip()</a:t>
            </a:r>
            <a:endParaRPr lang="en-US" sz="2000" dirty="0"/>
          </a:p>
        </p:txBody>
      </p:sp>
      <p:sp>
        <p:nvSpPr>
          <p:cNvPr id="6" name="card-out"/>
          <p:cNvSpPr/>
          <p:nvPr/>
        </p:nvSpPr>
        <p:spPr>
          <a:xfrm>
            <a:off x="548640" y="3108960"/>
            <a:ext cx="6035040" cy="1097280"/>
          </a:xfrm>
          <a:prstGeom prst="roundRect">
            <a:avLst>
              <a:gd name="adj" fmla="val 10000"/>
            </a:avLst>
          </a:prstGeom>
          <a:solidFill>
            <a:srgbClr val="EEF3F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32461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C6F7B"/>
                </a:solidFill>
              </a:rPr>
              <a:t>OUTPUT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566160"/>
            <a:ext cx="5577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Milano "  →  "Milano"</a:t>
            </a:r>
            <a:endParaRPr lang="en-US" sz="2000" dirty="0"/>
          </a:p>
        </p:txBody>
      </p:sp>
      <p:sp>
        <p:nvSpPr>
          <p:cNvPr id="9" name="card-code"/>
          <p:cNvSpPr/>
          <p:nvPr/>
        </p:nvSpPr>
        <p:spPr>
          <a:xfrm>
            <a:off x="548640" y="4389120"/>
            <a:ext cx="6035040" cy="1188720"/>
          </a:xfrm>
          <a:prstGeom prst="roundRect">
            <a:avLst>
              <a:gd name="adj" fmla="val 9231"/>
            </a:avLst>
          </a:prstGeom>
          <a:solidFill>
            <a:srgbClr val="1F2A3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77240" y="45262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4846320"/>
            <a:ext cx="5577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citta.str.strip().str.lower()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040880" y="1828800"/>
            <a:ext cx="45720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F2A30"/>
                </a:solidFill>
              </a:rPr>
              <a:t>Le colonne di testo hanno comandi dedicati, dopo .str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F2A30"/>
                </a:solidFill>
              </a:rPr>
              <a:t>strip, lower, upper, title, replace…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F2A30"/>
                </a:solidFill>
              </a:rPr>
              <a:t>Si possono mettere in fila, uno dopo l'altro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0F4C5C"/>
                </a:solidFill>
              </a:rPr>
              <a:t>Quelli automatici non conoscono le eccezioni: controlla sempre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Da testo a numero</a:t>
            </a:r>
            <a:endParaRPr lang="en-US" sz="3600" dirty="0"/>
          </a:p>
        </p:txBody>
      </p:sp>
      <p:sp>
        <p:nvSpPr>
          <p:cNvPr id="3" name="card-code"/>
          <p:cNvSpPr/>
          <p:nvPr/>
        </p:nvSpPr>
        <p:spPr>
          <a:xfrm>
            <a:off x="548640" y="1737360"/>
            <a:ext cx="6583680" cy="1371600"/>
          </a:xfrm>
          <a:prstGeom prst="roundRect">
            <a:avLst>
              <a:gd name="adj" fmla="val 8000"/>
            </a:avLst>
          </a:prstGeom>
          <a:solidFill>
            <a:srgbClr val="1F2A3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94560"/>
            <a:ext cx="6126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pd.to_numeric(col, errors="coerce")</a:t>
            </a:r>
            <a:endParaRPr lang="en-US" sz="2000" dirty="0"/>
          </a:p>
        </p:txBody>
      </p:sp>
      <p:sp>
        <p:nvSpPr>
          <p:cNvPr id="6" name="card-out"/>
          <p:cNvSpPr/>
          <p:nvPr/>
        </p:nvSpPr>
        <p:spPr>
          <a:xfrm>
            <a:off x="548640" y="3337560"/>
            <a:ext cx="6583680" cy="1737360"/>
          </a:xfrm>
          <a:prstGeom prst="roundRect">
            <a:avLst>
              <a:gd name="adj" fmla="val 6316"/>
            </a:avLst>
          </a:prstGeom>
          <a:solidFill>
            <a:srgbClr val="EEF3F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34747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C6F7B"/>
                </a:solidFill>
              </a:rPr>
              <a:t>OUTPUT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794760"/>
            <a:ext cx="6126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"12.5"   →  12.5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"abc"    →  NaN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"12,5"   →  NaN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7589520" y="1737360"/>
            <a:ext cx="4023360" cy="3337560"/>
          </a:xfrm>
          <a:prstGeom prst="roundRect">
            <a:avLst>
              <a:gd name="adj" fmla="val 3288"/>
            </a:avLst>
          </a:prstGeom>
          <a:solidFill>
            <a:srgbClr val="EEF3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863840" y="19659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F5308"/>
                </a:solidFill>
              </a:rPr>
              <a:t>ATTENZIONE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863840" y="2423160"/>
            <a:ext cx="34747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F2A30"/>
                </a:solidFill>
              </a:rPr>
              <a:t>Quello che non si converte diventa un valore mancante. Senza errori.</a:t>
            </a:r>
            <a:endParaRPr lang="en-US" sz="1900" dirty="0"/>
          </a:p>
          <a:p>
            <a:pPr indent="0" marL="0">
              <a:buNone/>
            </a:pP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F2A30"/>
                </a:solidFill>
              </a:rPr>
              <a:t>Dopo ogni conversione: conta i mancanti.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Correggere solo alcune righe</a:t>
            </a:r>
            <a:endParaRPr lang="en-US" sz="3600" dirty="0"/>
          </a:p>
        </p:txBody>
      </p:sp>
      <p:sp>
        <p:nvSpPr>
          <p:cNvPr id="3" name="card-code"/>
          <p:cNvSpPr/>
          <p:nvPr/>
        </p:nvSpPr>
        <p:spPr>
          <a:xfrm>
            <a:off x="548640" y="1737360"/>
            <a:ext cx="6583680" cy="1737360"/>
          </a:xfrm>
          <a:prstGeom prst="roundRect">
            <a:avLst>
              <a:gd name="adj" fmla="val 6316"/>
            </a:avLst>
          </a:prstGeom>
          <a:solidFill>
            <a:srgbClr val="1F2A3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94560"/>
            <a:ext cx="6126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negativi = df["prezzo"] &lt; 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print(negativi.sum())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df.loc[negativi, "prezzo"] = None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749040"/>
            <a:ext cx="6583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F2A30"/>
                </a:solidFill>
              </a:rPr>
              <a:t>Una condizione è una colonna di True e False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F2A30"/>
                </a:solidFill>
              </a:rPr>
              <a:t>.sum() conta quante righe la rispettano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F2A30"/>
                </a:solidFill>
              </a:rPr>
              <a:t>.loc[righe, colonna] = valore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7589520" y="1737360"/>
            <a:ext cx="4023360" cy="3840480"/>
          </a:xfrm>
          <a:prstGeom prst="roundRect">
            <a:avLst>
              <a:gd name="adj" fmla="val 2857"/>
            </a:avLst>
          </a:prstGeom>
          <a:solidFill>
            <a:srgbClr val="0F4C5C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863840" y="19659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4C06E"/>
                </a:solidFill>
              </a:rPr>
              <a:t>MANCANTE NON È ZERO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863840" y="2468880"/>
            <a:ext cx="3474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2000" dirty="0">
                <a:solidFill>
                  <a:srgbClr val="FFFFFF"/>
                </a:solidFill>
              </a:rPr>
              <a:t>Media di 10, ?, 20</a:t>
            </a:r>
            <a:endParaRPr lang="en-US" sz="20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 il mancante: 15</a:t>
            </a:r>
            <a:endParaRPr lang="en-US" sz="20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 lo 0:       10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9456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FFFFFF"/>
                </a:solidFill>
              </a:rPr>
              <a:t>Task: pulisci il dataset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B8C4CB"/>
                </a:solidFill>
              </a:rPr>
              <a:t>Obiettivo: 2.500 righe, 20 regioni, un fatturato numerico e plausibile.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B8C4CB"/>
                </a:solidFill>
              </a:rPr>
              <a:t>60 minuti · apri il notebook dal README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Prossima volta: raggruppare e disegnare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4C06E"/>
                </a:solidFill>
              </a:rPr>
              <a:t>Compito: Kaggle Learn – Pandas, «Data Types and Missing Values» (~20 min)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A 2026">
  <a:themeElements>
    <a:clrScheme name="SIMA 2026">
      <a:dk1>
        <a:srgbClr val="1F2A30"/>
      </a:dk1>
      <a:lt1>
        <a:srgbClr val="FFFFFF"/>
      </a:lt1>
      <a:dk2>
        <a:srgbClr val="0F4C5C"/>
      </a:dk2>
      <a:lt2>
        <a:srgbClr val="EEF3F4"/>
      </a:lt2>
      <a:accent1>
        <a:srgbClr val="E09F3E"/>
      </a:accent1>
      <a:accent2>
        <a:srgbClr val="0F4C5C"/>
      </a:accent2>
      <a:accent3>
        <a:srgbClr val="9E2A2B"/>
      </a:accent3>
      <a:accent4>
        <a:srgbClr val="3A7D44"/>
      </a:accent4>
      <a:accent5>
        <a:srgbClr val="5C6F7B"/>
      </a:accent5>
      <a:accent6>
        <a:srgbClr val="B8C4CB"/>
      </a:accent6>
      <a:hlink>
        <a:srgbClr val="0F4C5C"/>
      </a:hlink>
      <a:folHlink>
        <a:srgbClr val="5C6F7B"/>
      </a:folHlink>
    </a:clrScheme>
    <a:fontScheme name="SIMA 2026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L3 — Pulire i dati</dc:title>
  <dc:subject>PptxGenJS Presentation</dc:subject>
  <dc:creator>SIMA 2026</dc:creator>
  <cp:lastModifiedBy>SIMA 2026</cp:lastModifiedBy>
  <cp:revision>1</cp:revision>
  <dcterms:created xsi:type="dcterms:W3CDTF">2026-10-06T08:22:23Z</dcterms:created>
  <dcterms:modified xsi:type="dcterms:W3CDTF">2026-10-06T08:22:23Z</dcterms:modified>
</cp:coreProperties>
</file>